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78" r:id="rId9"/>
    <p:sldId id="279" r:id="rId10"/>
    <p:sldId id="263" r:id="rId11"/>
    <p:sldId id="276" r:id="rId12"/>
    <p:sldId id="277" r:id="rId13"/>
    <p:sldId id="264" r:id="rId14"/>
    <p:sldId id="265" r:id="rId15"/>
    <p:sldId id="266" r:id="rId16"/>
    <p:sldId id="282" r:id="rId17"/>
    <p:sldId id="267" r:id="rId18"/>
    <p:sldId id="268" r:id="rId19"/>
    <p:sldId id="269" r:id="rId20"/>
    <p:sldId id="270" r:id="rId21"/>
    <p:sldId id="280" r:id="rId22"/>
    <p:sldId id="271" r:id="rId23"/>
    <p:sldId id="281" r:id="rId24"/>
    <p:sldId id="272" r:id="rId25"/>
    <p:sldId id="273" r:id="rId26"/>
    <p:sldId id="274" r:id="rId27"/>
    <p:sldId id="275" r:id="rId28"/>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9" autoAdjust="0"/>
    <p:restoredTop sz="94660"/>
  </p:normalViewPr>
  <p:slideViewPr>
    <p:cSldViewPr snapToGrid="0">
      <p:cViewPr varScale="1">
        <p:scale>
          <a:sx n="69" d="100"/>
          <a:sy n="69" d="100"/>
        </p:scale>
        <p:origin x="82" y="2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6" name="Shape 126"/>
          <p:cNvSpPr>
            <a:spLocks noGrp="1" noRot="1" noChangeAspect="1"/>
          </p:cNvSpPr>
          <p:nvPr>
            <p:ph type="sldImg"/>
          </p:nvPr>
        </p:nvSpPr>
        <p:spPr>
          <a:xfrm>
            <a:off x="1143000" y="685800"/>
            <a:ext cx="4572000" cy="3429000"/>
          </a:xfrm>
          <a:prstGeom prst="rect">
            <a:avLst/>
          </a:prstGeom>
        </p:spPr>
        <p:txBody>
          <a:bodyPr/>
          <a:lstStyle/>
          <a:p>
            <a:endParaRPr/>
          </a:p>
        </p:txBody>
      </p:sp>
      <p:sp>
        <p:nvSpPr>
          <p:cNvPr id="127" name="Shape 1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2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24"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25"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26"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2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3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36"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37"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38"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3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4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48"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49"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50"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5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5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59"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60"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61"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62"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63"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71"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72"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73"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74"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75"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83"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84"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85"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86"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87"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95"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96"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97"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98"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99"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0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07"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pic>
        <p:nvPicPr>
          <p:cNvPr id="108" name="collegelogo" descr="collegelogo"/>
          <p:cNvPicPr>
            <a:picLocks noChangeAspect="1"/>
          </p:cNvPicPr>
          <p:nvPr/>
        </p:nvPicPr>
        <p:blipFill>
          <a:blip r:embed="rId2">
            <a:extLst/>
          </a:blip>
          <a:stretch>
            <a:fillRect/>
          </a:stretch>
        </p:blipFill>
        <p:spPr>
          <a:xfrm>
            <a:off x="381000" y="76200"/>
            <a:ext cx="792163" cy="914400"/>
          </a:xfrm>
          <a:prstGeom prst="rect">
            <a:avLst/>
          </a:prstGeom>
          <a:ln w="12700">
            <a:miter lim="400000"/>
          </a:ln>
        </p:spPr>
      </p:pic>
      <p:sp>
        <p:nvSpPr>
          <p:cNvPr id="109"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sp>
        <p:nvSpPr>
          <p:cNvPr id="110" name="Title Text"/>
          <p:cNvSpPr txBox="1">
            <a:spLocks noGrp="1"/>
          </p:cNvSpPr>
          <p:nvPr>
            <p:ph type="title"/>
          </p:nvPr>
        </p:nvSpPr>
        <p:spPr>
          <a:xfrm>
            <a:off x="990600" y="1371600"/>
            <a:ext cx="6858000" cy="808038"/>
          </a:xfrm>
          <a:prstGeom prst="rect">
            <a:avLst/>
          </a:prstGeom>
        </p:spPr>
        <p:txBody>
          <a:bodyPr/>
          <a:lstStyle/>
          <a:p>
            <a:r>
              <a:t>Title Text</a:t>
            </a:r>
          </a:p>
        </p:txBody>
      </p:sp>
      <p:sp>
        <p:nvSpPr>
          <p:cNvPr id="111" name="Body Level One…"/>
          <p:cNvSpPr txBox="1">
            <a:spLocks noGrp="1"/>
          </p:cNvSpPr>
          <p:nvPr>
            <p:ph type="body" idx="1"/>
          </p:nvPr>
        </p:nvSpPr>
        <p:spPr>
          <a:xfrm>
            <a:off x="914400" y="2362200"/>
            <a:ext cx="7315200" cy="376396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1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20" name="Title Text"/>
          <p:cNvSpPr txBox="1">
            <a:spLocks noGrp="1"/>
          </p:cNvSpPr>
          <p:nvPr>
            <p:ph type="title"/>
          </p:nvPr>
        </p:nvSpPr>
        <p:spPr>
          <a:prstGeom prst="rect">
            <a:avLst/>
          </a:prstGeom>
        </p:spPr>
        <p:txBody>
          <a:bodyPr/>
          <a:lstStyle/>
          <a:p>
            <a:r>
              <a:t>Title Text</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p:cNvSpPr/>
          <p:nvPr/>
        </p:nvSpPr>
        <p:spPr>
          <a:xfrm>
            <a:off x="381000" y="1143000"/>
            <a:ext cx="8458200" cy="5181600"/>
          </a:xfrm>
          <a:prstGeom prst="roundRect">
            <a:avLst>
              <a:gd name="adj" fmla="val 16667"/>
            </a:avLst>
          </a:prstGeom>
          <a:solidFill>
            <a:srgbClr val="FFFFFF"/>
          </a:solidFill>
          <a:ln w="28575">
            <a:solidFill>
              <a:srgbClr val="6699FF"/>
            </a:solidFill>
          </a:ln>
        </p:spPr>
        <p:txBody>
          <a:bodyPr lIns="45718" tIns="45718" rIns="45718" bIns="45718" anchor="ctr"/>
          <a:lstStyle/>
          <a:p>
            <a:pPr algn="ctr">
              <a:defRPr sz="2800">
                <a:solidFill>
                  <a:srgbClr val="0000FF"/>
                </a:solidFill>
              </a:defRPr>
            </a:pPr>
            <a:endParaRPr/>
          </a:p>
        </p:txBody>
      </p:sp>
      <p:sp>
        <p:nvSpPr>
          <p:cNvPr id="3" name="Text"/>
          <p:cNvSpPr txBox="1"/>
          <p:nvPr/>
        </p:nvSpPr>
        <p:spPr>
          <a:xfrm>
            <a:off x="1264919" y="304800"/>
            <a:ext cx="6918960" cy="3506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defRPr sz="1800" b="1"/>
            </a:lvl1pPr>
          </a:lstStyle>
          <a:p>
            <a:r>
              <a:t>                       </a:t>
            </a:r>
          </a:p>
        </p:txBody>
      </p:sp>
      <p:pic>
        <p:nvPicPr>
          <p:cNvPr id="4" name="image.png" descr="image.png"/>
          <p:cNvPicPr>
            <a:picLocks noChangeAspect="1"/>
          </p:cNvPicPr>
          <p:nvPr/>
        </p:nvPicPr>
        <p:blipFill>
          <a:blip r:embed="rId11">
            <a:extLst/>
          </a:blip>
          <a:stretch>
            <a:fillRect/>
          </a:stretch>
        </p:blipFill>
        <p:spPr>
          <a:xfrm>
            <a:off x="0" y="38100"/>
            <a:ext cx="1104900" cy="1104900"/>
          </a:xfrm>
          <a:prstGeom prst="rect">
            <a:avLst/>
          </a:prstGeom>
          <a:ln w="12700">
            <a:miter lim="400000"/>
          </a:ln>
        </p:spPr>
      </p:pic>
      <p:sp>
        <p:nvSpPr>
          <p:cNvPr id="5" name="Slide Number"/>
          <p:cNvSpPr txBox="1">
            <a:spLocks noGrp="1"/>
          </p:cNvSpPr>
          <p:nvPr>
            <p:ph type="sldNum" sz="quarter" idx="2"/>
          </p:nvPr>
        </p:nvSpPr>
        <p:spPr>
          <a:xfrm>
            <a:off x="8308695" y="381000"/>
            <a:ext cx="301907" cy="288822"/>
          </a:xfrm>
          <a:prstGeom prst="rect">
            <a:avLst/>
          </a:prstGeom>
          <a:ln w="12700">
            <a:miter lim="400000"/>
          </a:ln>
        </p:spPr>
        <p:txBody>
          <a:bodyPr wrap="none" lIns="45718" tIns="45718" rIns="45718" bIns="45718">
            <a:spAutoFit/>
          </a:bodyPr>
          <a:lstStyle>
            <a:lvl1pPr algn="r"/>
          </a:lstStyle>
          <a:p>
            <a:fld id="{86CB4B4D-7CA3-9044-876B-883B54F8677D}" type="slidenum">
              <a:t>‹#›</a:t>
            </a:fld>
            <a:endParaRPr/>
          </a:p>
        </p:txBody>
      </p:sp>
      <p:sp>
        <p:nvSpPr>
          <p:cNvPr id="6" name="Title Text"/>
          <p:cNvSpPr txBox="1">
            <a:spLocks noGrp="1"/>
          </p:cNvSpPr>
          <p:nvPr>
            <p:ph type="title"/>
          </p:nvPr>
        </p:nvSpPr>
        <p:spPr>
          <a:xfrm>
            <a:off x="457200" y="92074"/>
            <a:ext cx="8229600" cy="15081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p>
            <a:r>
              <a:t>Title Text</a:t>
            </a:r>
          </a:p>
        </p:txBody>
      </p:sp>
      <p:sp>
        <p:nvSpPr>
          <p:cNvPr id="7" name="Body Level One…"/>
          <p:cNvSpPr txBox="1">
            <a:spLocks noGrp="1"/>
          </p:cNvSpPr>
          <p:nvPr>
            <p:ph type="body" idx="1"/>
          </p:nvPr>
        </p:nvSpPr>
        <p:spPr>
          <a:xfrm>
            <a:off x="5103812" y="2438400"/>
            <a:ext cx="3581401" cy="3962400"/>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Lst>
  <p:transition spd="med"/>
  <p:txStyles>
    <p:titleStyle>
      <a:lvl1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sz="2800" b="0" i="0" u="none" strike="noStrike" cap="none" spc="0" baseline="0">
          <a:solidFill>
            <a:srgbClr val="000000"/>
          </a:solidFill>
          <a:uFillTx/>
          <a:latin typeface="+mn-lt"/>
          <a:ea typeface="+mn-ea"/>
          <a:cs typeface="+mn-cs"/>
          <a:sym typeface="Arial"/>
        </a:defRPr>
      </a:lvl9pPr>
    </p:titleStyle>
    <p:bodyStyle>
      <a:lvl1pPr marL="342900" marR="0" indent="-3429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1pPr>
      <a:lvl2pPr marL="661307" marR="0" indent="-204107"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2pPr>
      <a:lvl3pPr marL="1200150" marR="0" indent="-28575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3pPr>
      <a:lvl4pPr marL="1600200" marR="0" indent="-2286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4pPr>
      <a:lvl5pPr marL="2082800" marR="0" indent="-254000" algn="l" defTabSz="914400" rtl="0" latinLnBrk="0">
        <a:lnSpc>
          <a:spcPct val="100000"/>
        </a:lnSpc>
        <a:spcBef>
          <a:spcPts val="400"/>
        </a:spcBef>
        <a:spcAft>
          <a:spcPts val="0"/>
        </a:spcAft>
        <a:buClrTx/>
        <a:buSzPct val="100000"/>
        <a:buFontTx/>
        <a:buChar char="»"/>
        <a:tabLst/>
        <a:defRPr sz="2000" b="0" i="0" u="none" strike="noStrike" cap="none" spc="0" baseline="0">
          <a:solidFill>
            <a:srgbClr val="000000"/>
          </a:solidFill>
          <a:uFillTx/>
          <a:latin typeface="+mn-lt"/>
          <a:ea typeface="+mn-ea"/>
          <a:cs typeface="+mn-cs"/>
          <a:sym typeface="Arial"/>
        </a:defRPr>
      </a:lvl5pPr>
      <a:lvl6pPr marL="0" marR="0" indent="22860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6pPr>
      <a:lvl7pPr marL="0" marR="0" indent="27432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7pPr>
      <a:lvl8pPr marL="0" marR="0" indent="32004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8pPr>
      <a:lvl9pPr marL="0" marR="0" indent="3657600" algn="l" defTabSz="914400" rtl="0" latinLnBrk="0">
        <a:lnSpc>
          <a:spcPct val="100000"/>
        </a:lnSpc>
        <a:spcBef>
          <a:spcPts val="400"/>
        </a:spcBef>
        <a:spcAft>
          <a:spcPts val="0"/>
        </a:spcAft>
        <a:buClrTx/>
        <a:buSzTx/>
        <a:buFontTx/>
        <a:buNone/>
        <a:tabLst/>
        <a:defRPr sz="2000" b="0" i="0" u="none" strike="noStrike" cap="none" spc="0" baseline="0">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sz="1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a:t>
            </a:fld>
            <a:endParaRPr/>
          </a:p>
        </p:txBody>
      </p:sp>
      <p:sp>
        <p:nvSpPr>
          <p:cNvPr id="130" name="Z-SPA"/>
          <p:cNvSpPr txBox="1">
            <a:spLocks noGrp="1"/>
          </p:cNvSpPr>
          <p:nvPr>
            <p:ph type="title"/>
          </p:nvPr>
        </p:nvSpPr>
        <p:spPr>
          <a:xfrm>
            <a:off x="419876" y="1255756"/>
            <a:ext cx="8304247" cy="914401"/>
          </a:xfrm>
          <a:prstGeom prst="rect">
            <a:avLst/>
          </a:prstGeom>
        </p:spPr>
        <p:txBody>
          <a:bodyPr/>
          <a:lstStyle>
            <a:lvl1pPr algn="l" defTabSz="457200">
              <a:defRPr sz="1200">
                <a:latin typeface="Times Roman"/>
                <a:ea typeface="Times Roman"/>
                <a:cs typeface="Times Roman"/>
                <a:sym typeface="Times Roman"/>
              </a:defRPr>
            </a:lvl1pPr>
          </a:lstStyle>
          <a:p>
            <a:r>
              <a:t>S</a:t>
            </a:r>
          </a:p>
        </p:txBody>
      </p:sp>
      <p:grpSp>
        <p:nvGrpSpPr>
          <p:cNvPr id="133" name="Rectangle"/>
          <p:cNvGrpSpPr/>
          <p:nvPr/>
        </p:nvGrpSpPr>
        <p:grpSpPr>
          <a:xfrm>
            <a:off x="1295400" y="290297"/>
            <a:ext cx="6858000" cy="486206"/>
            <a:chOff x="0" y="0"/>
            <a:chExt cx="6858000" cy="486204"/>
          </a:xfrm>
        </p:grpSpPr>
        <p:sp>
          <p:nvSpPr>
            <p:cNvPr id="13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32" name="19CSE314 – Software Engineering"/>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19CSE314 – Software Engineering</a:t>
              </a:r>
            </a:p>
          </p:txBody>
        </p:sp>
      </p:grpSp>
      <p:grpSp>
        <p:nvGrpSpPr>
          <p:cNvPr id="136" name="Group"/>
          <p:cNvGrpSpPr/>
          <p:nvPr/>
        </p:nvGrpSpPr>
        <p:grpSpPr>
          <a:xfrm>
            <a:off x="1053547" y="1981200"/>
            <a:ext cx="7455543" cy="3753679"/>
            <a:chOff x="0" y="0"/>
            <a:chExt cx="7455541" cy="3753677"/>
          </a:xfrm>
        </p:grpSpPr>
        <p:sp>
          <p:nvSpPr>
            <p:cNvPr id="134" name="Rectangle"/>
            <p:cNvSpPr/>
            <p:nvPr/>
          </p:nvSpPr>
          <p:spPr>
            <a:xfrm>
              <a:off x="-1" y="-1"/>
              <a:ext cx="7455543" cy="3753679"/>
            </a:xfrm>
            <a:prstGeom prst="rect">
              <a:avLst/>
            </a:prstGeom>
            <a:solidFill>
              <a:srgbClr val="FFFFFF"/>
            </a:solidFill>
            <a:ln w="12700" cap="flat">
              <a:noFill/>
              <a:miter lim="400000"/>
            </a:ln>
            <a:effectLst/>
          </p:spPr>
          <p:txBody>
            <a:bodyPr wrap="square" lIns="45718" tIns="45718" rIns="45718" bIns="45718" numCol="1" anchor="t">
              <a:noAutofit/>
            </a:bodyPr>
            <a:lstStyle/>
            <a:p>
              <a:pPr algn="ctr">
                <a:lnSpc>
                  <a:spcPct val="80000"/>
                </a:lnSpc>
                <a:spcBef>
                  <a:spcPts val="400"/>
                </a:spcBef>
                <a:defRPr sz="2000" b="1"/>
              </a:pPr>
              <a:endParaRPr/>
            </a:p>
          </p:txBody>
        </p:sp>
        <p:sp>
          <p:nvSpPr>
            <p:cNvPr id="135" name="Team Members     Group No: 13…"/>
            <p:cNvSpPr txBox="1"/>
            <p:nvPr/>
          </p:nvSpPr>
          <p:spPr>
            <a:xfrm>
              <a:off x="41039" y="341355"/>
              <a:ext cx="7373463" cy="2378719"/>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t">
              <a:spAutoFit/>
            </a:bodyPr>
            <a:lstStyle/>
            <a:p>
              <a:pPr>
                <a:lnSpc>
                  <a:spcPct val="80000"/>
                </a:lnSpc>
                <a:spcBef>
                  <a:spcPts val="400"/>
                </a:spcBef>
                <a:defRPr sz="2000" b="1"/>
              </a:pPr>
              <a:r>
                <a:t>Team Number: 23</a:t>
              </a:r>
              <a:r>
                <a:rPr b="0"/>
                <a:t>	</a:t>
              </a: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a:p>
              <a:pPr>
                <a:lnSpc>
                  <a:spcPct val="80000"/>
                </a:lnSpc>
                <a:spcBef>
                  <a:spcPts val="400"/>
                </a:spcBef>
                <a:defRPr sz="2000">
                  <a:latin typeface="Times New Roman"/>
                  <a:ea typeface="Times New Roman"/>
                  <a:cs typeface="Times New Roman"/>
                  <a:sym typeface="Times New Roman"/>
                </a:defRPr>
              </a:pPr>
              <a:endParaRPr>
                <a:latin typeface="Times New Roman"/>
                <a:ea typeface="Times New Roman"/>
                <a:cs typeface="Times New Roman"/>
                <a:sym typeface="Times New Roman"/>
              </a:endParaRPr>
            </a:p>
          </p:txBody>
        </p:sp>
      </p:grpSp>
      <p:graphicFrame>
        <p:nvGraphicFramePr>
          <p:cNvPr id="137" name="Table 1"/>
          <p:cNvGraphicFramePr/>
          <p:nvPr>
            <p:extLst>
              <p:ext uri="{D42A27DB-BD31-4B8C-83A1-F6EECF244321}">
                <p14:modId xmlns:p14="http://schemas.microsoft.com/office/powerpoint/2010/main" val="3940681758"/>
              </p:ext>
            </p:extLst>
          </p:nvPr>
        </p:nvGraphicFramePr>
        <p:xfrm>
          <a:off x="1523999" y="3029829"/>
          <a:ext cx="6096000" cy="1112520"/>
        </p:xfrm>
        <a:graphic>
          <a:graphicData uri="http://schemas.openxmlformats.org/drawingml/2006/table">
            <a:tbl>
              <a:tblPr>
                <a:tableStyleId>{4C3C2611-4C71-4FC5-86AE-919BDF0F9419}</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defRPr sz="1800"/>
                      </a:pPr>
                      <a:r>
                        <a:rPr sz="1400" b="1"/>
                        <a:t>Reg.No</a:t>
                      </a:r>
                    </a:p>
                  </a:txBody>
                  <a:tcPr marL="45720" marR="45720" horzOverflow="overflow"/>
                </a:tc>
                <a:tc>
                  <a:txBody>
                    <a:bodyPr/>
                    <a:lstStyle/>
                    <a:p>
                      <a:pPr algn="ctr">
                        <a:defRPr sz="1800"/>
                      </a:pPr>
                      <a:r>
                        <a:rPr sz="1400" b="1"/>
                        <a:t>Name of the Student</a:t>
                      </a:r>
                    </a:p>
                  </a:txBody>
                  <a:tcPr marL="45720" marR="45720" horzOverflow="overflow"/>
                </a:tc>
                <a:extLst>
                  <a:ext uri="{0D108BD9-81ED-4DB2-BD59-A6C34878D82A}">
                    <a16:rowId xmlns:a16="http://schemas.microsoft.com/office/drawing/2014/main" val="10000"/>
                  </a:ext>
                </a:extLst>
              </a:tr>
              <a:tr h="370840">
                <a:tc>
                  <a:txBody>
                    <a:bodyPr/>
                    <a:lstStyle/>
                    <a:p>
                      <a:pPr algn="ctr">
                        <a:defRPr sz="1800"/>
                      </a:pPr>
                      <a:r>
                        <a:rPr sz="1400"/>
                        <a:t>BL.EN.U4CSE22233</a:t>
                      </a:r>
                    </a:p>
                  </a:txBody>
                  <a:tcPr marL="45720" marR="45720" horzOverflow="overflow"/>
                </a:tc>
                <a:tc>
                  <a:txBody>
                    <a:bodyPr/>
                    <a:lstStyle/>
                    <a:p>
                      <a:pPr algn="ctr">
                        <a:defRPr sz="1800"/>
                      </a:pPr>
                      <a:r>
                        <a:rPr sz="1400" dirty="0" err="1"/>
                        <a:t>Lik</a:t>
                      </a:r>
                      <a:r>
                        <a:rPr lang="en-US" sz="1400" dirty="0" err="1"/>
                        <a:t>h</a:t>
                      </a:r>
                      <a:r>
                        <a:rPr sz="1400" dirty="0" err="1"/>
                        <a:t>it</a:t>
                      </a:r>
                      <a:r>
                        <a:rPr sz="1400" dirty="0"/>
                        <a:t> </a:t>
                      </a:r>
                      <a:r>
                        <a:rPr lang="en-US" sz="1400" dirty="0" err="1"/>
                        <a:t>Yammanuru</a:t>
                      </a:r>
                      <a:endParaRPr sz="1400" dirty="0"/>
                    </a:p>
                  </a:txBody>
                  <a:tcPr marL="45720" marR="45720" horzOverflow="overflow"/>
                </a:tc>
                <a:extLst>
                  <a:ext uri="{0D108BD9-81ED-4DB2-BD59-A6C34878D82A}">
                    <a16:rowId xmlns:a16="http://schemas.microsoft.com/office/drawing/2014/main" val="10001"/>
                  </a:ext>
                </a:extLst>
              </a:tr>
              <a:tr h="370840">
                <a:tc>
                  <a:txBody>
                    <a:bodyPr/>
                    <a:lstStyle/>
                    <a:p>
                      <a:pPr algn="ctr">
                        <a:defRPr sz="1800"/>
                      </a:pPr>
                      <a:r>
                        <a:rPr sz="1400"/>
                        <a:t>BL.EN.U4CSE22249</a:t>
                      </a:r>
                    </a:p>
                  </a:txBody>
                  <a:tcPr marL="45720" marR="45720" horzOverflow="overflow"/>
                </a:tc>
                <a:tc>
                  <a:txBody>
                    <a:bodyPr/>
                    <a:lstStyle/>
                    <a:p>
                      <a:pPr algn="ctr">
                        <a:defRPr sz="1800"/>
                      </a:pPr>
                      <a:r>
                        <a:rPr sz="1400" dirty="0" err="1"/>
                        <a:t>R.Harsha</a:t>
                      </a:r>
                      <a:r>
                        <a:rPr sz="1400" dirty="0"/>
                        <a:t> </a:t>
                      </a:r>
                    </a:p>
                  </a:txBody>
                  <a:tcPr marL="45720" marR="45720" horzOverflow="overflow"/>
                </a:tc>
                <a:extLst>
                  <a:ext uri="{0D108BD9-81ED-4DB2-BD59-A6C34878D82A}">
                    <a16:rowId xmlns:a16="http://schemas.microsoft.com/office/drawing/2014/main" val="10002"/>
                  </a:ext>
                </a:extLst>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a:t>
            </a:fld>
            <a:endParaRPr/>
          </a:p>
        </p:txBody>
      </p:sp>
      <p:sp>
        <p:nvSpPr>
          <p:cNvPr id="140" name="Content"/>
          <p:cNvSpPr txBox="1">
            <a:spLocks noGrp="1"/>
          </p:cNvSpPr>
          <p:nvPr>
            <p:ph type="title"/>
          </p:nvPr>
        </p:nvSpPr>
        <p:spPr>
          <a:xfrm>
            <a:off x="609600" y="-2"/>
            <a:ext cx="7772400" cy="1175659"/>
          </a:xfrm>
          <a:prstGeom prst="rect">
            <a:avLst/>
          </a:prstGeom>
        </p:spPr>
        <p:txBody>
          <a:bodyPr/>
          <a:lstStyle>
            <a:lvl1pPr>
              <a:defRPr sz="3200">
                <a:latin typeface="Times New Roman"/>
                <a:ea typeface="Times New Roman"/>
                <a:cs typeface="Times New Roman"/>
                <a:sym typeface="Times New Roman"/>
              </a:defRPr>
            </a:lvl1pPr>
          </a:lstStyle>
          <a:p>
            <a:r>
              <a:t>INTRODUCTION</a:t>
            </a:r>
          </a:p>
        </p:txBody>
      </p:sp>
      <p:grpSp>
        <p:nvGrpSpPr>
          <p:cNvPr id="143" name="Rectangle"/>
          <p:cNvGrpSpPr/>
          <p:nvPr/>
        </p:nvGrpSpPr>
        <p:grpSpPr>
          <a:xfrm>
            <a:off x="1181100" y="347447"/>
            <a:ext cx="6858001" cy="486206"/>
            <a:chOff x="0" y="0"/>
            <a:chExt cx="6858000" cy="486204"/>
          </a:xfrm>
        </p:grpSpPr>
        <p:sp>
          <p:nvSpPr>
            <p:cNvPr id="14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42" name="INTRODUCTION"/>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INTRODUCTION</a:t>
              </a:r>
            </a:p>
          </p:txBody>
        </p:sp>
      </p:grpSp>
      <p:sp>
        <p:nvSpPr>
          <p:cNvPr id="144" name="Introduction…"/>
          <p:cNvSpPr txBox="1"/>
          <p:nvPr/>
        </p:nvSpPr>
        <p:spPr>
          <a:xfrm>
            <a:off x="726615" y="1997840"/>
            <a:ext cx="7680960" cy="32821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just">
              <a:defRPr sz="1800">
                <a:latin typeface="Times New Roman"/>
                <a:ea typeface="Times New Roman"/>
                <a:cs typeface="Times New Roman"/>
                <a:sym typeface="Times New Roman"/>
              </a:defRPr>
            </a:lvl1pPr>
          </a:lstStyle>
          <a:p>
            <a:r>
              <a:t>In the contemporary learning environ, students lack opportunities to interact directly with former graduates to get guidance and networking opportunities. There are various outdated, unengaging and clunky alumni connect platforms available. The resultant gap closes off access by students to real-world wisdom and advice in making career choices from previous students. The initiative of “Alumination” is to fill this void with a state-of-the-art , engaging alumni portal. Through an easy-to-use intuitive Tinder-style swipe interface, students can easily explore profiles. Connecting their fields of interest, the studying activity, and spheres of professional practice users can identify suitable alumni. Using its React.js, Node.js, and PostgreSQL, the system ensures seamless performance, scalability, as well as, active user interactions. What is aimed at is the development of sustainable academic and professional relations between students and alumni.</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a:t>
            </a:fld>
            <a:endParaRPr/>
          </a:p>
        </p:txBody>
      </p:sp>
      <p:sp>
        <p:nvSpPr>
          <p:cNvPr id="147"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50" name="Rectangle"/>
          <p:cNvGrpSpPr/>
          <p:nvPr/>
        </p:nvGrpSpPr>
        <p:grpSpPr>
          <a:xfrm>
            <a:off x="1295400" y="290297"/>
            <a:ext cx="6858000" cy="486206"/>
            <a:chOff x="0" y="0"/>
            <a:chExt cx="6858000" cy="486204"/>
          </a:xfrm>
        </p:grpSpPr>
        <p:sp>
          <p:nvSpPr>
            <p:cNvPr id="148"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49"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51" name="Table 1"/>
          <p:cNvGraphicFramePr/>
          <p:nvPr/>
        </p:nvGraphicFramePr>
        <p:xfrm>
          <a:off x="866245" y="1282730"/>
          <a:ext cx="7487706" cy="4902139"/>
        </p:xfrm>
        <a:graphic>
          <a:graphicData uri="http://schemas.openxmlformats.org/drawingml/2006/table">
            <a:tbl>
              <a:tblPr>
                <a:tableStyleId>{4C3C2611-4C71-4FC5-86AE-919BDF0F9419}</a:tableStyleId>
              </a:tblPr>
              <a:tblGrid>
                <a:gridCol w="606151">
                  <a:extLst>
                    <a:ext uri="{9D8B030D-6E8A-4147-A177-3AD203B41FA5}">
                      <a16:colId xmlns:a16="http://schemas.microsoft.com/office/drawing/2014/main" val="20000"/>
                    </a:ext>
                  </a:extLst>
                </a:gridCol>
                <a:gridCol w="2092590">
                  <a:extLst>
                    <a:ext uri="{9D8B030D-6E8A-4147-A177-3AD203B41FA5}">
                      <a16:colId xmlns:a16="http://schemas.microsoft.com/office/drawing/2014/main" val="20001"/>
                    </a:ext>
                  </a:extLst>
                </a:gridCol>
                <a:gridCol w="1490377">
                  <a:extLst>
                    <a:ext uri="{9D8B030D-6E8A-4147-A177-3AD203B41FA5}">
                      <a16:colId xmlns:a16="http://schemas.microsoft.com/office/drawing/2014/main" val="20002"/>
                    </a:ext>
                  </a:extLst>
                </a:gridCol>
                <a:gridCol w="1649294">
                  <a:extLst>
                    <a:ext uri="{9D8B030D-6E8A-4147-A177-3AD203B41FA5}">
                      <a16:colId xmlns:a16="http://schemas.microsoft.com/office/drawing/2014/main" val="20003"/>
                    </a:ext>
                  </a:extLst>
                </a:gridCol>
                <a:gridCol w="1649294">
                  <a:extLst>
                    <a:ext uri="{9D8B030D-6E8A-4147-A177-3AD203B41FA5}">
                      <a16:colId xmlns:a16="http://schemas.microsoft.com/office/drawing/2014/main" val="20004"/>
                    </a:ext>
                  </a:extLst>
                </a:gridCol>
              </a:tblGrid>
              <a:tr h="326923">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4575216">
                <a:tc>
                  <a:txBody>
                    <a:bodyPr/>
                    <a:lstStyle/>
                    <a:p>
                      <a:pPr>
                        <a:defRPr sz="1800"/>
                      </a:pPr>
                      <a:r>
                        <a:rPr sz="1400"/>
                        <a:t>1.</a:t>
                      </a:r>
                    </a:p>
                  </a:txBody>
                  <a:tcPr marL="45720" marR="45720" horzOverflow="overflow"/>
                </a:tc>
                <a:tc>
                  <a:txBody>
                    <a:bodyPr/>
                    <a:lstStyle/>
                    <a:p>
                      <a:pPr indent="12700" algn="l">
                        <a:lnSpc>
                          <a:spcPct val="170000"/>
                        </a:lnSpc>
                        <a:defRPr sz="1200">
                          <a:solidFill>
                            <a:srgbClr val="181818"/>
                          </a:solidFill>
                          <a:latin typeface="Calibri"/>
                          <a:ea typeface="Calibri"/>
                          <a:cs typeface="Calibri"/>
                          <a:sym typeface="Calibri"/>
                        </a:defRPr>
                      </a:pPr>
                      <a:r>
                        <a:rPr>
                          <a:solidFill>
                            <a:srgbClr val="000000"/>
                          </a:solidFill>
                        </a:rPr>
                        <a:t>Tracking</a:t>
                      </a:r>
                      <a:r>
                        <a:rPr>
                          <a:solidFill>
                            <a:srgbClr val="000000"/>
                          </a:solidFill>
                          <a:latin typeface="Times New Roman"/>
                          <a:ea typeface="Times New Roman"/>
                          <a:cs typeface="Times New Roman"/>
                          <a:sym typeface="Times New Roman"/>
                        </a:rPr>
                        <a:t> </a:t>
                      </a:r>
                      <a:r>
                        <a:rPr>
                          <a:solidFill>
                            <a:srgbClr val="000000"/>
                          </a:solidFill>
                        </a:rPr>
                        <a:t>student</a:t>
                      </a:r>
                      <a:r>
                        <a:rPr>
                          <a:solidFill>
                            <a:srgbClr val="000000"/>
                          </a:solidFill>
                          <a:latin typeface="Times New Roman"/>
                          <a:ea typeface="Times New Roman"/>
                          <a:cs typeface="Times New Roman"/>
                          <a:sym typeface="Times New Roman"/>
                        </a:rPr>
                        <a:t> </a:t>
                      </a:r>
                      <a:r>
                        <a:rPr>
                          <a:solidFill>
                            <a:srgbClr val="000000"/>
                          </a:solidFill>
                        </a:rPr>
                        <a:t>progress</a:t>
                      </a:r>
                      <a:r>
                        <a:rPr>
                          <a:solidFill>
                            <a:srgbClr val="000000"/>
                          </a:solidFill>
                          <a:latin typeface="Times New Roman"/>
                          <a:ea typeface="Times New Roman"/>
                          <a:cs typeface="Times New Roman"/>
                          <a:sym typeface="Times New Roman"/>
                        </a:rPr>
                        <a:t> </a:t>
                      </a:r>
                      <a:r>
                        <a:rPr>
                          <a:solidFill>
                            <a:srgbClr val="000000"/>
                          </a:solidFill>
                        </a:rPr>
                        <a:t>through</a:t>
                      </a:r>
                      <a:r>
                        <a:rPr>
                          <a:solidFill>
                            <a:srgbClr val="000000"/>
                          </a:solidFill>
                          <a:latin typeface="Times New Roman"/>
                          <a:ea typeface="Times New Roman"/>
                          <a:cs typeface="Times New Roman"/>
                          <a:sym typeface="Times New Roman"/>
                        </a:rPr>
                        <a:t> </a:t>
                      </a:r>
                      <a:r>
                        <a:rPr>
                          <a:solidFill>
                            <a:srgbClr val="000000"/>
                          </a:solidFill>
                        </a:rPr>
                        <a:t>graduate</a:t>
                      </a:r>
                      <a:r>
                        <a:rPr>
                          <a:solidFill>
                            <a:srgbClr val="000000"/>
                          </a:solidFill>
                          <a:latin typeface="Times New Roman"/>
                          <a:ea typeface="Times New Roman"/>
                          <a:cs typeface="Times New Roman"/>
                          <a:sym typeface="Times New Roman"/>
                        </a:rPr>
                        <a:t> </a:t>
                      </a:r>
                      <a:r>
                        <a:rPr>
                          <a:solidFill>
                            <a:srgbClr val="000000"/>
                          </a:solidFill>
                        </a:rPr>
                        <a:t>programs</a:t>
                      </a:r>
                    </a:p>
                  </a:txBody>
                  <a:tcPr marL="45720" marR="45720" horzOverflow="overflow"/>
                </a:tc>
                <a:tc>
                  <a:txBody>
                    <a:bodyPr/>
                    <a:lstStyle/>
                    <a:p>
                      <a:pPr indent="12700" algn="l">
                        <a:spcBef>
                          <a:spcPts val="900"/>
                        </a:spcBef>
                        <a:defRPr sz="1200">
                          <a:solidFill>
                            <a:srgbClr val="181818"/>
                          </a:solidFill>
                          <a:latin typeface="Calibri"/>
                          <a:ea typeface="Calibri"/>
                          <a:cs typeface="Calibri"/>
                          <a:sym typeface="Calibri"/>
                        </a:defRPr>
                      </a:pPr>
                      <a:r>
                        <a:t>Young</a:t>
                      </a:r>
                      <a:r>
                        <a:rPr>
                          <a:latin typeface="Times New Roman"/>
                          <a:ea typeface="Times New Roman"/>
                          <a:cs typeface="Times New Roman"/>
                          <a:sym typeface="Times New Roman"/>
                        </a:rPr>
                        <a:t> </a:t>
                      </a:r>
                      <a:r>
                        <a:t>et</a:t>
                      </a:r>
                      <a:r>
                        <a:rPr>
                          <a:latin typeface="Times New Roman"/>
                          <a:ea typeface="Times New Roman"/>
                          <a:cs typeface="Times New Roman"/>
                          <a:sym typeface="Times New Roman"/>
                        </a:rPr>
                        <a:t> </a:t>
                      </a:r>
                      <a:r>
                        <a:t>al</a:t>
                      </a:r>
                    </a:p>
                  </a:txBody>
                  <a:tcPr marL="45720" marR="45720" horzOverflow="overflow"/>
                </a:tc>
                <a:tc>
                  <a:txBody>
                    <a:bodyPr/>
                    <a:lstStyle/>
                    <a:p>
                      <a:pPr indent="12700" algn="l">
                        <a:lnSpc>
                          <a:spcPct val="110000"/>
                        </a:lnSpc>
                        <a:spcBef>
                          <a:spcPts val="800"/>
                        </a:spcBef>
                        <a:defRPr sz="1200">
                          <a:solidFill>
                            <a:srgbClr val="181818"/>
                          </a:solidFill>
                          <a:latin typeface="Calibri"/>
                          <a:ea typeface="Calibri"/>
                          <a:cs typeface="Calibri"/>
                          <a:sym typeface="Calibri"/>
                        </a:defRPr>
                      </a:pPr>
                      <a:r>
                        <a:t>Graduate</a:t>
                      </a:r>
                      <a:r>
                        <a:rPr>
                          <a:latin typeface="Times New Roman"/>
                          <a:ea typeface="Times New Roman"/>
                          <a:cs typeface="Times New Roman"/>
                          <a:sym typeface="Times New Roman"/>
                        </a:rPr>
                        <a:t> </a:t>
                      </a:r>
                      <a:r>
                        <a:t>education</a:t>
                      </a:r>
                      <a:r>
                        <a:rPr>
                          <a:latin typeface="Times New Roman"/>
                          <a:ea typeface="Times New Roman"/>
                          <a:cs typeface="Times New Roman"/>
                          <a:sym typeface="Times New Roman"/>
                        </a:rPr>
                        <a:t> </a:t>
                      </a:r>
                      <a:r>
                        <a:t>is</a:t>
                      </a:r>
                      <a:r>
                        <a:rPr>
                          <a:latin typeface="Times New Roman"/>
                          <a:ea typeface="Times New Roman"/>
                          <a:cs typeface="Times New Roman"/>
                          <a:sym typeface="Times New Roman"/>
                        </a:rPr>
                        <a:t> </a:t>
                      </a:r>
                      <a:r>
                        <a:t>milestone-</a:t>
                      </a:r>
                      <a:r>
                        <a:rPr>
                          <a:solidFill>
                            <a:srgbClr val="000000"/>
                          </a:solidFill>
                        </a:rPr>
                        <a:t>centered</a:t>
                      </a:r>
                      <a:r>
                        <a:rPr>
                          <a:solidFill>
                            <a:srgbClr val="000000"/>
                          </a:solidFill>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decentralized,</a:t>
                      </a:r>
                      <a:r>
                        <a:rPr>
                          <a:latin typeface="Times New Roman"/>
                          <a:ea typeface="Times New Roman"/>
                          <a:cs typeface="Times New Roman"/>
                          <a:sym typeface="Times New Roman"/>
                        </a:rPr>
                        <a:t> </a:t>
                      </a:r>
                      <a:r>
                        <a:rPr>
                          <a:solidFill>
                            <a:srgbClr val="000000"/>
                          </a:solidFill>
                        </a:rPr>
                        <a:t>and</a:t>
                      </a:r>
                      <a:r>
                        <a:rPr>
                          <a:solidFill>
                            <a:srgbClr val="000000"/>
                          </a:solidFill>
                          <a:latin typeface="Times New Roman"/>
                          <a:ea typeface="Times New Roman"/>
                          <a:cs typeface="Times New Roman"/>
                          <a:sym typeface="Times New Roman"/>
                        </a:rPr>
                        <a:t> </a:t>
                      </a:r>
                      <a:r>
                        <a:rPr>
                          <a:solidFill>
                            <a:srgbClr val="000000"/>
                          </a:solidFill>
                        </a:rPr>
                        <a:t>therefore</a:t>
                      </a:r>
                      <a:r>
                        <a:rPr>
                          <a:solidFill>
                            <a:srgbClr val="000000"/>
                          </a:solidFill>
                          <a:latin typeface="Times New Roman"/>
                          <a:ea typeface="Times New Roman"/>
                          <a:cs typeface="Times New Roman"/>
                          <a:sym typeface="Times New Roman"/>
                        </a:rPr>
                        <a:t> </a:t>
                      </a:r>
                      <a:r>
                        <a:rPr>
                          <a:solidFill>
                            <a:srgbClr val="000000"/>
                          </a:solidFill>
                        </a:rPr>
                        <a:t>needs</a:t>
                      </a:r>
                      <a:r>
                        <a:rPr>
                          <a:solidFill>
                            <a:srgbClr val="000000"/>
                          </a:solidFill>
                          <a:latin typeface="Times New Roman"/>
                          <a:ea typeface="Times New Roman"/>
                          <a:cs typeface="Times New Roman"/>
                          <a:sym typeface="Times New Roman"/>
                        </a:rPr>
                        <a:t> </a:t>
                      </a:r>
                      <a:r>
                        <a:rPr>
                          <a:solidFill>
                            <a:srgbClr val="000000"/>
                          </a:solidFill>
                        </a:rPr>
                        <a:t>customized</a:t>
                      </a:r>
                      <a:r>
                        <a:rPr>
                          <a:solidFill>
                            <a:srgbClr val="000000"/>
                          </a:solidFill>
                          <a:latin typeface="Times New Roman"/>
                          <a:ea typeface="Times New Roman"/>
                          <a:cs typeface="Times New Roman"/>
                          <a:sym typeface="Times New Roman"/>
                        </a:rPr>
                        <a:t> </a:t>
                      </a:r>
                      <a:r>
                        <a:t>tracking</a:t>
                      </a:r>
                      <a:r>
                        <a:rPr>
                          <a:latin typeface="Times New Roman"/>
                          <a:ea typeface="Times New Roman"/>
                          <a:cs typeface="Times New Roman"/>
                          <a:sym typeface="Times New Roman"/>
                        </a:rPr>
                        <a:t> </a:t>
                      </a:r>
                      <a:r>
                        <a:rPr>
                          <a:solidFill>
                            <a:srgbClr val="000000"/>
                          </a:solidFill>
                        </a:rPr>
                        <a:t>instruments</a:t>
                      </a:r>
                      <a:r>
                        <a:t>.</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milestones</a:t>
                      </a:r>
                      <a:r>
                        <a:rPr>
                          <a:latin typeface="Times New Roman"/>
                          <a:ea typeface="Times New Roman"/>
                          <a:cs typeface="Times New Roman"/>
                          <a:sym typeface="Times New Roman"/>
                        </a:rPr>
                        <a:t> </a:t>
                      </a:r>
                      <a:r>
                        <a:t>dashboard</a:t>
                      </a:r>
                      <a:r>
                        <a:rPr>
                          <a:latin typeface="Times New Roman"/>
                          <a:ea typeface="Times New Roman"/>
                          <a:cs typeface="Times New Roman"/>
                          <a:sym typeface="Times New Roman"/>
                        </a:rPr>
                        <a:t> </a:t>
                      </a:r>
                      <a:r>
                        <a:rPr>
                          <a:solidFill>
                            <a:srgbClr val="000000"/>
                          </a:solidFill>
                        </a:rPr>
                        <a:t>increases</a:t>
                      </a:r>
                      <a:r>
                        <a:rPr>
                          <a:solidFill>
                            <a:srgbClr val="000000"/>
                          </a:solidFill>
                          <a:latin typeface="Times New Roman"/>
                          <a:ea typeface="Times New Roman"/>
                          <a:cs typeface="Times New Roman"/>
                          <a:sym typeface="Times New Roman"/>
                        </a:rPr>
                        <a:t> </a:t>
                      </a:r>
                      <a:r>
                        <a:t>transparency,</a:t>
                      </a:r>
                      <a:r>
                        <a:rPr>
                          <a:latin typeface="Times New Roman"/>
                          <a:ea typeface="Times New Roman"/>
                          <a:cs typeface="Times New Roman"/>
                          <a:sym typeface="Times New Roman"/>
                        </a:rPr>
                        <a:t> </a:t>
                      </a:r>
                      <a:r>
                        <a:t>visualizes,</a:t>
                      </a:r>
                    </a:p>
                    <a:p>
                      <a:pPr indent="12700" algn="l">
                        <a:lnSpc>
                          <a:spcPct val="109000"/>
                        </a:lnSpc>
                        <a:defRPr sz="1200">
                          <a:solidFill>
                            <a:srgbClr val="181818"/>
                          </a:solidFill>
                          <a:latin typeface="Calibri"/>
                          <a:ea typeface="Calibri"/>
                          <a:cs typeface="Calibri"/>
                          <a:sym typeface="Calibri"/>
                        </a:defRPr>
                      </a:pPr>
                      <a:r>
                        <a:t>and</a:t>
                      </a:r>
                      <a:r>
                        <a:rPr>
                          <a:latin typeface="Times New Roman"/>
                          <a:ea typeface="Times New Roman"/>
                          <a:cs typeface="Times New Roman"/>
                          <a:sym typeface="Times New Roman"/>
                        </a:rPr>
                        <a:t> </a:t>
                      </a:r>
                      <a:r>
                        <a:rPr>
                          <a:solidFill>
                            <a:srgbClr val="000000"/>
                          </a:solidFill>
                        </a:rPr>
                        <a:t>compares</a:t>
                      </a:r>
                      <a:r>
                        <a:rPr>
                          <a:solidFill>
                            <a:srgbClr val="000000"/>
                          </a:solidFill>
                          <a:latin typeface="Times New Roman"/>
                          <a:ea typeface="Times New Roman"/>
                          <a:cs typeface="Times New Roman"/>
                          <a:sym typeface="Times New Roman"/>
                        </a:rPr>
                        <a:t> </a:t>
                      </a:r>
                      <a:r>
                        <a:t>programs.</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rPr>
                          <a:solidFill>
                            <a:srgbClr val="000000"/>
                          </a:solidFill>
                        </a:rPr>
                        <a:t>article</a:t>
                      </a:r>
                      <a:r>
                        <a:rPr>
                          <a:solidFill>
                            <a:srgbClr val="000000"/>
                          </a:solidFill>
                          <a:latin typeface="Times New Roman"/>
                          <a:ea typeface="Times New Roman"/>
                          <a:cs typeface="Times New Roman"/>
                          <a:sym typeface="Times New Roman"/>
                        </a:rPr>
                        <a:t> </a:t>
                      </a:r>
                      <a:r>
                        <a:rPr>
                          <a:solidFill>
                            <a:srgbClr val="000000"/>
                          </a:solidFill>
                        </a:rPr>
                        <a:t>focuses</a:t>
                      </a:r>
                      <a:r>
                        <a:rPr>
                          <a:solidFill>
                            <a:srgbClr val="000000"/>
                          </a:solidFill>
                          <a:latin typeface="Times New Roman"/>
                          <a:ea typeface="Times New Roman"/>
                          <a:cs typeface="Times New Roman"/>
                          <a:sym typeface="Times New Roman"/>
                        </a:rPr>
                        <a:t> </a:t>
                      </a:r>
                      <a:r>
                        <a:rPr>
                          <a:solidFill>
                            <a:srgbClr val="000000"/>
                          </a:solidFill>
                        </a:rPr>
                        <a:t>on</a:t>
                      </a:r>
                      <a:r>
                        <a:rPr>
                          <a:solidFill>
                            <a:srgbClr val="000000"/>
                          </a:solidFill>
                          <a:latin typeface="Times New Roman"/>
                          <a:ea typeface="Times New Roman"/>
                          <a:cs typeface="Times New Roman"/>
                          <a:sym typeface="Times New Roman"/>
                        </a:rPr>
                        <a:t> </a:t>
                      </a:r>
                      <a:r>
                        <a:rPr>
                          <a:solidFill>
                            <a:srgbClr val="000000"/>
                          </a:solidFill>
                        </a:rPr>
                        <a:t>difficulties</a:t>
                      </a:r>
                      <a:r>
                        <a:rPr>
                          <a:solidFill>
                            <a:srgbClr val="000000"/>
                          </a:solidFill>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t>consistency</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trust</a:t>
                      </a:r>
                      <a:r>
                        <a:rPr>
                          <a:latin typeface="Times New Roman"/>
                          <a:ea typeface="Times New Roman"/>
                          <a:cs typeface="Times New Roman"/>
                          <a:sym typeface="Times New Roman"/>
                        </a:rPr>
                        <a:t> </a:t>
                      </a:r>
                      <a:r>
                        <a:rPr>
                          <a:solidFill>
                            <a:srgbClr val="000000"/>
                          </a:solidFill>
                        </a:rPr>
                        <a:t>in</a:t>
                      </a:r>
                      <a:r>
                        <a:rPr>
                          <a:solidFill>
                            <a:srgbClr val="000000"/>
                          </a:solidFill>
                          <a:latin typeface="Times New Roman"/>
                          <a:ea typeface="Times New Roman"/>
                          <a:cs typeface="Times New Roman"/>
                          <a:sym typeface="Times New Roman"/>
                        </a:rPr>
                        <a:t> </a:t>
                      </a:r>
                      <a:r>
                        <a:rPr>
                          <a:solidFill>
                            <a:srgbClr val="000000"/>
                          </a:solidFill>
                        </a:rPr>
                        <a:t>data</a:t>
                      </a:r>
                      <a:r>
                        <a:rPr>
                          <a:solidFill>
                            <a:srgbClr val="000000"/>
                          </a:solidFill>
                          <a:latin typeface="Times New Roman"/>
                          <a:ea typeface="Times New Roman"/>
                          <a:cs typeface="Times New Roman"/>
                          <a:sym typeface="Times New Roman"/>
                        </a:rPr>
                        <a:t> </a:t>
                      </a:r>
                      <a:r>
                        <a:rPr>
                          <a:solidFill>
                            <a:srgbClr val="000000"/>
                          </a:solidFill>
                        </a:rPr>
                        <a:t>and</a:t>
                      </a:r>
                      <a:r>
                        <a:rPr>
                          <a:solidFill>
                            <a:srgbClr val="000000"/>
                          </a:solidFill>
                          <a:latin typeface="Times New Roman"/>
                          <a:ea typeface="Times New Roman"/>
                          <a:cs typeface="Times New Roman"/>
                          <a:sym typeface="Times New Roman"/>
                        </a:rPr>
                        <a:t> </a:t>
                      </a:r>
                      <a:r>
                        <a:rPr>
                          <a:solidFill>
                            <a:srgbClr val="000000"/>
                          </a:solidFill>
                        </a:rPr>
                        <a:t>underscores</a:t>
                      </a:r>
                      <a:r>
                        <a:rPr>
                          <a:solidFill>
                            <a:srgbClr val="000000"/>
                          </a:solidFill>
                          <a:latin typeface="Times New Roman"/>
                          <a:ea typeface="Times New Roman"/>
                          <a:cs typeface="Times New Roman"/>
                          <a:sym typeface="Times New Roman"/>
                        </a:rPr>
                        <a:t> </a:t>
                      </a:r>
                      <a:r>
                        <a:rPr>
                          <a:solidFill>
                            <a:srgbClr val="000000"/>
                          </a:solidFill>
                        </a:rPr>
                        <a:t>the</a:t>
                      </a:r>
                      <a:r>
                        <a:rPr>
                          <a:solidFill>
                            <a:srgbClr val="000000"/>
                          </a:solidFill>
                          <a:latin typeface="Times New Roman"/>
                          <a:ea typeface="Times New Roman"/>
                          <a:cs typeface="Times New Roman"/>
                          <a:sym typeface="Times New Roman"/>
                        </a:rPr>
                        <a:t> </a:t>
                      </a:r>
                      <a:r>
                        <a:rPr>
                          <a:solidFill>
                            <a:srgbClr val="000000"/>
                          </a:solidFill>
                        </a:rPr>
                        <a:t>importance</a:t>
                      </a:r>
                      <a:r>
                        <a:rPr>
                          <a:solidFill>
                            <a:srgbClr val="000000"/>
                          </a:solidFill>
                          <a:latin typeface="Times New Roman"/>
                          <a:ea typeface="Times New Roman"/>
                          <a:cs typeface="Times New Roman"/>
                          <a:sym typeface="Times New Roman"/>
                        </a:rPr>
                        <a:t> </a:t>
                      </a:r>
                      <a:r>
                        <a:rPr>
                          <a:solidFill>
                            <a:srgbClr val="000000"/>
                          </a:solidFill>
                        </a:rPr>
                        <a:t>of</a:t>
                      </a:r>
                      <a:r>
                        <a:rPr>
                          <a:solidFill>
                            <a:srgbClr val="000000"/>
                          </a:solidFill>
                          <a:latin typeface="Times New Roman"/>
                          <a:ea typeface="Times New Roman"/>
                          <a:cs typeface="Times New Roman"/>
                          <a:sym typeface="Times New Roman"/>
                        </a:rPr>
                        <a:t> </a:t>
                      </a:r>
                      <a:r>
                        <a:t>dashboards</a:t>
                      </a:r>
                      <a:r>
                        <a:rPr>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rPr>
                          <a:solidFill>
                            <a:srgbClr val="000000"/>
                          </a:solidFill>
                        </a:rPr>
                        <a:t>enhancing</a:t>
                      </a:r>
                      <a:r>
                        <a:rPr>
                          <a:solidFill>
                            <a:srgbClr val="000000"/>
                          </a:solidFill>
                          <a:latin typeface="Times New Roman"/>
                          <a:ea typeface="Times New Roman"/>
                          <a:cs typeface="Times New Roman"/>
                          <a:sym typeface="Times New Roman"/>
                        </a:rPr>
                        <a:t> </a:t>
                      </a:r>
                      <a:r>
                        <a:t>decision-making</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rPr>
                          <a:solidFill>
                            <a:srgbClr val="000000"/>
                          </a:solidFill>
                        </a:rPr>
                        <a:t>results.</a:t>
                      </a:r>
                    </a:p>
                  </a:txBody>
                  <a:tcPr marL="45720" marR="45720" horzOverflow="overflow"/>
                </a:tc>
                <a:tc>
                  <a:txBody>
                    <a:bodyPr/>
                    <a:lstStyle/>
                    <a:p>
                      <a:pPr indent="12700" algn="l">
                        <a:lnSpc>
                          <a:spcPct val="110000"/>
                        </a:lnSpc>
                        <a:spcBef>
                          <a:spcPts val="800"/>
                        </a:spcBef>
                        <a:defRPr sz="1200">
                          <a:solidFill>
                            <a:srgbClr val="181818"/>
                          </a:solidFill>
                          <a:latin typeface="Calibri"/>
                          <a:ea typeface="Calibri"/>
                          <a:cs typeface="Calibri"/>
                          <a:sym typeface="Calibri"/>
                        </a:defRPr>
                      </a:pPr>
                      <a:r>
                        <a:rPr>
                          <a:solidFill>
                            <a:srgbClr val="000000"/>
                          </a:solidFill>
                        </a:rPr>
                        <a:t>Does</a:t>
                      </a:r>
                      <a:r>
                        <a:rPr>
                          <a:solidFill>
                            <a:srgbClr val="000000"/>
                          </a:solidFill>
                          <a:latin typeface="Times New Roman"/>
                          <a:ea typeface="Times New Roman"/>
                          <a:cs typeface="Times New Roman"/>
                          <a:sym typeface="Times New Roman"/>
                        </a:rPr>
                        <a:t> </a:t>
                      </a:r>
                      <a:r>
                        <a:rPr>
                          <a:solidFill>
                            <a:srgbClr val="000000"/>
                          </a:solidFill>
                        </a:rPr>
                        <a:t>not</a:t>
                      </a:r>
                      <a:r>
                        <a:rPr>
                          <a:solidFill>
                            <a:srgbClr val="000000"/>
                          </a:solidFill>
                          <a:latin typeface="Times New Roman"/>
                          <a:ea typeface="Times New Roman"/>
                          <a:cs typeface="Times New Roman"/>
                          <a:sym typeface="Times New Roman"/>
                        </a:rPr>
                        <a:t> </a:t>
                      </a:r>
                      <a:r>
                        <a:rPr>
                          <a:solidFill>
                            <a:srgbClr val="000000"/>
                          </a:solidFill>
                        </a:rPr>
                        <a:t>have</a:t>
                      </a:r>
                      <a:r>
                        <a:rPr>
                          <a:solidFill>
                            <a:srgbClr val="000000"/>
                          </a:solidFill>
                          <a:latin typeface="Times New Roman"/>
                          <a:ea typeface="Times New Roman"/>
                          <a:cs typeface="Times New Roman"/>
                          <a:sym typeface="Times New Roman"/>
                        </a:rPr>
                        <a:t> </a:t>
                      </a:r>
                      <a:r>
                        <a:t>quantitative</a:t>
                      </a:r>
                      <a:r>
                        <a:rPr>
                          <a:latin typeface="Times New Roman"/>
                          <a:ea typeface="Times New Roman"/>
                          <a:cs typeface="Times New Roman"/>
                          <a:sym typeface="Times New Roman"/>
                        </a:rPr>
                        <a:t> </a:t>
                      </a:r>
                      <a:r>
                        <a:t>data,</a:t>
                      </a:r>
                      <a:r>
                        <a:rPr>
                          <a:latin typeface="Times New Roman"/>
                          <a:ea typeface="Times New Roman"/>
                          <a:cs typeface="Times New Roman"/>
                          <a:sym typeface="Times New Roman"/>
                        </a:rPr>
                        <a:t> </a:t>
                      </a:r>
                      <a:r>
                        <a:t>comparisons</a:t>
                      </a:r>
                      <a:r>
                        <a:rPr>
                          <a:latin typeface="Times New Roman"/>
                          <a:ea typeface="Times New Roman"/>
                          <a:cs typeface="Times New Roman"/>
                          <a:sym typeface="Times New Roman"/>
                        </a:rPr>
                        <a:t> </a:t>
                      </a:r>
                      <a:r>
                        <a:rPr>
                          <a:solidFill>
                            <a:srgbClr val="000000"/>
                          </a:solidFill>
                        </a:rPr>
                        <a:t>of</a:t>
                      </a:r>
                      <a:r>
                        <a:rPr>
                          <a:solidFill>
                            <a:srgbClr val="000000"/>
                          </a:solidFill>
                          <a:latin typeface="Times New Roman"/>
                          <a:ea typeface="Times New Roman"/>
                          <a:cs typeface="Times New Roman"/>
                          <a:sym typeface="Times New Roman"/>
                        </a:rPr>
                        <a:t> </a:t>
                      </a:r>
                      <a:r>
                        <a:rPr>
                          <a:solidFill>
                            <a:srgbClr val="000000"/>
                          </a:solidFill>
                        </a:rPr>
                        <a:t>the</a:t>
                      </a:r>
                      <a:r>
                        <a:rPr>
                          <a:solidFill>
                            <a:srgbClr val="000000"/>
                          </a:solidFill>
                          <a:latin typeface="Times New Roman"/>
                          <a:ea typeface="Times New Roman"/>
                          <a:cs typeface="Times New Roman"/>
                          <a:sym typeface="Times New Roman"/>
                        </a:rPr>
                        <a:t> </a:t>
                      </a:r>
                      <a:r>
                        <a:rPr>
                          <a:solidFill>
                            <a:srgbClr val="000000"/>
                          </a:solidFill>
                        </a:rPr>
                        <a:t>model</a:t>
                      </a:r>
                      <a:r>
                        <a:rPr>
                          <a:solidFill>
                            <a:srgbClr val="000000"/>
                          </a:solidFill>
                          <a:latin typeface="Times New Roman"/>
                          <a:ea typeface="Times New Roman"/>
                          <a:cs typeface="Times New Roman"/>
                          <a:sym typeface="Times New Roman"/>
                        </a:rPr>
                        <a:t> </a:t>
                      </a:r>
                      <a:r>
                        <a:rPr>
                          <a:solidFill>
                            <a:srgbClr val="000000"/>
                          </a:solidFill>
                        </a:rPr>
                        <a:t>with</a:t>
                      </a:r>
                      <a:r>
                        <a:rPr>
                          <a:solidFill>
                            <a:srgbClr val="000000"/>
                          </a:solidFill>
                          <a:latin typeface="Times New Roman"/>
                          <a:ea typeface="Times New Roman"/>
                          <a:cs typeface="Times New Roman"/>
                          <a:sym typeface="Times New Roman"/>
                        </a:rPr>
                        <a:t> </a:t>
                      </a:r>
                      <a:r>
                        <a:rPr>
                          <a:solidFill>
                            <a:srgbClr val="000000"/>
                          </a:solidFill>
                        </a:rPr>
                        <a:t>other</a:t>
                      </a:r>
                      <a:r>
                        <a:rPr>
                          <a:solidFill>
                            <a:srgbClr val="000000"/>
                          </a:solidFill>
                          <a:latin typeface="Times New Roman"/>
                          <a:ea typeface="Times New Roman"/>
                          <a:cs typeface="Times New Roman"/>
                          <a:sym typeface="Times New Roman"/>
                        </a:rPr>
                        <a:t> </a:t>
                      </a:r>
                      <a:r>
                        <a:rPr>
                          <a:solidFill>
                            <a:srgbClr val="000000"/>
                          </a:solidFill>
                        </a:rPr>
                        <a:t>student</a:t>
                      </a:r>
                      <a:r>
                        <a:rPr>
                          <a:solidFill>
                            <a:srgbClr val="000000"/>
                          </a:solidFill>
                          <a:latin typeface="Times New Roman"/>
                          <a:ea typeface="Times New Roman"/>
                          <a:cs typeface="Times New Roman"/>
                          <a:sym typeface="Times New Roman"/>
                        </a:rPr>
                        <a:t> </a:t>
                      </a:r>
                      <a:r>
                        <a:rPr>
                          <a:solidFill>
                            <a:srgbClr val="000000"/>
                          </a:solidFill>
                        </a:rPr>
                        <a:t>support</a:t>
                      </a:r>
                      <a:r>
                        <a:rPr>
                          <a:solidFill>
                            <a:srgbClr val="000000"/>
                          </a:solidFill>
                          <a:latin typeface="Times New Roman"/>
                          <a:ea typeface="Times New Roman"/>
                          <a:cs typeface="Times New Roman"/>
                          <a:sym typeface="Times New Roman"/>
                        </a:rPr>
                        <a:t> </a:t>
                      </a:r>
                      <a:r>
                        <a:rPr>
                          <a:solidFill>
                            <a:srgbClr val="000000"/>
                          </a:solidFill>
                        </a:rPr>
                        <a:t>models,</a:t>
                      </a:r>
                      <a:r>
                        <a:rPr>
                          <a:solidFill>
                            <a:srgbClr val="000000"/>
                          </a:solidFill>
                          <a:latin typeface="Times New Roman"/>
                          <a:ea typeface="Times New Roman"/>
                          <a:cs typeface="Times New Roman"/>
                          <a:sym typeface="Times New Roman"/>
                        </a:rPr>
                        <a:t> </a:t>
                      </a:r>
                      <a:r>
                        <a:rPr>
                          <a:solidFill>
                            <a:srgbClr val="000000"/>
                          </a:solidFill>
                        </a:rPr>
                        <a:t>long-term</a:t>
                      </a:r>
                      <a:r>
                        <a:rPr>
                          <a:solidFill>
                            <a:srgbClr val="000000"/>
                          </a:solidFill>
                          <a:latin typeface="Times New Roman"/>
                          <a:ea typeface="Times New Roman"/>
                          <a:cs typeface="Times New Roman"/>
                          <a:sym typeface="Times New Roman"/>
                        </a:rPr>
                        <a:t> </a:t>
                      </a:r>
                      <a:r>
                        <a:rPr>
                          <a:solidFill>
                            <a:srgbClr val="000000"/>
                          </a:solidFill>
                        </a:rPr>
                        <a:t>impact</a:t>
                      </a:r>
                      <a:r>
                        <a:rPr>
                          <a:solidFill>
                            <a:srgbClr val="000000"/>
                          </a:solidFill>
                          <a:latin typeface="Times New Roman"/>
                          <a:ea typeface="Times New Roman"/>
                          <a:cs typeface="Times New Roman"/>
                          <a:sym typeface="Times New Roman"/>
                        </a:rPr>
                        <a:t> </a:t>
                      </a:r>
                      <a:r>
                        <a:rPr>
                          <a:solidFill>
                            <a:srgbClr val="000000"/>
                          </a:solidFill>
                        </a:rPr>
                        <a:t>evaluations</a:t>
                      </a:r>
                      <a:r>
                        <a:t>,</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rPr>
                          <a:solidFill>
                            <a:srgbClr val="000000"/>
                          </a:solidFill>
                        </a:rPr>
                        <a:t>understanding</a:t>
                      </a:r>
                      <a:r>
                        <a:rPr>
                          <a:solidFill>
                            <a:srgbClr val="000000"/>
                          </a:solidFill>
                          <a:latin typeface="Times New Roman"/>
                          <a:ea typeface="Times New Roman"/>
                          <a:cs typeface="Times New Roman"/>
                          <a:sym typeface="Times New Roman"/>
                        </a:rPr>
                        <a:t> </a:t>
                      </a:r>
                      <a:r>
                        <a:rPr>
                          <a:solidFill>
                            <a:srgbClr val="000000"/>
                          </a:solidFill>
                        </a:rPr>
                        <a:t>of</a:t>
                      </a:r>
                      <a:r>
                        <a:rPr>
                          <a:solidFill>
                            <a:srgbClr val="000000"/>
                          </a:solidFill>
                          <a:latin typeface="Times New Roman"/>
                          <a:ea typeface="Times New Roman"/>
                          <a:cs typeface="Times New Roman"/>
                          <a:sym typeface="Times New Roman"/>
                        </a:rPr>
                        <a:t> </a:t>
                      </a:r>
                      <a:r>
                        <a:t>technology-</a:t>
                      </a:r>
                      <a:r>
                        <a:rPr>
                          <a:solidFill>
                            <a:srgbClr val="000000"/>
                          </a:solidFill>
                        </a:rPr>
                        <a:t>based</a:t>
                      </a:r>
                      <a:r>
                        <a:rPr>
                          <a:solidFill>
                            <a:srgbClr val="000000"/>
                          </a:solidFill>
                          <a:latin typeface="Times New Roman"/>
                          <a:ea typeface="Times New Roman"/>
                          <a:cs typeface="Times New Roman"/>
                          <a:sym typeface="Times New Roman"/>
                        </a:rPr>
                        <a:t> </a:t>
                      </a:r>
                      <a:r>
                        <a:rPr>
                          <a:solidFill>
                            <a:srgbClr val="000000"/>
                          </a:solidFill>
                        </a:rPr>
                        <a:t>interventions</a:t>
                      </a:r>
                      <a:r>
                        <a:rPr>
                          <a:solidFill>
                            <a:srgbClr val="000000"/>
                          </a:solidFill>
                          <a:latin typeface="Times New Roman"/>
                          <a:ea typeface="Times New Roman"/>
                          <a:cs typeface="Times New Roman"/>
                          <a:sym typeface="Times New Roman"/>
                        </a:rPr>
                        <a:t> </a:t>
                      </a:r>
                      <a:r>
                        <a:rPr>
                          <a:solidFill>
                            <a:srgbClr val="000000"/>
                          </a:solidFill>
                        </a:rPr>
                        <a:t>or</a:t>
                      </a:r>
                      <a:r>
                        <a:rPr>
                          <a:solidFill>
                            <a:srgbClr val="000000"/>
                          </a:solidFill>
                          <a:latin typeface="Times New Roman"/>
                          <a:ea typeface="Times New Roman"/>
                          <a:cs typeface="Times New Roman"/>
                          <a:sym typeface="Times New Roman"/>
                        </a:rPr>
                        <a:t> </a:t>
                      </a:r>
                      <a:r>
                        <a:rPr>
                          <a:solidFill>
                            <a:srgbClr val="000000"/>
                          </a:solidFill>
                        </a:rPr>
                        <a:t>policy</a:t>
                      </a:r>
                      <a:r>
                        <a:rPr>
                          <a:solidFill>
                            <a:srgbClr val="000000"/>
                          </a:solidFill>
                          <a:latin typeface="Times New Roman"/>
                          <a:ea typeface="Times New Roman"/>
                          <a:cs typeface="Times New Roman"/>
                          <a:sym typeface="Times New Roman"/>
                        </a:rPr>
                        <a:t> </a:t>
                      </a:r>
                      <a:r>
                        <a:rPr>
                          <a:solidFill>
                            <a:srgbClr val="000000"/>
                          </a:solidFill>
                        </a:rPr>
                        <a:t>reforms.</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4</a:t>
            </a:fld>
            <a:endParaRPr/>
          </a:p>
        </p:txBody>
      </p:sp>
      <p:sp>
        <p:nvSpPr>
          <p:cNvPr id="154"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57" name="Rectangle"/>
          <p:cNvGrpSpPr/>
          <p:nvPr/>
        </p:nvGrpSpPr>
        <p:grpSpPr>
          <a:xfrm>
            <a:off x="1295400" y="290297"/>
            <a:ext cx="6858000" cy="486206"/>
            <a:chOff x="0" y="0"/>
            <a:chExt cx="6858000" cy="486204"/>
          </a:xfrm>
        </p:grpSpPr>
        <p:sp>
          <p:nvSpPr>
            <p:cNvPr id="155"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56"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58" name="Table 1"/>
          <p:cNvGraphicFramePr/>
          <p:nvPr/>
        </p:nvGraphicFramePr>
        <p:xfrm>
          <a:off x="749212" y="1377436"/>
          <a:ext cx="7493173" cy="4712727"/>
        </p:xfrm>
        <a:graphic>
          <a:graphicData uri="http://schemas.openxmlformats.org/drawingml/2006/table">
            <a:tbl>
              <a:tblPr>
                <a:tableStyleId>{4C3C2611-4C71-4FC5-86AE-919BDF0F9419}</a:tableStyleId>
              </a:tblPr>
              <a:tblGrid>
                <a:gridCol w="606593">
                  <a:extLst>
                    <a:ext uri="{9D8B030D-6E8A-4147-A177-3AD203B41FA5}">
                      <a16:colId xmlns:a16="http://schemas.microsoft.com/office/drawing/2014/main" val="20000"/>
                    </a:ext>
                  </a:extLst>
                </a:gridCol>
                <a:gridCol w="2094118">
                  <a:extLst>
                    <a:ext uri="{9D8B030D-6E8A-4147-A177-3AD203B41FA5}">
                      <a16:colId xmlns:a16="http://schemas.microsoft.com/office/drawing/2014/main" val="20001"/>
                    </a:ext>
                  </a:extLst>
                </a:gridCol>
                <a:gridCol w="1490574">
                  <a:extLst>
                    <a:ext uri="{9D8B030D-6E8A-4147-A177-3AD203B41FA5}">
                      <a16:colId xmlns:a16="http://schemas.microsoft.com/office/drawing/2014/main" val="20002"/>
                    </a:ext>
                  </a:extLst>
                </a:gridCol>
                <a:gridCol w="1651390">
                  <a:extLst>
                    <a:ext uri="{9D8B030D-6E8A-4147-A177-3AD203B41FA5}">
                      <a16:colId xmlns:a16="http://schemas.microsoft.com/office/drawing/2014/main" val="20003"/>
                    </a:ext>
                  </a:extLst>
                </a:gridCol>
                <a:gridCol w="1650498">
                  <a:extLst>
                    <a:ext uri="{9D8B030D-6E8A-4147-A177-3AD203B41FA5}">
                      <a16:colId xmlns:a16="http://schemas.microsoft.com/office/drawing/2014/main" val="20004"/>
                    </a:ext>
                  </a:extLst>
                </a:gridCol>
              </a:tblGrid>
              <a:tr h="326673">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4386054">
                <a:tc>
                  <a:txBody>
                    <a:bodyPr/>
                    <a:lstStyle/>
                    <a:p>
                      <a:pPr>
                        <a:defRPr sz="1800"/>
                      </a:pPr>
                      <a:r>
                        <a:rPr sz="1400"/>
                        <a:t>2</a:t>
                      </a:r>
                    </a:p>
                  </a:txBody>
                  <a:tcPr marL="45720" marR="45720" horzOverflow="overflow"/>
                </a:tc>
                <a:tc>
                  <a:txBody>
                    <a:bodyPr/>
                    <a:lstStyle/>
                    <a:p>
                      <a:pPr indent="12700" algn="l">
                        <a:lnSpc>
                          <a:spcPts val="2200"/>
                        </a:lnSpc>
                        <a:spcBef>
                          <a:spcPts val="200"/>
                        </a:spcBef>
                        <a:defRPr sz="1200">
                          <a:latin typeface="Calibri"/>
                          <a:ea typeface="Calibri"/>
                          <a:cs typeface="Calibri"/>
                          <a:sym typeface="Calibri"/>
                        </a:defRPr>
                      </a:pPr>
                      <a:r>
                        <a:t>Development</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integration</a:t>
                      </a:r>
                      <a:r>
                        <a:rPr>
                          <a:latin typeface="Times New Roman"/>
                          <a:ea typeface="Times New Roman"/>
                          <a:cs typeface="Times New Roman"/>
                          <a:sym typeface="Times New Roman"/>
                        </a:rPr>
                        <a:t> </a:t>
                      </a:r>
                      <a:r>
                        <a:t>of</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clinical</a:t>
                      </a:r>
                      <a:r>
                        <a:rPr>
                          <a:latin typeface="Times New Roman"/>
                          <a:ea typeface="Times New Roman"/>
                          <a:cs typeface="Times New Roman"/>
                          <a:sym typeface="Times New Roman"/>
                        </a:rPr>
                        <a:t> </a:t>
                      </a:r>
                      <a:r>
                        <a:t>dashboard</a:t>
                      </a:r>
                      <a:r>
                        <a:rPr>
                          <a:latin typeface="Times New Roman"/>
                          <a:ea typeface="Times New Roman"/>
                          <a:cs typeface="Times New Roman"/>
                          <a:sym typeface="Times New Roman"/>
                        </a:rPr>
                        <a:t> </a:t>
                      </a:r>
                      <a:r>
                        <a:t>within</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dental</a:t>
                      </a:r>
                      <a:r>
                        <a:rPr>
                          <a:latin typeface="Times New Roman"/>
                          <a:ea typeface="Times New Roman"/>
                          <a:cs typeface="Times New Roman"/>
                          <a:sym typeface="Times New Roman"/>
                        </a:rPr>
                        <a:t> </a:t>
                      </a:r>
                      <a:r>
                        <a:t>school</a:t>
                      </a:r>
                      <a:r>
                        <a:rPr>
                          <a:latin typeface="Times New Roman"/>
                          <a:ea typeface="Times New Roman"/>
                          <a:cs typeface="Times New Roman"/>
                          <a:sym typeface="Times New Roman"/>
                        </a:rPr>
                        <a:t> </a:t>
                      </a:r>
                      <a:r>
                        <a:t>setting</a:t>
                      </a:r>
                      <a:r>
                        <a:rPr>
                          <a:latin typeface="Times New Roman"/>
                          <a:ea typeface="Times New Roman"/>
                          <a:cs typeface="Times New Roman"/>
                          <a:sym typeface="Times New Roman"/>
                        </a:rPr>
                        <a:t> </a:t>
                      </a:r>
                    </a:p>
                  </a:txBody>
                  <a:tcPr marL="45720" marR="45720" horzOverflow="overflow"/>
                </a:tc>
                <a:tc>
                  <a:txBody>
                    <a:bodyPr/>
                    <a:lstStyle/>
                    <a:p>
                      <a:pPr indent="12700" algn="l">
                        <a:lnSpc>
                          <a:spcPts val="2200"/>
                        </a:lnSpc>
                        <a:spcBef>
                          <a:spcPts val="200"/>
                        </a:spcBef>
                        <a:defRPr sz="1200">
                          <a:latin typeface="Calibri"/>
                          <a:ea typeface="Calibri"/>
                          <a:cs typeface="Calibri"/>
                          <a:sym typeface="Calibri"/>
                        </a:defRPr>
                      </a:pPr>
                      <a:r>
                        <a:t>Afshari</a:t>
                      </a:r>
                      <a:r>
                        <a:rPr>
                          <a:latin typeface="Times New Roman"/>
                          <a:ea typeface="Times New Roman"/>
                          <a:cs typeface="Times New Roman"/>
                          <a:sym typeface="Times New Roman"/>
                        </a:rPr>
                        <a:t> </a:t>
                      </a:r>
                      <a:r>
                        <a:t>et</a:t>
                      </a:r>
                      <a:r>
                        <a:rPr>
                          <a:latin typeface="Times New Roman"/>
                          <a:ea typeface="Times New Roman"/>
                          <a:cs typeface="Times New Roman"/>
                          <a:sym typeface="Times New Roman"/>
                        </a:rPr>
                        <a:t> </a:t>
                      </a:r>
                      <a:r>
                        <a:t>al</a:t>
                      </a:r>
                    </a:p>
                  </a:txBody>
                  <a:tcPr marL="45720" marR="45720" horzOverflow="overflow"/>
                </a:tc>
                <a:tc>
                  <a:txBody>
                    <a:bodyPr/>
                    <a:lstStyle/>
                    <a:p>
                      <a:pPr indent="12700" algn="l">
                        <a:lnSpc>
                          <a:spcPct val="110000"/>
                        </a:lnSpc>
                        <a:spcBef>
                          <a:spcPts val="500"/>
                        </a:spcBef>
                        <a:defRPr sz="1200">
                          <a:solidFill>
                            <a:srgbClr val="181818"/>
                          </a:solidFill>
                          <a:latin typeface="Calibri"/>
                          <a:ea typeface="Calibri"/>
                          <a:cs typeface="Calibri"/>
                          <a:sym typeface="Calibri"/>
                        </a:defRPr>
                      </a:pPr>
                      <a:r>
                        <a:t>: The</a:t>
                      </a:r>
                      <a:r>
                        <a:rPr>
                          <a:latin typeface="Times New Roman"/>
                          <a:ea typeface="Times New Roman"/>
                          <a:cs typeface="Times New Roman"/>
                          <a:sym typeface="Times New Roman"/>
                        </a:rPr>
                        <a:t> </a:t>
                      </a:r>
                      <a:r>
                        <a:rPr>
                          <a:solidFill>
                            <a:srgbClr val="000000"/>
                          </a:solidFill>
                        </a:rPr>
                        <a:t>research</a:t>
                      </a:r>
                      <a:r>
                        <a:rPr>
                          <a:solidFill>
                            <a:srgbClr val="000000"/>
                          </a:solidFill>
                          <a:latin typeface="Times New Roman"/>
                          <a:ea typeface="Times New Roman"/>
                          <a:cs typeface="Times New Roman"/>
                          <a:sym typeface="Times New Roman"/>
                        </a:rPr>
                        <a:t> </a:t>
                      </a:r>
                      <a:r>
                        <a:rPr>
                          <a:solidFill>
                            <a:srgbClr val="000000"/>
                          </a:solidFill>
                        </a:rPr>
                        <a:t>created</a:t>
                      </a:r>
                      <a:r>
                        <a:rPr>
                          <a:solidFill>
                            <a:srgbClr val="000000"/>
                          </a:solidFill>
                          <a:latin typeface="Times New Roman"/>
                          <a:ea typeface="Times New Roman"/>
                          <a:cs typeface="Times New Roman"/>
                          <a:sym typeface="Times New Roman"/>
                        </a:rPr>
                        <a:t> </a:t>
                      </a:r>
                      <a:r>
                        <a:rPr>
                          <a:solidFill>
                            <a:srgbClr val="000000"/>
                          </a:solidFill>
                        </a:rPr>
                        <a:t>a</a:t>
                      </a:r>
                      <a:r>
                        <a:rPr>
                          <a:solidFill>
                            <a:srgbClr val="000000"/>
                          </a:solidFill>
                          <a:latin typeface="Times New Roman"/>
                          <a:ea typeface="Times New Roman"/>
                          <a:cs typeface="Times New Roman"/>
                          <a:sym typeface="Times New Roman"/>
                        </a:rPr>
                        <a:t> </a:t>
                      </a:r>
                      <a:r>
                        <a:rPr>
                          <a:solidFill>
                            <a:srgbClr val="000000"/>
                          </a:solidFill>
                        </a:rPr>
                        <a:t>computer</a:t>
                      </a:r>
                      <a:r>
                        <a:t>-</a:t>
                      </a:r>
                      <a:r>
                        <a:rPr>
                          <a:solidFill>
                            <a:srgbClr val="000000"/>
                          </a:solidFill>
                        </a:rPr>
                        <a:t>based</a:t>
                      </a:r>
                      <a:r>
                        <a:rPr>
                          <a:solidFill>
                            <a:srgbClr val="000000"/>
                          </a:solidFill>
                          <a:latin typeface="Times New Roman"/>
                          <a:ea typeface="Times New Roman"/>
                          <a:cs typeface="Times New Roman"/>
                          <a:sym typeface="Times New Roman"/>
                        </a:rPr>
                        <a:t> </a:t>
                      </a:r>
                      <a:r>
                        <a:rPr>
                          <a:solidFill>
                            <a:srgbClr val="000000"/>
                          </a:solidFill>
                        </a:rPr>
                        <a:t>student</a:t>
                      </a:r>
                      <a:r>
                        <a:rPr>
                          <a:solidFill>
                            <a:srgbClr val="000000"/>
                          </a:solidFill>
                          <a:latin typeface="Times New Roman"/>
                          <a:ea typeface="Times New Roman"/>
                          <a:cs typeface="Times New Roman"/>
                          <a:sym typeface="Times New Roman"/>
                        </a:rPr>
                        <a:t> </a:t>
                      </a:r>
                      <a:r>
                        <a:rPr>
                          <a:solidFill>
                            <a:srgbClr val="000000"/>
                          </a:solidFill>
                        </a:rPr>
                        <a:t>dashboard</a:t>
                      </a:r>
                      <a:r>
                        <a:rPr>
                          <a:solidFill>
                            <a:srgbClr val="000000"/>
                          </a:solidFill>
                          <a:latin typeface="Times New Roman"/>
                          <a:ea typeface="Times New Roman"/>
                          <a:cs typeface="Times New Roman"/>
                          <a:sym typeface="Times New Roman"/>
                        </a:rPr>
                        <a:t> </a:t>
                      </a:r>
                      <a:r>
                        <a:rPr>
                          <a:solidFill>
                            <a:srgbClr val="000000"/>
                          </a:solidFill>
                        </a:rPr>
                        <a:t>for</a:t>
                      </a:r>
                      <a:r>
                        <a:rPr>
                          <a:solidFill>
                            <a:srgbClr val="000000"/>
                          </a:solidFill>
                          <a:latin typeface="Times New Roman"/>
                          <a:ea typeface="Times New Roman"/>
                          <a:cs typeface="Times New Roman"/>
                          <a:sym typeface="Times New Roman"/>
                        </a:rPr>
                        <a:t> </a:t>
                      </a:r>
                      <a:r>
                        <a:rPr>
                          <a:solidFill>
                            <a:srgbClr val="000000"/>
                          </a:solidFill>
                        </a:rPr>
                        <a:t>patient</a:t>
                      </a:r>
                      <a:r>
                        <a:rPr>
                          <a:solidFill>
                            <a:srgbClr val="000000"/>
                          </a:solidFill>
                          <a:latin typeface="Times New Roman"/>
                          <a:ea typeface="Times New Roman"/>
                          <a:cs typeface="Times New Roman"/>
                          <a:sym typeface="Times New Roman"/>
                        </a:rPr>
                        <a:t> </a:t>
                      </a:r>
                      <a:r>
                        <a:rPr>
                          <a:solidFill>
                            <a:srgbClr val="000000"/>
                          </a:solidFill>
                        </a:rPr>
                        <a:t>management</a:t>
                      </a:r>
                      <a:r>
                        <a:rPr>
                          <a:solidFill>
                            <a:srgbClr val="000000"/>
                          </a:solidFill>
                          <a:latin typeface="Times New Roman"/>
                          <a:ea typeface="Times New Roman"/>
                          <a:cs typeface="Times New Roman"/>
                          <a:sym typeface="Times New Roman"/>
                        </a:rPr>
                        <a:t> </a:t>
                      </a:r>
                      <a:r>
                        <a:rPr>
                          <a:solidFill>
                            <a:srgbClr val="000000"/>
                          </a:solidFill>
                        </a:rPr>
                        <a:t>within</a:t>
                      </a:r>
                      <a:r>
                        <a:rPr>
                          <a:solidFill>
                            <a:srgbClr val="000000"/>
                          </a:solidFill>
                          <a:latin typeface="Times New Roman"/>
                          <a:ea typeface="Times New Roman"/>
                          <a:cs typeface="Times New Roman"/>
                          <a:sym typeface="Times New Roman"/>
                        </a:rPr>
                        <a:t> </a:t>
                      </a:r>
                      <a:r>
                        <a:t>dental</a:t>
                      </a:r>
                      <a:r>
                        <a:rPr>
                          <a:latin typeface="Times New Roman"/>
                          <a:ea typeface="Times New Roman"/>
                          <a:cs typeface="Times New Roman"/>
                          <a:sym typeface="Times New Roman"/>
                        </a:rPr>
                        <a:t> </a:t>
                      </a:r>
                      <a:r>
                        <a:t>education</a:t>
                      </a:r>
                      <a:r>
                        <a:rPr>
                          <a:latin typeface="Times New Roman"/>
                          <a:ea typeface="Times New Roman"/>
                          <a:cs typeface="Times New Roman"/>
                          <a:sym typeface="Times New Roman"/>
                        </a:rPr>
                        <a:t> </a:t>
                      </a:r>
                      <a:r>
                        <a:rPr>
                          <a:solidFill>
                            <a:srgbClr val="000000"/>
                          </a:solidFill>
                        </a:rPr>
                        <a:t>based</a:t>
                      </a:r>
                      <a:r>
                        <a:rPr>
                          <a:solidFill>
                            <a:srgbClr val="000000"/>
                          </a:solidFill>
                          <a:latin typeface="Times New Roman"/>
                          <a:ea typeface="Times New Roman"/>
                          <a:cs typeface="Times New Roman"/>
                          <a:sym typeface="Times New Roman"/>
                        </a:rPr>
                        <a:t> </a:t>
                      </a:r>
                      <a:r>
                        <a:rPr>
                          <a:solidFill>
                            <a:srgbClr val="000000"/>
                          </a:solidFill>
                        </a:rPr>
                        <a:t>on</a:t>
                      </a:r>
                      <a:r>
                        <a:rPr>
                          <a:solidFill>
                            <a:srgbClr val="000000"/>
                          </a:solidFill>
                          <a:latin typeface="Times New Roman"/>
                          <a:ea typeface="Times New Roman"/>
                          <a:cs typeface="Times New Roman"/>
                          <a:sym typeface="Times New Roman"/>
                        </a:rPr>
                        <a:t> </a:t>
                      </a:r>
                      <a:r>
                        <a:rPr>
                          <a:solidFill>
                            <a:srgbClr val="000000"/>
                          </a:solidFill>
                        </a:rPr>
                        <a:t>electronic</a:t>
                      </a:r>
                      <a:r>
                        <a:rPr>
                          <a:solidFill>
                            <a:srgbClr val="000000"/>
                          </a:solidFill>
                          <a:latin typeface="Times New Roman"/>
                          <a:ea typeface="Times New Roman"/>
                          <a:cs typeface="Times New Roman"/>
                          <a:sym typeface="Times New Roman"/>
                        </a:rPr>
                        <a:t> </a:t>
                      </a:r>
                      <a:r>
                        <a:rPr>
                          <a:solidFill>
                            <a:srgbClr val="000000"/>
                          </a:solidFill>
                        </a:rPr>
                        <a:t>health</a:t>
                      </a:r>
                      <a:r>
                        <a:rPr>
                          <a:solidFill>
                            <a:srgbClr val="000000"/>
                          </a:solidFill>
                          <a:latin typeface="Times New Roman"/>
                          <a:ea typeface="Times New Roman"/>
                          <a:cs typeface="Times New Roman"/>
                          <a:sym typeface="Times New Roman"/>
                        </a:rPr>
                        <a:t> </a:t>
                      </a:r>
                      <a:r>
                        <a:rPr>
                          <a:solidFill>
                            <a:srgbClr val="000000"/>
                          </a:solidFill>
                        </a:rPr>
                        <a:t>records</a:t>
                      </a:r>
                      <a:r>
                        <a:t>.</a:t>
                      </a:r>
                      <a:r>
                        <a:rPr>
                          <a:latin typeface="Times New Roman"/>
                          <a:ea typeface="Times New Roman"/>
                          <a:cs typeface="Times New Roman"/>
                          <a:sym typeface="Times New Roman"/>
                        </a:rPr>
                        <a:t> </a:t>
                      </a:r>
                      <a:r>
                        <a:t>Post-</a:t>
                      </a:r>
                    </a:p>
                    <a:p>
                      <a:pPr indent="12700" algn="l">
                        <a:lnSpc>
                          <a:spcPct val="110000"/>
                        </a:lnSpc>
                        <a:defRPr sz="1200">
                          <a:solidFill>
                            <a:srgbClr val="181818"/>
                          </a:solidFill>
                          <a:latin typeface="Calibri"/>
                          <a:ea typeface="Calibri"/>
                          <a:cs typeface="Calibri"/>
                          <a:sym typeface="Calibri"/>
                        </a:defRPr>
                      </a:pPr>
                      <a:r>
                        <a:t>implementation</a:t>
                      </a:r>
                      <a:r>
                        <a:rPr>
                          <a:latin typeface="Times New Roman"/>
                          <a:ea typeface="Times New Roman"/>
                          <a:cs typeface="Times New Roman"/>
                          <a:sym typeface="Times New Roman"/>
                        </a:rPr>
                        <a:t> </a:t>
                      </a:r>
                      <a:r>
                        <a:rPr>
                          <a:solidFill>
                            <a:srgbClr val="000000"/>
                          </a:solidFill>
                        </a:rPr>
                        <a:t>outcomes</a:t>
                      </a:r>
                      <a:r>
                        <a:rPr>
                          <a:solidFill>
                            <a:srgbClr val="000000"/>
                          </a:solidFill>
                          <a:latin typeface="Times New Roman"/>
                          <a:ea typeface="Times New Roman"/>
                          <a:cs typeface="Times New Roman"/>
                          <a:sym typeface="Times New Roman"/>
                        </a:rPr>
                        <a:t> </a:t>
                      </a:r>
                      <a:r>
                        <a:rPr>
                          <a:solidFill>
                            <a:srgbClr val="000000"/>
                          </a:solidFill>
                        </a:rPr>
                        <a:t>included</a:t>
                      </a:r>
                      <a:r>
                        <a:rPr>
                          <a:solidFill>
                            <a:srgbClr val="000000"/>
                          </a:solidFill>
                          <a:latin typeface="Times New Roman"/>
                          <a:ea typeface="Times New Roman"/>
                          <a:cs typeface="Times New Roman"/>
                          <a:sym typeface="Times New Roman"/>
                        </a:rPr>
                        <a:t> </a:t>
                      </a:r>
                      <a:r>
                        <a:rPr>
                          <a:solidFill>
                            <a:srgbClr val="000000"/>
                          </a:solidFill>
                        </a:rPr>
                        <a:t>decreased</a:t>
                      </a:r>
                      <a:r>
                        <a:rPr>
                          <a:solidFill>
                            <a:srgbClr val="000000"/>
                          </a:solidFill>
                          <a:latin typeface="Times New Roman"/>
                          <a:ea typeface="Times New Roman"/>
                          <a:cs typeface="Times New Roman"/>
                          <a:sym typeface="Times New Roman"/>
                        </a:rPr>
                        <a:t> </a:t>
                      </a:r>
                      <a:r>
                        <a:t>overdue</a:t>
                      </a:r>
                      <a:r>
                        <a:rPr>
                          <a:latin typeface="Times New Roman"/>
                          <a:ea typeface="Times New Roman"/>
                          <a:cs typeface="Times New Roman"/>
                          <a:sym typeface="Times New Roman"/>
                        </a:rPr>
                        <a:t> </a:t>
                      </a:r>
                      <a:r>
                        <a:t>patients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rPr>
                          <a:solidFill>
                            <a:srgbClr val="000000"/>
                          </a:solidFill>
                        </a:rPr>
                        <a:t>better</a:t>
                      </a:r>
                      <a:r>
                        <a:rPr>
                          <a:solidFill>
                            <a:srgbClr val="000000"/>
                          </a:solidFill>
                          <a:latin typeface="Times New Roman"/>
                          <a:ea typeface="Times New Roman"/>
                          <a:cs typeface="Times New Roman"/>
                          <a:sym typeface="Times New Roman"/>
                        </a:rPr>
                        <a:t> </a:t>
                      </a:r>
                      <a:r>
                        <a:t>compliance.</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t>dashboard</a:t>
                      </a:r>
                      <a:r>
                        <a:rPr>
                          <a:latin typeface="Times New Roman"/>
                          <a:ea typeface="Times New Roman"/>
                          <a:cs typeface="Times New Roman"/>
                          <a:sym typeface="Times New Roman"/>
                        </a:rPr>
                        <a:t> </a:t>
                      </a:r>
                      <a:r>
                        <a:rPr>
                          <a:solidFill>
                            <a:srgbClr val="000000"/>
                          </a:solidFill>
                        </a:rPr>
                        <a:t>increases</a:t>
                      </a:r>
                      <a:r>
                        <a:rPr>
                          <a:solidFill>
                            <a:srgbClr val="000000"/>
                          </a:solidFill>
                          <a:latin typeface="Times New Roman"/>
                          <a:ea typeface="Times New Roman"/>
                          <a:cs typeface="Times New Roman"/>
                          <a:sym typeface="Times New Roman"/>
                        </a:rPr>
                        <a:t> </a:t>
                      </a:r>
                      <a:r>
                        <a:t>student</a:t>
                      </a:r>
                      <a:r>
                        <a:rPr>
                          <a:latin typeface="Times New Roman"/>
                          <a:ea typeface="Times New Roman"/>
                          <a:cs typeface="Times New Roman"/>
                          <a:sym typeface="Times New Roman"/>
                        </a:rPr>
                        <a:t> </a:t>
                      </a:r>
                      <a:r>
                        <a:rPr>
                          <a:solidFill>
                            <a:srgbClr val="000000"/>
                          </a:solidFill>
                        </a:rPr>
                        <a:t>involvement</a:t>
                      </a:r>
                      <a:r>
                        <a:rPr>
                          <a:solidFill>
                            <a:srgbClr val="000000"/>
                          </a:solidFill>
                          <a:latin typeface="Times New Roman"/>
                          <a:ea typeface="Times New Roman"/>
                          <a:cs typeface="Times New Roman"/>
                          <a:sym typeface="Times New Roman"/>
                        </a:rPr>
                        <a:t> </a:t>
                      </a:r>
                      <a:r>
                        <a:rPr>
                          <a:solidFill>
                            <a:srgbClr val="000000"/>
                          </a:solidFill>
                        </a:rPr>
                        <a:t>and</a:t>
                      </a:r>
                      <a:r>
                        <a:rPr>
                          <a:solidFill>
                            <a:srgbClr val="000000"/>
                          </a:solidFill>
                          <a:latin typeface="Times New Roman"/>
                          <a:ea typeface="Times New Roman"/>
                          <a:cs typeface="Times New Roman"/>
                          <a:sym typeface="Times New Roman"/>
                        </a:rPr>
                        <a:t> </a:t>
                      </a:r>
                      <a:r>
                        <a:rPr>
                          <a:solidFill>
                            <a:srgbClr val="000000"/>
                          </a:solidFill>
                        </a:rPr>
                        <a:t>patient</a:t>
                      </a:r>
                      <a:r>
                        <a:rPr>
                          <a:solidFill>
                            <a:srgbClr val="000000"/>
                          </a:solidFill>
                          <a:latin typeface="Times New Roman"/>
                          <a:ea typeface="Times New Roman"/>
                          <a:cs typeface="Times New Roman"/>
                          <a:sym typeface="Times New Roman"/>
                        </a:rPr>
                        <a:t> </a:t>
                      </a:r>
                      <a:r>
                        <a:rPr>
                          <a:solidFill>
                            <a:srgbClr val="000000"/>
                          </a:solidFill>
                        </a:rPr>
                        <a:t>care,</a:t>
                      </a:r>
                      <a:r>
                        <a:rPr>
                          <a:solidFill>
                            <a:srgbClr val="000000"/>
                          </a:solidFill>
                          <a:latin typeface="Times New Roman"/>
                          <a:ea typeface="Times New Roman"/>
                          <a:cs typeface="Times New Roman"/>
                          <a:sym typeface="Times New Roman"/>
                        </a:rPr>
                        <a:t> </a:t>
                      </a:r>
                      <a:r>
                        <a:rPr>
                          <a:solidFill>
                            <a:srgbClr val="000000"/>
                          </a:solidFill>
                        </a:rPr>
                        <a:t>with</a:t>
                      </a:r>
                      <a:r>
                        <a:rPr>
                          <a:solidFill>
                            <a:srgbClr val="000000"/>
                          </a:solidFill>
                          <a:latin typeface="Times New Roman"/>
                          <a:ea typeface="Times New Roman"/>
                          <a:cs typeface="Times New Roman"/>
                          <a:sym typeface="Times New Roman"/>
                        </a:rPr>
                        <a:t> </a:t>
                      </a:r>
                      <a:r>
                        <a:rPr>
                          <a:solidFill>
                            <a:srgbClr val="000000"/>
                          </a:solidFill>
                        </a:rPr>
                        <a:t>applications</a:t>
                      </a:r>
                      <a:r>
                        <a:rPr>
                          <a:solidFill>
                            <a:srgbClr val="000000"/>
                          </a:solidFill>
                          <a:latin typeface="Times New Roman"/>
                          <a:ea typeface="Times New Roman"/>
                          <a:cs typeface="Times New Roman"/>
                          <a:sym typeface="Times New Roman"/>
                        </a:rPr>
                        <a:t> </a:t>
                      </a:r>
                      <a:r>
                        <a:rPr>
                          <a:solidFill>
                            <a:srgbClr val="000000"/>
                          </a:solidFill>
                        </a:rPr>
                        <a:t>extending</a:t>
                      </a:r>
                      <a:r>
                        <a:rPr>
                          <a:solidFill>
                            <a:srgbClr val="000000"/>
                          </a:solidFill>
                          <a:latin typeface="Times New Roman"/>
                          <a:ea typeface="Times New Roman"/>
                          <a:cs typeface="Times New Roman"/>
                          <a:sym typeface="Times New Roman"/>
                        </a:rPr>
                        <a:t> </a:t>
                      </a:r>
                      <a:r>
                        <a:rPr>
                          <a:solidFill>
                            <a:srgbClr val="000000"/>
                          </a:solidFill>
                        </a:rPr>
                        <a:t>to</a:t>
                      </a:r>
                      <a:r>
                        <a:rPr>
                          <a:solidFill>
                            <a:srgbClr val="000000"/>
                          </a:solidFill>
                          <a:latin typeface="Times New Roman"/>
                          <a:ea typeface="Times New Roman"/>
                          <a:cs typeface="Times New Roman"/>
                          <a:sym typeface="Times New Roman"/>
                        </a:rPr>
                        <a:t> </a:t>
                      </a:r>
                      <a:r>
                        <a:t>dental</a:t>
                      </a:r>
                      <a:r>
                        <a:rPr>
                          <a:latin typeface="Times New Roman"/>
                          <a:ea typeface="Times New Roman"/>
                          <a:cs typeface="Times New Roman"/>
                          <a:sym typeface="Times New Roman"/>
                        </a:rPr>
                        <a:t> </a:t>
                      </a:r>
                      <a:r>
                        <a:t>education.</a:t>
                      </a:r>
                    </a:p>
                  </a:txBody>
                  <a:tcPr marL="45720" marR="45720" horzOverflow="overflow"/>
                </a:tc>
                <a:tc>
                  <a:txBody>
                    <a:bodyPr/>
                    <a:lstStyle/>
                    <a:p>
                      <a:pPr indent="12700" algn="l">
                        <a:spcBef>
                          <a:spcPts val="900"/>
                        </a:spcBef>
                        <a:defRPr sz="1200">
                          <a:latin typeface="Calibri"/>
                          <a:ea typeface="Calibri"/>
                          <a:cs typeface="Calibri"/>
                          <a:sym typeface="Calibri"/>
                        </a:defRPr>
                      </a:pPr>
                      <a:r>
                        <a:t>Does</a:t>
                      </a:r>
                      <a:r>
                        <a:rPr>
                          <a:latin typeface="Times New Roman"/>
                          <a:ea typeface="Times New Roman"/>
                          <a:cs typeface="Times New Roman"/>
                          <a:sym typeface="Times New Roman"/>
                        </a:rPr>
                        <a:t> </a:t>
                      </a:r>
                      <a:r>
                        <a:t>not</a:t>
                      </a:r>
                      <a:r>
                        <a:rPr>
                          <a:latin typeface="Times New Roman"/>
                          <a:ea typeface="Times New Roman"/>
                          <a:cs typeface="Times New Roman"/>
                          <a:sym typeface="Times New Roman"/>
                        </a:rPr>
                        <a:t> </a:t>
                      </a:r>
                      <a:r>
                        <a:t>have</a:t>
                      </a:r>
                      <a:r>
                        <a:rPr>
                          <a:latin typeface="Times New Roman"/>
                          <a:ea typeface="Times New Roman"/>
                          <a:cs typeface="Times New Roman"/>
                          <a:sym typeface="Times New Roman"/>
                        </a:rPr>
                        <a:t> </a:t>
                      </a:r>
                      <a:r>
                        <a:rPr>
                          <a:solidFill>
                            <a:srgbClr val="181818"/>
                          </a:solidFill>
                        </a:rPr>
                        <a:t>quantitative</a:t>
                      </a:r>
                      <a:r>
                        <a:rPr>
                          <a:solidFill>
                            <a:srgbClr val="181818"/>
                          </a:solidFill>
                          <a:latin typeface="Times New Roman"/>
                          <a:ea typeface="Times New Roman"/>
                          <a:cs typeface="Times New Roman"/>
                          <a:sym typeface="Times New Roman"/>
                        </a:rPr>
                        <a:t> </a:t>
                      </a:r>
                      <a:r>
                        <a:rPr>
                          <a:solidFill>
                            <a:srgbClr val="181818"/>
                          </a:solidFill>
                        </a:rPr>
                        <a:t>longitudinal</a:t>
                      </a:r>
                    </a:p>
                    <a:p>
                      <a:pPr indent="12700" algn="just">
                        <a:lnSpc>
                          <a:spcPts val="1400"/>
                        </a:lnSpc>
                        <a:defRPr sz="1200">
                          <a:solidFill>
                            <a:srgbClr val="181818"/>
                          </a:solidFill>
                          <a:latin typeface="Calibri"/>
                          <a:ea typeface="Calibri"/>
                          <a:cs typeface="Calibri"/>
                          <a:sym typeface="Calibri"/>
                        </a:defRPr>
                      </a:pPr>
                      <a:r>
                        <a:t>data,</a:t>
                      </a:r>
                      <a:r>
                        <a:rPr>
                          <a:latin typeface="Times New Roman"/>
                          <a:ea typeface="Times New Roman"/>
                          <a:cs typeface="Times New Roman"/>
                          <a:sym typeface="Times New Roman"/>
                        </a:rPr>
                        <a:t> </a:t>
                      </a:r>
                      <a:r>
                        <a:rPr>
                          <a:solidFill>
                            <a:srgbClr val="000000"/>
                          </a:solidFill>
                        </a:rPr>
                        <a:t>representative</a:t>
                      </a:r>
                      <a:r>
                        <a:rPr>
                          <a:solidFill>
                            <a:srgbClr val="000000"/>
                          </a:solidFill>
                          <a:latin typeface="Times New Roman"/>
                          <a:ea typeface="Times New Roman"/>
                          <a:cs typeface="Times New Roman"/>
                          <a:sym typeface="Times New Roman"/>
                        </a:rPr>
                        <a:t> </a:t>
                      </a:r>
                      <a:r>
                        <a:t>demographic</a:t>
                      </a:r>
                      <a:r>
                        <a:rPr>
                          <a:latin typeface="Times New Roman"/>
                          <a:ea typeface="Times New Roman"/>
                          <a:cs typeface="Times New Roman"/>
                          <a:sym typeface="Times New Roman"/>
                        </a:rPr>
                        <a:t> </a:t>
                      </a:r>
                      <a:r>
                        <a:rPr>
                          <a:solidFill>
                            <a:srgbClr val="000000"/>
                          </a:solidFill>
                        </a:rPr>
                        <a:t>sample</a:t>
                      </a:r>
                      <a:r>
                        <a:t>,</a:t>
                      </a:r>
                      <a:r>
                        <a:rPr>
                          <a:latin typeface="Times New Roman"/>
                          <a:ea typeface="Times New Roman"/>
                          <a:cs typeface="Times New Roman"/>
                          <a:sym typeface="Times New Roman"/>
                        </a:rPr>
                        <a:t> </a:t>
                      </a:r>
                      <a:r>
                        <a:rPr>
                          <a:solidFill>
                            <a:srgbClr val="000000"/>
                          </a:solidFill>
                        </a:rPr>
                        <a:t>detailed</a:t>
                      </a:r>
                      <a:r>
                        <a:rPr>
                          <a:solidFill>
                            <a:srgbClr val="000000"/>
                          </a:solidFill>
                          <a:latin typeface="Times New Roman"/>
                          <a:ea typeface="Times New Roman"/>
                          <a:cs typeface="Times New Roman"/>
                          <a:sym typeface="Times New Roman"/>
                        </a:rPr>
                        <a:t> </a:t>
                      </a:r>
                      <a:r>
                        <a:t>critical</a:t>
                      </a:r>
                      <a:r>
                        <a:rPr>
                          <a:latin typeface="Times New Roman"/>
                          <a:ea typeface="Times New Roman"/>
                          <a:cs typeface="Times New Roman"/>
                          <a:sym typeface="Times New Roman"/>
                        </a:rPr>
                        <a:t> </a:t>
                      </a:r>
                      <a:r>
                        <a:t>thinking</a:t>
                      </a:r>
                      <a:r>
                        <a:rPr>
                          <a:latin typeface="Times New Roman"/>
                          <a:ea typeface="Times New Roman"/>
                          <a:cs typeface="Times New Roman"/>
                          <a:sym typeface="Times New Roman"/>
                        </a:rPr>
                        <a:t> </a:t>
                      </a:r>
                      <a:r>
                        <a:t>skill</a:t>
                      </a:r>
                      <a:r>
                        <a:rPr>
                          <a:latin typeface="Times New Roman"/>
                          <a:ea typeface="Times New Roman"/>
                          <a:cs typeface="Times New Roman"/>
                          <a:sym typeface="Times New Roman"/>
                        </a:rPr>
                        <a:t> </a:t>
                      </a:r>
                      <a:r>
                        <a:rPr>
                          <a:solidFill>
                            <a:srgbClr val="000000"/>
                          </a:solidFill>
                        </a:rPr>
                        <a:t>examination</a:t>
                      </a:r>
                      <a:r>
                        <a:t>,</a:t>
                      </a:r>
                      <a:r>
                        <a:rPr>
                          <a:latin typeface="Times New Roman"/>
                          <a:ea typeface="Times New Roman"/>
                          <a:cs typeface="Times New Roman"/>
                          <a:sym typeface="Times New Roman"/>
                        </a:rPr>
                        <a:t> </a:t>
                      </a:r>
                      <a:r>
                        <a:t>multi-</a:t>
                      </a:r>
                      <a:r>
                        <a:rPr>
                          <a:latin typeface="Times New Roman"/>
                          <a:ea typeface="Times New Roman"/>
                          <a:cs typeface="Times New Roman"/>
                          <a:sym typeface="Times New Roman"/>
                        </a:rPr>
                        <a:t> </a:t>
                      </a:r>
                      <a:r>
                        <a:t>institutional</a:t>
                      </a:r>
                      <a:r>
                        <a:rPr>
                          <a:latin typeface="Times New Roman"/>
                          <a:ea typeface="Times New Roman"/>
                          <a:cs typeface="Times New Roman"/>
                          <a:sym typeface="Times New Roman"/>
                        </a:rPr>
                        <a:t> </a:t>
                      </a:r>
                      <a:r>
                        <a:rPr>
                          <a:solidFill>
                            <a:srgbClr val="000000"/>
                          </a:solidFill>
                        </a:rPr>
                        <a:t>comparison</a:t>
                      </a:r>
                      <a:r>
                        <a:t>,</a:t>
                      </a:r>
                      <a:r>
                        <a:rPr>
                          <a:latin typeface="Times New Roman"/>
                          <a:ea typeface="Times New Roman"/>
                          <a:cs typeface="Times New Roman"/>
                          <a:sym typeface="Times New Roman"/>
                        </a:rPr>
                        <a:t> </a:t>
                      </a:r>
                      <a:r>
                        <a:t>student</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faculty</a:t>
                      </a:r>
                      <a:r>
                        <a:rPr>
                          <a:latin typeface="Times New Roman"/>
                          <a:ea typeface="Times New Roman"/>
                          <a:cs typeface="Times New Roman"/>
                          <a:sym typeface="Times New Roman"/>
                        </a:rPr>
                        <a:t> </a:t>
                      </a:r>
                      <a:r>
                        <a:rPr>
                          <a:solidFill>
                            <a:srgbClr val="000000"/>
                          </a:solidFill>
                        </a:rPr>
                        <a:t>views</a:t>
                      </a:r>
                      <a:r>
                        <a:t>,</a:t>
                      </a:r>
                      <a:r>
                        <a:rPr>
                          <a:latin typeface="Times New Roman"/>
                          <a:ea typeface="Times New Roman"/>
                          <a:cs typeface="Times New Roman"/>
                          <a:sym typeface="Times New Roman"/>
                        </a:rPr>
                        <a:t> </a:t>
                      </a:r>
                      <a:r>
                        <a:rPr>
                          <a:solidFill>
                            <a:srgbClr val="000000"/>
                          </a:solidFill>
                        </a:rPr>
                        <a:t>incorporation</a:t>
                      </a:r>
                      <a:r>
                        <a:rPr>
                          <a:solidFill>
                            <a:srgbClr val="000000"/>
                          </a:solidFill>
                          <a:latin typeface="Times New Roman"/>
                          <a:ea typeface="Times New Roman"/>
                          <a:cs typeface="Times New Roman"/>
                          <a:sym typeface="Times New Roman"/>
                        </a:rPr>
                        <a:t> </a:t>
                      </a:r>
                      <a:r>
                        <a:t>with</a:t>
                      </a:r>
                      <a:r>
                        <a:rPr>
                          <a:latin typeface="Times New Roman"/>
                          <a:ea typeface="Times New Roman"/>
                          <a:cs typeface="Times New Roman"/>
                          <a:sym typeface="Times New Roman"/>
                        </a:rPr>
                        <a:t> </a:t>
                      </a:r>
                      <a:r>
                        <a:t>other</a:t>
                      </a:r>
                      <a:r>
                        <a:rPr>
                          <a:latin typeface="Times New Roman"/>
                          <a:ea typeface="Times New Roman"/>
                          <a:cs typeface="Times New Roman"/>
                          <a:sym typeface="Times New Roman"/>
                        </a:rPr>
                        <a:t> </a:t>
                      </a:r>
                      <a:r>
                        <a:rPr>
                          <a:solidFill>
                            <a:srgbClr val="000000"/>
                          </a:solidFill>
                        </a:rPr>
                        <a:t>key</a:t>
                      </a:r>
                      <a:r>
                        <a:rPr>
                          <a:solidFill>
                            <a:srgbClr val="000000"/>
                          </a:solidFill>
                          <a:latin typeface="Times New Roman"/>
                          <a:ea typeface="Times New Roman"/>
                          <a:cs typeface="Times New Roman"/>
                          <a:sym typeface="Times New Roman"/>
                        </a:rPr>
                        <a:t> </a:t>
                      </a:r>
                      <a:r>
                        <a:t>skills,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direct</a:t>
                      </a:r>
                      <a:r>
                        <a:rPr>
                          <a:latin typeface="Times New Roman"/>
                          <a:ea typeface="Times New Roman"/>
                          <a:cs typeface="Times New Roman"/>
                          <a:sym typeface="Times New Roman"/>
                        </a:rPr>
                        <a:t> </a:t>
                      </a:r>
                      <a:r>
                        <a:rPr>
                          <a:solidFill>
                            <a:srgbClr val="000000"/>
                          </a:solidFill>
                        </a:rPr>
                        <a:t>effect</a:t>
                      </a:r>
                      <a:r>
                        <a:rPr>
                          <a:solidFill>
                            <a:srgbClr val="000000"/>
                          </a:solidFill>
                          <a:latin typeface="Times New Roman"/>
                          <a:ea typeface="Times New Roman"/>
                          <a:cs typeface="Times New Roman"/>
                          <a:sym typeface="Times New Roman"/>
                        </a:rPr>
                        <a:t> </a:t>
                      </a:r>
                      <a:r>
                        <a:rPr>
                          <a:solidFill>
                            <a:srgbClr val="000000"/>
                          </a:solidFill>
                        </a:rPr>
                        <a:t>on</a:t>
                      </a:r>
                      <a:r>
                        <a:rPr>
                          <a:solidFill>
                            <a:srgbClr val="000000"/>
                          </a:solidFill>
                          <a:latin typeface="Times New Roman"/>
                          <a:ea typeface="Times New Roman"/>
                          <a:cs typeface="Times New Roman"/>
                          <a:sym typeface="Times New Roman"/>
                        </a:rPr>
                        <a:t> </a:t>
                      </a:r>
                      <a:r>
                        <a:rPr>
                          <a:solidFill>
                            <a:srgbClr val="000000"/>
                          </a:solidFill>
                        </a:rPr>
                        <a:t>patient</a:t>
                      </a:r>
                      <a:r>
                        <a:rPr>
                          <a:solidFill>
                            <a:srgbClr val="000000"/>
                          </a:solidFill>
                          <a:latin typeface="Times New Roman"/>
                          <a:ea typeface="Times New Roman"/>
                          <a:cs typeface="Times New Roman"/>
                          <a:sym typeface="Times New Roman"/>
                        </a:rPr>
                        <a:t> </a:t>
                      </a:r>
                      <a:r>
                        <a:rPr>
                          <a:solidFill>
                            <a:srgbClr val="000000"/>
                          </a:solidFill>
                        </a:rPr>
                        <a:t>outcomes.</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5</a:t>
            </a:fld>
            <a:endParaRPr/>
          </a:p>
        </p:txBody>
      </p:sp>
      <p:sp>
        <p:nvSpPr>
          <p:cNvPr id="161"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64" name="Rectangle"/>
          <p:cNvGrpSpPr/>
          <p:nvPr/>
        </p:nvGrpSpPr>
        <p:grpSpPr>
          <a:xfrm>
            <a:off x="1295400" y="290297"/>
            <a:ext cx="6858000" cy="486206"/>
            <a:chOff x="0" y="0"/>
            <a:chExt cx="6858000" cy="486204"/>
          </a:xfrm>
        </p:grpSpPr>
        <p:sp>
          <p:nvSpPr>
            <p:cNvPr id="162"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63"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65" name="Table 1"/>
          <p:cNvGraphicFramePr/>
          <p:nvPr/>
        </p:nvGraphicFramePr>
        <p:xfrm>
          <a:off x="762000" y="1706180"/>
          <a:ext cx="7645576" cy="3612521"/>
        </p:xfrm>
        <a:graphic>
          <a:graphicData uri="http://schemas.openxmlformats.org/drawingml/2006/table">
            <a:tbl>
              <a:tblPr>
                <a:tableStyleId>{4C3C2611-4C71-4FC5-86AE-919BDF0F9419}</a:tableStyleId>
              </a:tblPr>
              <a:tblGrid>
                <a:gridCol w="618931">
                  <a:extLst>
                    <a:ext uri="{9D8B030D-6E8A-4147-A177-3AD203B41FA5}">
                      <a16:colId xmlns:a16="http://schemas.microsoft.com/office/drawing/2014/main" val="20000"/>
                    </a:ext>
                  </a:extLst>
                </a:gridCol>
                <a:gridCol w="2136710">
                  <a:extLst>
                    <a:ext uri="{9D8B030D-6E8A-4147-A177-3AD203B41FA5}">
                      <a16:colId xmlns:a16="http://schemas.microsoft.com/office/drawing/2014/main" val="20001"/>
                    </a:ext>
                  </a:extLst>
                </a:gridCol>
                <a:gridCol w="1520890">
                  <a:extLst>
                    <a:ext uri="{9D8B030D-6E8A-4147-A177-3AD203B41FA5}">
                      <a16:colId xmlns:a16="http://schemas.microsoft.com/office/drawing/2014/main" val="20002"/>
                    </a:ext>
                  </a:extLst>
                </a:gridCol>
                <a:gridCol w="1684977">
                  <a:extLst>
                    <a:ext uri="{9D8B030D-6E8A-4147-A177-3AD203B41FA5}">
                      <a16:colId xmlns:a16="http://schemas.microsoft.com/office/drawing/2014/main" val="20003"/>
                    </a:ext>
                  </a:extLst>
                </a:gridCol>
                <a:gridCol w="1684067">
                  <a:extLst>
                    <a:ext uri="{9D8B030D-6E8A-4147-A177-3AD203B41FA5}">
                      <a16:colId xmlns:a16="http://schemas.microsoft.com/office/drawing/2014/main" val="20004"/>
                    </a:ext>
                  </a:extLst>
                </a:gridCol>
              </a:tblGrid>
              <a:tr h="421199">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1737393">
                <a:tc>
                  <a:txBody>
                    <a:bodyPr/>
                    <a:lstStyle/>
                    <a:p>
                      <a:pPr>
                        <a:defRPr sz="1800"/>
                      </a:pPr>
                      <a:r>
                        <a:rPr sz="1400"/>
                        <a:t>3.</a:t>
                      </a:r>
                    </a:p>
                  </a:txBody>
                  <a:tcPr marL="45720" marR="45720" horzOverflow="overflow"/>
                </a:tc>
                <a:tc>
                  <a:txBody>
                    <a:bodyPr/>
                    <a:lstStyle/>
                    <a:p>
                      <a:pPr indent="12700" algn="l">
                        <a:lnSpc>
                          <a:spcPct val="110000"/>
                        </a:lnSpc>
                        <a:defRPr sz="1200">
                          <a:latin typeface="Calibri"/>
                          <a:ea typeface="Calibri"/>
                          <a:cs typeface="Calibri"/>
                          <a:sym typeface="Calibri"/>
                        </a:defRPr>
                      </a:pPr>
                      <a:r>
                        <a:rPr>
                          <a:latin typeface="Times New Roman"/>
                          <a:ea typeface="Times New Roman"/>
                          <a:cs typeface="Times New Roman"/>
                          <a:sym typeface="Times New Roman"/>
                        </a:rPr>
                        <a:t> </a:t>
                      </a:r>
                      <a:r>
                        <a:t>Exploring</a:t>
                      </a:r>
                      <a:r>
                        <a:rPr>
                          <a:latin typeface="Times New Roman"/>
                          <a:ea typeface="Times New Roman"/>
                          <a:cs typeface="Times New Roman"/>
                          <a:sym typeface="Times New Roman"/>
                        </a:rPr>
                        <a:t> </a:t>
                      </a:r>
                      <a:r>
                        <a:t>Strategies</a:t>
                      </a:r>
                      <a:r>
                        <a:rPr>
                          <a:latin typeface="Times New Roman"/>
                          <a:ea typeface="Times New Roman"/>
                          <a:cs typeface="Times New Roman"/>
                          <a:sym typeface="Times New Roman"/>
                        </a:rPr>
                        <a:t> </a:t>
                      </a:r>
                      <a:r>
                        <a:t>for</a:t>
                      </a:r>
                      <a:r>
                        <a:rPr>
                          <a:latin typeface="Times New Roman"/>
                          <a:ea typeface="Times New Roman"/>
                          <a:cs typeface="Times New Roman"/>
                          <a:sym typeface="Times New Roman"/>
                        </a:rPr>
                        <a:t> </a:t>
                      </a:r>
                      <a:r>
                        <a:t>Promoting</a:t>
                      </a:r>
                      <a:r>
                        <a:rPr>
                          <a:latin typeface="Times New Roman"/>
                          <a:ea typeface="Times New Roman"/>
                          <a:cs typeface="Times New Roman"/>
                          <a:sym typeface="Times New Roman"/>
                        </a:rPr>
                        <a:t> </a:t>
                      </a:r>
                      <a:r>
                        <a:t>Overseas</a:t>
                      </a:r>
                      <a:r>
                        <a:rPr>
                          <a:latin typeface="Times New Roman"/>
                          <a:ea typeface="Times New Roman"/>
                          <a:cs typeface="Times New Roman"/>
                          <a:sym typeface="Times New Roman"/>
                        </a:rPr>
                        <a:t> </a:t>
                      </a:r>
                      <a:r>
                        <a:t>Alumni</a:t>
                      </a:r>
                      <a:r>
                        <a:rPr>
                          <a:latin typeface="Times New Roman"/>
                          <a:ea typeface="Times New Roman"/>
                          <a:cs typeface="Times New Roman"/>
                          <a:sym typeface="Times New Roman"/>
                        </a:rPr>
                        <a:t> </a:t>
                      </a:r>
                      <a:r>
                        <a:t>Giving</a:t>
                      </a:r>
                      <a:r>
                        <a:rPr>
                          <a:latin typeface="Times New Roman"/>
                          <a:ea typeface="Times New Roman"/>
                          <a:cs typeface="Times New Roman"/>
                          <a:sym typeface="Times New Roman"/>
                        </a:rPr>
                        <a:t> </a:t>
                      </a:r>
                      <a:r>
                        <a:t>Activities</a:t>
                      </a:r>
                      <a:r>
                        <a:rPr>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t>colleges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Universities</a:t>
                      </a:r>
                      <a:r>
                        <a:rPr>
                          <a:latin typeface="Times New Roman"/>
                          <a:ea typeface="Times New Roman"/>
                          <a:cs typeface="Times New Roman"/>
                          <a:sym typeface="Times New Roman"/>
                        </a:rPr>
                        <a:t> </a:t>
                      </a:r>
                      <a:r>
                        <a:t>Based</a:t>
                      </a:r>
                      <a:r>
                        <a:rPr>
                          <a:latin typeface="Times New Roman"/>
                          <a:ea typeface="Times New Roman"/>
                          <a:cs typeface="Times New Roman"/>
                          <a:sym typeface="Times New Roman"/>
                        </a:rPr>
                        <a:t> </a:t>
                      </a:r>
                      <a:r>
                        <a:t>on</a:t>
                      </a:r>
                      <a:r>
                        <a:rPr>
                          <a:latin typeface="Times New Roman"/>
                          <a:ea typeface="Times New Roman"/>
                          <a:cs typeface="Times New Roman"/>
                          <a:sym typeface="Times New Roman"/>
                        </a:rPr>
                        <a:t> </a:t>
                      </a:r>
                      <a:r>
                        <a:t>Coupled</a:t>
                      </a:r>
                      <a:r>
                        <a:rPr>
                          <a:latin typeface="Times New Roman"/>
                          <a:ea typeface="Times New Roman"/>
                          <a:cs typeface="Times New Roman"/>
                          <a:sym typeface="Times New Roman"/>
                        </a:rPr>
                        <a:t> </a:t>
                      </a:r>
                      <a:r>
                        <a:t>Models</a:t>
                      </a:r>
                    </a:p>
                  </a:txBody>
                  <a:tcPr marL="45720" marR="45720" horzOverflow="overflow"/>
                </a:tc>
                <a:tc>
                  <a:txBody>
                    <a:bodyPr/>
                    <a:lstStyle/>
                    <a:p>
                      <a:pPr indent="12700" algn="l">
                        <a:spcBef>
                          <a:spcPts val="100"/>
                        </a:spcBef>
                        <a:defRPr sz="1200">
                          <a:latin typeface="Calibri"/>
                          <a:ea typeface="Calibri"/>
                          <a:cs typeface="Calibri"/>
                          <a:sym typeface="Calibri"/>
                        </a:defRPr>
                      </a:pPr>
                      <a:r>
                        <a:t>Wang</a:t>
                      </a:r>
                    </a:p>
                  </a:txBody>
                  <a:tcPr marL="45720" marR="45720" horzOverflow="overflow"/>
                </a:tc>
                <a:tc>
                  <a:txBody>
                    <a:bodyPr/>
                    <a:lstStyle/>
                    <a:p>
                      <a:pPr indent="12700" algn="l">
                        <a:lnSpc>
                          <a:spcPct val="110000"/>
                        </a:lnSpc>
                        <a:defRPr sz="1200">
                          <a:latin typeface="Calibri"/>
                          <a:ea typeface="Calibri"/>
                          <a:cs typeface="Calibri"/>
                          <a:sym typeface="Calibri"/>
                        </a:defRPr>
                      </a:pPr>
                      <a:r>
                        <a:t>The</a:t>
                      </a:r>
                      <a:r>
                        <a:rPr>
                          <a:latin typeface="Times New Roman"/>
                          <a:ea typeface="Times New Roman"/>
                          <a:cs typeface="Times New Roman"/>
                          <a:sym typeface="Times New Roman"/>
                        </a:rPr>
                        <a:t> </a:t>
                      </a:r>
                      <a:r>
                        <a:t>paper</a:t>
                      </a:r>
                      <a:r>
                        <a:rPr>
                          <a:latin typeface="Times New Roman"/>
                          <a:ea typeface="Times New Roman"/>
                          <a:cs typeface="Times New Roman"/>
                          <a:sym typeface="Times New Roman"/>
                        </a:rPr>
                        <a:t> </a:t>
                      </a:r>
                      <a:r>
                        <a:t>explores</a:t>
                      </a:r>
                      <a:r>
                        <a:rPr>
                          <a:latin typeface="Times New Roman"/>
                          <a:ea typeface="Times New Roman"/>
                          <a:cs typeface="Times New Roman"/>
                          <a:sym typeface="Times New Roman"/>
                        </a:rPr>
                        <a:t> </a:t>
                      </a:r>
                      <a:r>
                        <a:t>strategies</a:t>
                      </a:r>
                      <a:r>
                        <a:rPr>
                          <a:latin typeface="Times New Roman"/>
                          <a:ea typeface="Times New Roman"/>
                          <a:cs typeface="Times New Roman"/>
                          <a:sym typeface="Times New Roman"/>
                        </a:rPr>
                        <a:t> </a:t>
                      </a:r>
                      <a:r>
                        <a:t>to</a:t>
                      </a:r>
                      <a:r>
                        <a:rPr>
                          <a:latin typeface="Times New Roman"/>
                          <a:ea typeface="Times New Roman"/>
                          <a:cs typeface="Times New Roman"/>
                          <a:sym typeface="Times New Roman"/>
                        </a:rPr>
                        <a:t> </a:t>
                      </a:r>
                      <a:r>
                        <a:t>boost</a:t>
                      </a:r>
                      <a:r>
                        <a:rPr>
                          <a:latin typeface="Times New Roman"/>
                          <a:ea typeface="Times New Roman"/>
                          <a:cs typeface="Times New Roman"/>
                          <a:sym typeface="Times New Roman"/>
                        </a:rPr>
                        <a:t> </a:t>
                      </a:r>
                      <a:r>
                        <a:t>overseas</a:t>
                      </a:r>
                      <a:r>
                        <a:rPr>
                          <a:latin typeface="Times New Roman"/>
                          <a:ea typeface="Times New Roman"/>
                          <a:cs typeface="Times New Roman"/>
                          <a:sym typeface="Times New Roman"/>
                        </a:rPr>
                        <a:t> </a:t>
                      </a:r>
                      <a:r>
                        <a:t>alumni</a:t>
                      </a:r>
                      <a:r>
                        <a:rPr>
                          <a:latin typeface="Times New Roman"/>
                          <a:ea typeface="Times New Roman"/>
                          <a:cs typeface="Times New Roman"/>
                          <a:sym typeface="Times New Roman"/>
                        </a:rPr>
                        <a:t> </a:t>
                      </a:r>
                      <a:r>
                        <a:t>donations</a:t>
                      </a:r>
                      <a:r>
                        <a:rPr>
                          <a:latin typeface="Times New Roman"/>
                          <a:ea typeface="Times New Roman"/>
                          <a:cs typeface="Times New Roman"/>
                          <a:sym typeface="Times New Roman"/>
                        </a:rPr>
                        <a:t> </a:t>
                      </a:r>
                      <a:r>
                        <a:t>using</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coupled</a:t>
                      </a:r>
                      <a:r>
                        <a:rPr>
                          <a:latin typeface="Times New Roman"/>
                          <a:ea typeface="Times New Roman"/>
                          <a:cs typeface="Times New Roman"/>
                          <a:sym typeface="Times New Roman"/>
                        </a:rPr>
                        <a:t> </a:t>
                      </a:r>
                      <a:r>
                        <a:t>model,</a:t>
                      </a:r>
                      <a:r>
                        <a:rPr>
                          <a:latin typeface="Times New Roman"/>
                          <a:ea typeface="Times New Roman"/>
                          <a:cs typeface="Times New Roman"/>
                          <a:sym typeface="Times New Roman"/>
                        </a:rPr>
                        <a:t> </a:t>
                      </a:r>
                      <a:r>
                        <a:t>finding</a:t>
                      </a:r>
                      <a:r>
                        <a:rPr>
                          <a:latin typeface="Times New Roman"/>
                          <a:ea typeface="Times New Roman"/>
                          <a:cs typeface="Times New Roman"/>
                          <a:sym typeface="Times New Roman"/>
                        </a:rPr>
                        <a:t> </a:t>
                      </a:r>
                      <a:r>
                        <a:t>that</a:t>
                      </a:r>
                      <a:r>
                        <a:rPr>
                          <a:latin typeface="Times New Roman"/>
                          <a:ea typeface="Times New Roman"/>
                          <a:cs typeface="Times New Roman"/>
                          <a:sym typeface="Times New Roman"/>
                        </a:rPr>
                        <a:t> </a:t>
                      </a:r>
                      <a:r>
                        <a:t>tax</a:t>
                      </a:r>
                      <a:r>
                        <a:rPr>
                          <a:latin typeface="Times New Roman"/>
                          <a:ea typeface="Times New Roman"/>
                          <a:cs typeface="Times New Roman"/>
                          <a:sym typeface="Times New Roman"/>
                        </a:rPr>
                        <a:t> </a:t>
                      </a:r>
                      <a:r>
                        <a:t>incentives,</a:t>
                      </a:r>
                      <a:r>
                        <a:rPr>
                          <a:latin typeface="Times New Roman"/>
                          <a:ea typeface="Times New Roman"/>
                          <a:cs typeface="Times New Roman"/>
                          <a:sym typeface="Times New Roman"/>
                        </a:rPr>
                        <a:t> </a:t>
                      </a:r>
                      <a:r>
                        <a:t>networking</a:t>
                      </a:r>
                      <a:r>
                        <a:rPr>
                          <a:latin typeface="Times New Roman"/>
                          <a:ea typeface="Times New Roman"/>
                          <a:cs typeface="Times New Roman"/>
                          <a:sym typeface="Times New Roman"/>
                        </a:rPr>
                        <a:t> </a:t>
                      </a:r>
                      <a:r>
                        <a:t>resources,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reputational</a:t>
                      </a:r>
                      <a:r>
                        <a:rPr>
                          <a:latin typeface="Times New Roman"/>
                          <a:ea typeface="Times New Roman"/>
                          <a:cs typeface="Times New Roman"/>
                          <a:sym typeface="Times New Roman"/>
                        </a:rPr>
                        <a:t> </a:t>
                      </a:r>
                      <a:r>
                        <a:t>gains</a:t>
                      </a:r>
                      <a:r>
                        <a:rPr>
                          <a:latin typeface="Times New Roman"/>
                          <a:ea typeface="Times New Roman"/>
                          <a:cs typeface="Times New Roman"/>
                          <a:sym typeface="Times New Roman"/>
                        </a:rPr>
                        <a:t> </a:t>
                      </a:r>
                      <a:r>
                        <a:t>influence</a:t>
                      </a:r>
                      <a:r>
                        <a:rPr>
                          <a:latin typeface="Times New Roman"/>
                          <a:ea typeface="Times New Roman"/>
                          <a:cs typeface="Times New Roman"/>
                          <a:sym typeface="Times New Roman"/>
                        </a:rPr>
                        <a:t> </a:t>
                      </a:r>
                      <a:r>
                        <a:t>donations,</a:t>
                      </a:r>
                      <a:r>
                        <a:rPr>
                          <a:latin typeface="Times New Roman"/>
                          <a:ea typeface="Times New Roman"/>
                          <a:cs typeface="Times New Roman"/>
                          <a:sym typeface="Times New Roman"/>
                        </a:rPr>
                        <a:t> </a:t>
                      </a:r>
                      <a:r>
                        <a:t>with</a:t>
                      </a:r>
                      <a:r>
                        <a:rPr>
                          <a:latin typeface="Times New Roman"/>
                          <a:ea typeface="Times New Roman"/>
                          <a:cs typeface="Times New Roman"/>
                          <a:sym typeface="Times New Roman"/>
                        </a:rPr>
                        <a:t> </a:t>
                      </a:r>
                      <a:r>
                        <a:t>tax</a:t>
                      </a:r>
                      <a:r>
                        <a:rPr>
                          <a:latin typeface="Times New Roman"/>
                          <a:ea typeface="Times New Roman"/>
                          <a:cs typeface="Times New Roman"/>
                          <a:sym typeface="Times New Roman"/>
                        </a:rPr>
                        <a:t> </a:t>
                      </a:r>
                      <a:r>
                        <a:t>benefits</a:t>
                      </a:r>
                      <a:r>
                        <a:rPr>
                          <a:latin typeface="Times New Roman"/>
                          <a:ea typeface="Times New Roman"/>
                          <a:cs typeface="Times New Roman"/>
                          <a:sym typeface="Times New Roman"/>
                        </a:rPr>
                        <a:t> </a:t>
                      </a:r>
                      <a:r>
                        <a:t>being</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t>most</a:t>
                      </a:r>
                      <a:r>
                        <a:rPr>
                          <a:latin typeface="Times New Roman"/>
                          <a:ea typeface="Times New Roman"/>
                          <a:cs typeface="Times New Roman"/>
                          <a:sym typeface="Times New Roman"/>
                        </a:rPr>
                        <a:t> </a:t>
                      </a:r>
                      <a:r>
                        <a:t>effective.</a:t>
                      </a:r>
                    </a:p>
                  </a:txBody>
                  <a:tcPr marL="45720" marR="45720" horzOverflow="overflow"/>
                </a:tc>
                <a:tc>
                  <a:txBody>
                    <a:bodyPr/>
                    <a:lstStyle/>
                    <a:p>
                      <a:pPr indent="12700" algn="l">
                        <a:spcBef>
                          <a:spcPts val="100"/>
                        </a:spcBef>
                        <a:defRPr sz="1200">
                          <a:latin typeface="Calibri"/>
                          <a:ea typeface="Calibri"/>
                          <a:cs typeface="Calibri"/>
                          <a:sym typeface="Calibri"/>
                        </a:defRPr>
                      </a:pPr>
                      <a:r>
                        <a:t> However,</a:t>
                      </a:r>
                      <a:r>
                        <a:rPr>
                          <a:latin typeface="Times New Roman"/>
                          <a:ea typeface="Times New Roman"/>
                          <a:cs typeface="Times New Roman"/>
                          <a:sym typeface="Times New Roman"/>
                        </a:rPr>
                        <a:t> </a:t>
                      </a:r>
                      <a:r>
                        <a:t>it</a:t>
                      </a:r>
                      <a:r>
                        <a:rPr>
                          <a:latin typeface="Times New Roman"/>
                          <a:ea typeface="Times New Roman"/>
                          <a:cs typeface="Times New Roman"/>
                          <a:sym typeface="Times New Roman"/>
                        </a:rPr>
                        <a:t> </a:t>
                      </a:r>
                      <a:r>
                        <a:t>lacks</a:t>
                      </a:r>
                      <a:r>
                        <a:rPr>
                          <a:latin typeface="Times New Roman"/>
                          <a:ea typeface="Times New Roman"/>
                          <a:cs typeface="Times New Roman"/>
                          <a:sym typeface="Times New Roman"/>
                        </a:rPr>
                        <a:t> </a:t>
                      </a:r>
                      <a:r>
                        <a:t>real-world</a:t>
                      </a:r>
                      <a:r>
                        <a:rPr>
                          <a:latin typeface="Times New Roman"/>
                          <a:ea typeface="Times New Roman"/>
                          <a:cs typeface="Times New Roman"/>
                          <a:sym typeface="Times New Roman"/>
                        </a:rPr>
                        <a:t> </a:t>
                      </a:r>
                      <a:r>
                        <a:t>validation,</a:t>
                      </a:r>
                      <a:r>
                        <a:rPr>
                          <a:latin typeface="Times New Roman"/>
                          <a:ea typeface="Times New Roman"/>
                          <a:cs typeface="Times New Roman"/>
                          <a:sym typeface="Times New Roman"/>
                        </a:rPr>
                        <a:t> </a:t>
                      </a:r>
                      <a:r>
                        <a:t>ignores</a:t>
                      </a:r>
                      <a:r>
                        <a:rPr>
                          <a:latin typeface="Times New Roman"/>
                          <a:ea typeface="Times New Roman"/>
                          <a:cs typeface="Times New Roman"/>
                          <a:sym typeface="Times New Roman"/>
                        </a:rPr>
                        <a:t> </a:t>
                      </a:r>
                      <a:r>
                        <a:t>psychological</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cultural</a:t>
                      </a:r>
                      <a:r>
                        <a:rPr>
                          <a:latin typeface="Times New Roman"/>
                          <a:ea typeface="Times New Roman"/>
                          <a:cs typeface="Times New Roman"/>
                          <a:sym typeface="Times New Roman"/>
                        </a:rPr>
                        <a:t> </a:t>
                      </a:r>
                      <a:r>
                        <a:t>donation</a:t>
                      </a:r>
                      <a:r>
                        <a:rPr>
                          <a:latin typeface="Times New Roman"/>
                          <a:ea typeface="Times New Roman"/>
                          <a:cs typeface="Times New Roman"/>
                          <a:sym typeface="Times New Roman"/>
                        </a:rPr>
                        <a:t> </a:t>
                      </a:r>
                      <a:r>
                        <a:t>drivers,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assumes</a:t>
                      </a:r>
                      <a:r>
                        <a:rPr>
                          <a:latin typeface="Times New Roman"/>
                          <a:ea typeface="Times New Roman"/>
                          <a:cs typeface="Times New Roman"/>
                          <a:sym typeface="Times New Roman"/>
                        </a:rPr>
                        <a:t> </a:t>
                      </a:r>
                      <a:r>
                        <a:t>static</a:t>
                      </a:r>
                      <a:r>
                        <a:rPr>
                          <a:latin typeface="Times New Roman"/>
                          <a:ea typeface="Times New Roman"/>
                          <a:cs typeface="Times New Roman"/>
                          <a:sym typeface="Times New Roman"/>
                        </a:rPr>
                        <a:t> </a:t>
                      </a:r>
                      <a:r>
                        <a:t>alumni</a:t>
                      </a:r>
                      <a:r>
                        <a:rPr>
                          <a:latin typeface="Times New Roman"/>
                          <a:ea typeface="Times New Roman"/>
                          <a:cs typeface="Times New Roman"/>
                          <a:sym typeface="Times New Roman"/>
                        </a:rPr>
                        <a:t> </a:t>
                      </a:r>
                      <a:r>
                        <a:t>behaviors</a:t>
                      </a:r>
                      <a:r>
                        <a:rPr>
                          <a:latin typeface="Times New Roman"/>
                          <a:ea typeface="Times New Roman"/>
                          <a:cs typeface="Times New Roman"/>
                          <a:sym typeface="Times New Roman"/>
                        </a:rPr>
                        <a:t> </a:t>
                      </a:r>
                      <a:r>
                        <a:t>without</a:t>
                      </a:r>
                      <a:r>
                        <a:rPr>
                          <a:latin typeface="Times New Roman"/>
                          <a:ea typeface="Times New Roman"/>
                          <a:cs typeface="Times New Roman"/>
                          <a:sym typeface="Times New Roman"/>
                        </a:rPr>
                        <a:t> </a:t>
                      </a:r>
                      <a:r>
                        <a:t>considering</a:t>
                      </a:r>
                      <a:r>
                        <a:rPr>
                          <a:latin typeface="Times New Roman"/>
                          <a:ea typeface="Times New Roman"/>
                          <a:cs typeface="Times New Roman"/>
                          <a:sym typeface="Times New Roman"/>
                        </a:rPr>
                        <a:t> </a:t>
                      </a:r>
                      <a:r>
                        <a:t>regional</a:t>
                      </a:r>
                      <a:r>
                        <a:rPr>
                          <a:latin typeface="Times New Roman"/>
                          <a:ea typeface="Times New Roman"/>
                          <a:cs typeface="Times New Roman"/>
                          <a:sym typeface="Times New Roman"/>
                        </a:rPr>
                        <a:t> </a:t>
                      </a:r>
                      <a:r>
                        <a:t>differences</a:t>
                      </a:r>
                      <a:r>
                        <a:rPr>
                          <a:latin typeface="Times New Roman"/>
                          <a:ea typeface="Times New Roman"/>
                          <a:cs typeface="Times New Roman"/>
                          <a:sym typeface="Times New Roman"/>
                        </a:rPr>
                        <a:t> </a:t>
                      </a:r>
                      <a:r>
                        <a:t>or</a:t>
                      </a:r>
                      <a:r>
                        <a:rPr>
                          <a:latin typeface="Times New Roman"/>
                          <a:ea typeface="Times New Roman"/>
                          <a:cs typeface="Times New Roman"/>
                          <a:sym typeface="Times New Roman"/>
                        </a:rPr>
                        <a:t> </a:t>
                      </a:r>
                      <a:r>
                        <a:t>digital</a:t>
                      </a:r>
                      <a:r>
                        <a:rPr>
                          <a:latin typeface="Times New Roman"/>
                          <a:ea typeface="Times New Roman"/>
                          <a:cs typeface="Times New Roman"/>
                          <a:sym typeface="Times New Roman"/>
                        </a:rPr>
                        <a:t> </a:t>
                      </a:r>
                      <a:r>
                        <a:t>fundraising</a:t>
                      </a:r>
                      <a:r>
                        <a:rPr>
                          <a:latin typeface="Times New Roman"/>
                          <a:ea typeface="Times New Roman"/>
                          <a:cs typeface="Times New Roman"/>
                          <a:sym typeface="Times New Roman"/>
                        </a:rPr>
                        <a:t> </a:t>
                      </a:r>
                      <a:r>
                        <a:t>trends.</a:t>
                      </a:r>
                      <a:r>
                        <a:rPr>
                          <a:latin typeface="Times New Roman"/>
                          <a:ea typeface="Times New Roman"/>
                          <a:cs typeface="Times New Roman"/>
                          <a:sym typeface="Times New Roman"/>
                        </a:rPr>
                        <a:t> </a:t>
                      </a:r>
                      <a:r>
                        <a:t>Future</a:t>
                      </a:r>
                      <a:r>
                        <a:rPr>
                          <a:latin typeface="Times New Roman"/>
                          <a:ea typeface="Times New Roman"/>
                          <a:cs typeface="Times New Roman"/>
                          <a:sym typeface="Times New Roman"/>
                        </a:rPr>
                        <a:t> </a:t>
                      </a:r>
                      <a:r>
                        <a:t>research</a:t>
                      </a:r>
                      <a:r>
                        <a:rPr>
                          <a:latin typeface="Times New Roman"/>
                          <a:ea typeface="Times New Roman"/>
                          <a:cs typeface="Times New Roman"/>
                          <a:sym typeface="Times New Roman"/>
                        </a:rPr>
                        <a:t> </a:t>
                      </a:r>
                      <a:r>
                        <a:t>should</a:t>
                      </a:r>
                      <a:r>
                        <a:rPr>
                          <a:latin typeface="Times New Roman"/>
                          <a:ea typeface="Times New Roman"/>
                          <a:cs typeface="Times New Roman"/>
                          <a:sym typeface="Times New Roman"/>
                        </a:rPr>
                        <a:t> </a:t>
                      </a:r>
                      <a:r>
                        <a:t>incorporate</a:t>
                      </a:r>
                      <a:r>
                        <a:rPr>
                          <a:latin typeface="Times New Roman"/>
                          <a:ea typeface="Times New Roman"/>
                          <a:cs typeface="Times New Roman"/>
                          <a:sym typeface="Times New Roman"/>
                        </a:rPr>
                        <a:t> </a:t>
                      </a:r>
                      <a:r>
                        <a:t>empirical</a:t>
                      </a:r>
                      <a:r>
                        <a:rPr>
                          <a:latin typeface="Times New Roman"/>
                          <a:ea typeface="Times New Roman"/>
                          <a:cs typeface="Times New Roman"/>
                          <a:sym typeface="Times New Roman"/>
                        </a:rPr>
                        <a:t> </a:t>
                      </a:r>
                      <a:r>
                        <a:t>data,</a:t>
                      </a:r>
                      <a:r>
                        <a:rPr>
                          <a:latin typeface="Times New Roman"/>
                          <a:ea typeface="Times New Roman"/>
                          <a:cs typeface="Times New Roman"/>
                          <a:sym typeface="Times New Roman"/>
                        </a:rPr>
                        <a:t> </a:t>
                      </a:r>
                      <a:r>
                        <a:t>dynamic</a:t>
                      </a:r>
                      <a:r>
                        <a:rPr>
                          <a:latin typeface="Times New Roman"/>
                          <a:ea typeface="Times New Roman"/>
                          <a:cs typeface="Times New Roman"/>
                          <a:sym typeface="Times New Roman"/>
                        </a:rPr>
                        <a:t> </a:t>
                      </a:r>
                      <a:r>
                        <a:t>modeling,</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modern</a:t>
                      </a:r>
                      <a:r>
                        <a:rPr>
                          <a:latin typeface="Times New Roman"/>
                          <a:ea typeface="Times New Roman"/>
                          <a:cs typeface="Times New Roman"/>
                          <a:sym typeface="Times New Roman"/>
                        </a:rPr>
                        <a:t> </a:t>
                      </a:r>
                      <a:r>
                        <a:t>fundraising</a:t>
                      </a:r>
                      <a:r>
                        <a:rPr>
                          <a:latin typeface="Times New Roman"/>
                          <a:ea typeface="Times New Roman"/>
                          <a:cs typeface="Times New Roman"/>
                          <a:sym typeface="Times New Roman"/>
                        </a:rPr>
                        <a:t> </a:t>
                      </a:r>
                      <a:r>
                        <a:t>methods</a:t>
                      </a:r>
                      <a:r>
                        <a:rPr>
                          <a:latin typeface="Times New Roman"/>
                          <a:ea typeface="Times New Roman"/>
                          <a:cs typeface="Times New Roman"/>
                          <a:sym typeface="Times New Roman"/>
                        </a:rPr>
                        <a:t> </a:t>
                      </a:r>
                      <a:r>
                        <a:t>for</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more</a:t>
                      </a:r>
                      <a:r>
                        <a:rPr>
                          <a:latin typeface="Times New Roman"/>
                          <a:ea typeface="Times New Roman"/>
                          <a:cs typeface="Times New Roman"/>
                          <a:sym typeface="Times New Roman"/>
                        </a:rPr>
                        <a:t> </a:t>
                      </a:r>
                      <a:r>
                        <a:t>comprehensive</a:t>
                      </a:r>
                      <a:r>
                        <a:rPr>
                          <a:latin typeface="Times New Roman"/>
                          <a:ea typeface="Times New Roman"/>
                          <a:cs typeface="Times New Roman"/>
                          <a:sym typeface="Times New Roman"/>
                        </a:rPr>
                        <a:t> </a:t>
                      </a:r>
                      <a:r>
                        <a:t>understanding.</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
        <p:nvSpPr>
          <p:cNvPr id="168" name="Content"/>
          <p:cNvSpPr txBox="1">
            <a:spLocks noGrp="1"/>
          </p:cNvSpPr>
          <p:nvPr>
            <p:ph type="title"/>
          </p:nvPr>
        </p:nvSpPr>
        <p:spPr>
          <a:xfrm>
            <a:off x="609600" y="1371600"/>
            <a:ext cx="7772400" cy="4462670"/>
          </a:xfrm>
          <a:prstGeom prst="rect">
            <a:avLst/>
          </a:prstGeom>
        </p:spPr>
        <p:txBody>
          <a:bodyPr/>
          <a:lstStyle/>
          <a:p>
            <a:pPr algn="l">
              <a:defRPr sz="3200">
                <a:latin typeface="Times New Roman"/>
                <a:ea typeface="Times New Roman"/>
                <a:cs typeface="Times New Roman"/>
                <a:sym typeface="Times New Roman"/>
              </a:defRPr>
            </a:pPr>
            <a:br/>
            <a:br/>
            <a:br/>
            <a:endParaRPr/>
          </a:p>
        </p:txBody>
      </p:sp>
      <p:grpSp>
        <p:nvGrpSpPr>
          <p:cNvPr id="171" name="Rectangle"/>
          <p:cNvGrpSpPr/>
          <p:nvPr/>
        </p:nvGrpSpPr>
        <p:grpSpPr>
          <a:xfrm>
            <a:off x="1295400" y="290297"/>
            <a:ext cx="6858000" cy="486206"/>
            <a:chOff x="0" y="0"/>
            <a:chExt cx="6858000" cy="486204"/>
          </a:xfrm>
        </p:grpSpPr>
        <p:sp>
          <p:nvSpPr>
            <p:cNvPr id="169"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70" name="LITERATURE SURVE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LITERATURE SURVEY</a:t>
              </a:r>
            </a:p>
          </p:txBody>
        </p:sp>
      </p:grpSp>
      <p:graphicFrame>
        <p:nvGraphicFramePr>
          <p:cNvPr id="172" name="Table 1"/>
          <p:cNvGraphicFramePr/>
          <p:nvPr/>
        </p:nvGraphicFramePr>
        <p:xfrm>
          <a:off x="762000" y="1706180"/>
          <a:ext cx="7645576" cy="3612521"/>
        </p:xfrm>
        <a:graphic>
          <a:graphicData uri="http://schemas.openxmlformats.org/drawingml/2006/table">
            <a:tbl>
              <a:tblPr>
                <a:tableStyleId>{4C3C2611-4C71-4FC5-86AE-919BDF0F9419}</a:tableStyleId>
              </a:tblPr>
              <a:tblGrid>
                <a:gridCol w="618931">
                  <a:extLst>
                    <a:ext uri="{9D8B030D-6E8A-4147-A177-3AD203B41FA5}">
                      <a16:colId xmlns:a16="http://schemas.microsoft.com/office/drawing/2014/main" val="20000"/>
                    </a:ext>
                  </a:extLst>
                </a:gridCol>
                <a:gridCol w="2136710">
                  <a:extLst>
                    <a:ext uri="{9D8B030D-6E8A-4147-A177-3AD203B41FA5}">
                      <a16:colId xmlns:a16="http://schemas.microsoft.com/office/drawing/2014/main" val="20001"/>
                    </a:ext>
                  </a:extLst>
                </a:gridCol>
                <a:gridCol w="1520890">
                  <a:extLst>
                    <a:ext uri="{9D8B030D-6E8A-4147-A177-3AD203B41FA5}">
                      <a16:colId xmlns:a16="http://schemas.microsoft.com/office/drawing/2014/main" val="20002"/>
                    </a:ext>
                  </a:extLst>
                </a:gridCol>
                <a:gridCol w="1684977">
                  <a:extLst>
                    <a:ext uri="{9D8B030D-6E8A-4147-A177-3AD203B41FA5}">
                      <a16:colId xmlns:a16="http://schemas.microsoft.com/office/drawing/2014/main" val="20003"/>
                    </a:ext>
                  </a:extLst>
                </a:gridCol>
                <a:gridCol w="1684067">
                  <a:extLst>
                    <a:ext uri="{9D8B030D-6E8A-4147-A177-3AD203B41FA5}">
                      <a16:colId xmlns:a16="http://schemas.microsoft.com/office/drawing/2014/main" val="20004"/>
                    </a:ext>
                  </a:extLst>
                </a:gridCol>
              </a:tblGrid>
              <a:tr h="421199">
                <a:tc>
                  <a:txBody>
                    <a:bodyPr/>
                    <a:lstStyle/>
                    <a:p>
                      <a:pPr algn="ctr">
                        <a:defRPr sz="1800"/>
                      </a:pPr>
                      <a:r>
                        <a:rPr sz="1400" b="1"/>
                        <a:t>S.No</a:t>
                      </a:r>
                    </a:p>
                  </a:txBody>
                  <a:tcPr marL="45720" marR="45720" horzOverflow="overflow"/>
                </a:tc>
                <a:tc>
                  <a:txBody>
                    <a:bodyPr/>
                    <a:lstStyle/>
                    <a:p>
                      <a:pPr algn="ctr">
                        <a:defRPr sz="1800"/>
                      </a:pPr>
                      <a:r>
                        <a:rPr sz="1400" b="1"/>
                        <a:t>Title of the Paper</a:t>
                      </a:r>
                    </a:p>
                  </a:txBody>
                  <a:tcPr marL="45720" marR="45720" horzOverflow="overflow"/>
                </a:tc>
                <a:tc>
                  <a:txBody>
                    <a:bodyPr/>
                    <a:lstStyle/>
                    <a:p>
                      <a:pPr algn="ctr">
                        <a:defRPr sz="1800"/>
                      </a:pPr>
                      <a:r>
                        <a:rPr sz="1400" b="1"/>
                        <a:t>Author</a:t>
                      </a:r>
                    </a:p>
                  </a:txBody>
                  <a:tcPr marL="45720" marR="45720" horzOverflow="overflow"/>
                </a:tc>
                <a:tc>
                  <a:txBody>
                    <a:bodyPr/>
                    <a:lstStyle/>
                    <a:p>
                      <a:pPr algn="ctr">
                        <a:defRPr sz="1800"/>
                      </a:pPr>
                      <a:r>
                        <a:rPr sz="1400" b="1"/>
                        <a:t>Inference</a:t>
                      </a:r>
                    </a:p>
                  </a:txBody>
                  <a:tcPr marL="45720" marR="45720" horzOverflow="overflow"/>
                </a:tc>
                <a:tc>
                  <a:txBody>
                    <a:bodyPr/>
                    <a:lstStyle/>
                    <a:p>
                      <a:pPr algn="ctr">
                        <a:defRPr sz="1800"/>
                      </a:pPr>
                      <a:r>
                        <a:rPr sz="1400" b="1"/>
                        <a:t>Research Gaps</a:t>
                      </a:r>
                    </a:p>
                  </a:txBody>
                  <a:tcPr marL="45720" marR="45720" horzOverflow="overflow"/>
                </a:tc>
                <a:extLst>
                  <a:ext uri="{0D108BD9-81ED-4DB2-BD59-A6C34878D82A}">
                    <a16:rowId xmlns:a16="http://schemas.microsoft.com/office/drawing/2014/main" val="10000"/>
                  </a:ext>
                </a:extLst>
              </a:tr>
              <a:tr h="1453928">
                <a:tc>
                  <a:txBody>
                    <a:bodyPr/>
                    <a:lstStyle/>
                    <a:p>
                      <a:pPr>
                        <a:defRPr sz="1800"/>
                      </a:pPr>
                      <a:r>
                        <a:rPr sz="1400"/>
                        <a:t>4.</a:t>
                      </a:r>
                    </a:p>
                  </a:txBody>
                  <a:tcPr marL="45720" marR="45720" horzOverflow="overflow"/>
                </a:tc>
                <a:tc>
                  <a:txBody>
                    <a:bodyPr/>
                    <a:lstStyle/>
                    <a:p>
                      <a:pPr indent="12700" algn="l">
                        <a:lnSpc>
                          <a:spcPct val="110000"/>
                        </a:lnSpc>
                        <a:defRPr sz="1200">
                          <a:latin typeface="Calibri"/>
                          <a:ea typeface="Calibri"/>
                          <a:cs typeface="Calibri"/>
                          <a:sym typeface="Calibri"/>
                        </a:defRPr>
                      </a:pPr>
                      <a:r>
                        <a:t>Visualization</a:t>
                      </a:r>
                      <a:r>
                        <a:rPr>
                          <a:latin typeface="Times New Roman"/>
                          <a:ea typeface="Times New Roman"/>
                          <a:cs typeface="Times New Roman"/>
                          <a:sym typeface="Times New Roman"/>
                        </a:rPr>
                        <a:t> </a:t>
                      </a:r>
                      <a:r>
                        <a:t>as</a:t>
                      </a:r>
                      <a:r>
                        <a:rPr>
                          <a:latin typeface="Times New Roman"/>
                          <a:ea typeface="Times New Roman"/>
                          <a:cs typeface="Times New Roman"/>
                          <a:sym typeface="Times New Roman"/>
                        </a:rPr>
                        <a:t> </a:t>
                      </a:r>
                      <a:r>
                        <a:t>a</a:t>
                      </a:r>
                      <a:r>
                        <a:rPr>
                          <a:latin typeface="Times New Roman"/>
                          <a:ea typeface="Times New Roman"/>
                          <a:cs typeface="Times New Roman"/>
                          <a:sym typeface="Times New Roman"/>
                        </a:rPr>
                        <a:t> </a:t>
                      </a:r>
                      <a:r>
                        <a:t>Tool</a:t>
                      </a:r>
                      <a:r>
                        <a:rPr>
                          <a:latin typeface="Times New Roman"/>
                          <a:ea typeface="Times New Roman"/>
                          <a:cs typeface="Times New Roman"/>
                          <a:sym typeface="Times New Roman"/>
                        </a:rPr>
                        <a:t> </a:t>
                      </a:r>
                      <a:r>
                        <a:t>to</a:t>
                      </a:r>
                      <a:r>
                        <a:rPr>
                          <a:latin typeface="Times New Roman"/>
                          <a:ea typeface="Times New Roman"/>
                          <a:cs typeface="Times New Roman"/>
                          <a:sym typeface="Times New Roman"/>
                        </a:rPr>
                        <a:t> </a:t>
                      </a:r>
                      <a:r>
                        <a:t>Understand</a:t>
                      </a:r>
                      <a:r>
                        <a:rPr>
                          <a:latin typeface="Times New Roman"/>
                          <a:ea typeface="Times New Roman"/>
                          <a:cs typeface="Times New Roman"/>
                          <a:sym typeface="Times New Roman"/>
                        </a:rPr>
                        <a:t> </a:t>
                      </a:r>
                      <a:r>
                        <a:t>the</a:t>
                      </a:r>
                      <a:r>
                        <a:rPr>
                          <a:latin typeface="Times New Roman"/>
                          <a:ea typeface="Times New Roman"/>
                          <a:cs typeface="Times New Roman"/>
                          <a:sym typeface="Times New Roman"/>
                        </a:rPr>
                        <a:t> </a:t>
                      </a:r>
                      <a:r>
                        <a:t>Experience</a:t>
                      </a:r>
                      <a:r>
                        <a:rPr>
                          <a:latin typeface="Times New Roman"/>
                          <a:ea typeface="Times New Roman"/>
                          <a:cs typeface="Times New Roman"/>
                          <a:sym typeface="Times New Roman"/>
                        </a:rPr>
                        <a:t> </a:t>
                      </a:r>
                      <a:r>
                        <a:t>of</a:t>
                      </a:r>
                      <a:r>
                        <a:rPr>
                          <a:latin typeface="Times New Roman"/>
                          <a:ea typeface="Times New Roman"/>
                          <a:cs typeface="Times New Roman"/>
                          <a:sym typeface="Times New Roman"/>
                        </a:rPr>
                        <a:t> </a:t>
                      </a:r>
                      <a:r>
                        <a:t>College</a:t>
                      </a:r>
                      <a:r>
                        <a:rPr>
                          <a:latin typeface="Times New Roman"/>
                          <a:ea typeface="Times New Roman"/>
                          <a:cs typeface="Times New Roman"/>
                          <a:sym typeface="Times New Roman"/>
                        </a:rPr>
                        <a:t> </a:t>
                      </a:r>
                      <a:r>
                        <a:t>Students</a:t>
                      </a:r>
                      <a:r>
                        <a:rPr>
                          <a:latin typeface="Times New Roman"/>
                          <a:ea typeface="Times New Roman"/>
                          <a:cs typeface="Times New Roman"/>
                          <a:sym typeface="Times New Roman"/>
                        </a:rPr>
                        <a:t> </a:t>
                      </a:r>
                      <a:r>
                        <a:t>with</a:t>
                      </a:r>
                      <a:r>
                        <a:rPr>
                          <a:latin typeface="Times New Roman"/>
                          <a:ea typeface="Times New Roman"/>
                          <a:cs typeface="Times New Roman"/>
                          <a:sym typeface="Times New Roman"/>
                        </a:rPr>
                        <a:t> </a:t>
                      </a:r>
                      <a:r>
                        <a:t>Autism</a:t>
                      </a:r>
                    </a:p>
                  </a:txBody>
                  <a:tcPr marL="45720" marR="45720" horzOverflow="overflow"/>
                </a:tc>
                <a:tc>
                  <a:txBody>
                    <a:bodyPr/>
                    <a:lstStyle/>
                    <a:p>
                      <a:pPr indent="12700" algn="l">
                        <a:spcBef>
                          <a:spcPts val="100"/>
                        </a:spcBef>
                        <a:defRPr sz="1200">
                          <a:latin typeface="Calibri"/>
                          <a:ea typeface="Calibri"/>
                          <a:cs typeface="Calibri"/>
                          <a:sym typeface="Calibri"/>
                        </a:defRPr>
                      </a:pPr>
                      <a:r>
                        <a:rPr>
                          <a:latin typeface="Times New Roman"/>
                          <a:ea typeface="Times New Roman"/>
                          <a:cs typeface="Times New Roman"/>
                          <a:sym typeface="Times New Roman"/>
                        </a:rPr>
                        <a:t>McC</a:t>
                      </a:r>
                      <a:r>
                        <a:t>ulloch</a:t>
                      </a:r>
                      <a:r>
                        <a:rPr>
                          <a:latin typeface="Times New Roman"/>
                          <a:ea typeface="Times New Roman"/>
                          <a:cs typeface="Times New Roman"/>
                          <a:sym typeface="Times New Roman"/>
                        </a:rPr>
                        <a:t>  </a:t>
                      </a:r>
                      <a:r>
                        <a:t>et.al</a:t>
                      </a:r>
                    </a:p>
                  </a:txBody>
                  <a:tcPr marL="45720" marR="45720" horzOverflow="overflow"/>
                </a:tc>
                <a:tc>
                  <a:txBody>
                    <a:bodyPr/>
                    <a:lstStyle/>
                    <a:p>
                      <a:pPr indent="12700" algn="l">
                        <a:lnSpc>
                          <a:spcPct val="110000"/>
                        </a:lnSpc>
                        <a:defRPr sz="1200">
                          <a:latin typeface="Calibri"/>
                          <a:ea typeface="Calibri"/>
                          <a:cs typeface="Calibri"/>
                          <a:sym typeface="Calibri"/>
                        </a:defRPr>
                      </a:pPr>
                      <a:r>
                        <a:t> The</a:t>
                      </a:r>
                      <a:r>
                        <a:rPr>
                          <a:latin typeface="Times New Roman"/>
                          <a:ea typeface="Times New Roman"/>
                          <a:cs typeface="Times New Roman"/>
                          <a:sym typeface="Times New Roman"/>
                        </a:rPr>
                        <a:t> </a:t>
                      </a:r>
                      <a:r>
                        <a:t>study</a:t>
                      </a:r>
                      <a:r>
                        <a:rPr>
                          <a:latin typeface="Times New Roman"/>
                          <a:ea typeface="Times New Roman"/>
                          <a:cs typeface="Times New Roman"/>
                          <a:sym typeface="Times New Roman"/>
                        </a:rPr>
                        <a:t> </a:t>
                      </a:r>
                      <a:r>
                        <a:t>explores</a:t>
                      </a:r>
                      <a:r>
                        <a:rPr>
                          <a:latin typeface="Times New Roman"/>
                          <a:ea typeface="Times New Roman"/>
                          <a:cs typeface="Times New Roman"/>
                          <a:sym typeface="Times New Roman"/>
                        </a:rPr>
                        <a:t> </a:t>
                      </a:r>
                      <a:r>
                        <a:rPr b="1"/>
                        <a:t>visualization</a:t>
                      </a:r>
                      <a:r>
                        <a:rPr b="1">
                          <a:latin typeface="Times New Roman"/>
                          <a:ea typeface="Times New Roman"/>
                          <a:cs typeface="Times New Roman"/>
                          <a:sym typeface="Times New Roman"/>
                        </a:rPr>
                        <a:t> </a:t>
                      </a:r>
                      <a:r>
                        <a:rPr b="1"/>
                        <a:t>techniques</a:t>
                      </a:r>
                      <a:r>
                        <a:rPr b="1">
                          <a:latin typeface="Times New Roman"/>
                          <a:ea typeface="Times New Roman"/>
                          <a:cs typeface="Times New Roman"/>
                          <a:sym typeface="Times New Roman"/>
                        </a:rPr>
                        <a:t> </a:t>
                      </a:r>
                      <a:r>
                        <a:t>to</a:t>
                      </a:r>
                      <a:r>
                        <a:rPr>
                          <a:latin typeface="Times New Roman"/>
                          <a:ea typeface="Times New Roman"/>
                          <a:cs typeface="Times New Roman"/>
                          <a:sym typeface="Times New Roman"/>
                        </a:rPr>
                        <a:t> </a:t>
                      </a:r>
                      <a:r>
                        <a:t>understand</a:t>
                      </a:r>
                      <a:r>
                        <a:rPr>
                          <a:latin typeface="Times New Roman"/>
                          <a:ea typeface="Times New Roman"/>
                          <a:cs typeface="Times New Roman"/>
                          <a:sym typeface="Times New Roman"/>
                        </a:rPr>
                        <a:t> </a:t>
                      </a:r>
                      <a:r>
                        <a:t>challenges</a:t>
                      </a:r>
                      <a:r>
                        <a:rPr>
                          <a:latin typeface="Times New Roman"/>
                          <a:ea typeface="Times New Roman"/>
                          <a:cs typeface="Times New Roman"/>
                          <a:sym typeface="Times New Roman"/>
                        </a:rPr>
                        <a:t> </a:t>
                      </a:r>
                      <a:r>
                        <a:t>faced</a:t>
                      </a:r>
                      <a:r>
                        <a:rPr>
                          <a:latin typeface="Times New Roman"/>
                          <a:ea typeface="Times New Roman"/>
                          <a:cs typeface="Times New Roman"/>
                          <a:sym typeface="Times New Roman"/>
                        </a:rPr>
                        <a:t> </a:t>
                      </a:r>
                      <a:r>
                        <a:t>by</a:t>
                      </a:r>
                      <a:r>
                        <a:rPr>
                          <a:latin typeface="Times New Roman"/>
                          <a:ea typeface="Times New Roman"/>
                          <a:cs typeface="Times New Roman"/>
                          <a:sym typeface="Times New Roman"/>
                        </a:rPr>
                        <a:t> </a:t>
                      </a:r>
                      <a:r>
                        <a:rPr b="1"/>
                        <a:t>college</a:t>
                      </a:r>
                      <a:r>
                        <a:rPr b="1">
                          <a:latin typeface="Times New Roman"/>
                          <a:ea typeface="Times New Roman"/>
                          <a:cs typeface="Times New Roman"/>
                          <a:sym typeface="Times New Roman"/>
                        </a:rPr>
                        <a:t> </a:t>
                      </a:r>
                      <a:r>
                        <a:rPr b="1"/>
                        <a:t>students</a:t>
                      </a:r>
                      <a:r>
                        <a:rPr b="1">
                          <a:latin typeface="Times New Roman"/>
                          <a:ea typeface="Times New Roman"/>
                          <a:cs typeface="Times New Roman"/>
                          <a:sym typeface="Times New Roman"/>
                        </a:rPr>
                        <a:t> </a:t>
                      </a:r>
                      <a:r>
                        <a:rPr b="1"/>
                        <a:t>with</a:t>
                      </a:r>
                      <a:r>
                        <a:rPr b="1">
                          <a:latin typeface="Times New Roman"/>
                          <a:ea typeface="Times New Roman"/>
                          <a:cs typeface="Times New Roman"/>
                          <a:sym typeface="Times New Roman"/>
                        </a:rPr>
                        <a:t> </a:t>
                      </a:r>
                      <a:r>
                        <a:rPr b="1"/>
                        <a:t>autism</a:t>
                      </a:r>
                      <a:r>
                        <a:t>,</a:t>
                      </a:r>
                      <a:r>
                        <a:rPr>
                          <a:latin typeface="Times New Roman"/>
                          <a:ea typeface="Times New Roman"/>
                          <a:cs typeface="Times New Roman"/>
                          <a:sym typeface="Times New Roman"/>
                        </a:rPr>
                        <a:t> </a:t>
                      </a:r>
                      <a:r>
                        <a:t>emphasizing</a:t>
                      </a:r>
                      <a:r>
                        <a:rPr>
                          <a:latin typeface="Times New Roman"/>
                          <a:ea typeface="Times New Roman"/>
                          <a:cs typeface="Times New Roman"/>
                          <a:sym typeface="Times New Roman"/>
                        </a:rPr>
                        <a:t> </a:t>
                      </a:r>
                      <a:r>
                        <a:t>their</a:t>
                      </a:r>
                      <a:r>
                        <a:rPr>
                          <a:latin typeface="Times New Roman"/>
                          <a:ea typeface="Times New Roman"/>
                          <a:cs typeface="Times New Roman"/>
                          <a:sym typeface="Times New Roman"/>
                        </a:rPr>
                        <a:t> </a:t>
                      </a:r>
                      <a:r>
                        <a:t>role</a:t>
                      </a:r>
                      <a:r>
                        <a:rPr>
                          <a:latin typeface="Times New Roman"/>
                          <a:ea typeface="Times New Roman"/>
                          <a:cs typeface="Times New Roman"/>
                          <a:sym typeface="Times New Roman"/>
                        </a:rPr>
                        <a:t> </a:t>
                      </a:r>
                      <a:r>
                        <a:t>in</a:t>
                      </a:r>
                      <a:r>
                        <a:rPr>
                          <a:latin typeface="Times New Roman"/>
                          <a:ea typeface="Times New Roman"/>
                          <a:cs typeface="Times New Roman"/>
                          <a:sym typeface="Times New Roman"/>
                        </a:rPr>
                        <a:t> </a:t>
                      </a:r>
                      <a:r>
                        <a:t>improving</a:t>
                      </a:r>
                      <a:r>
                        <a:rPr>
                          <a:latin typeface="Times New Roman"/>
                          <a:ea typeface="Times New Roman"/>
                          <a:cs typeface="Times New Roman"/>
                          <a:sym typeface="Times New Roman"/>
                        </a:rPr>
                        <a:t> </a:t>
                      </a:r>
                      <a:r>
                        <a:t>support</a:t>
                      </a:r>
                      <a:r>
                        <a:rPr>
                          <a:latin typeface="Times New Roman"/>
                          <a:ea typeface="Times New Roman"/>
                          <a:cs typeface="Times New Roman"/>
                          <a:sym typeface="Times New Roman"/>
                        </a:rPr>
                        <a:t> </a:t>
                      </a:r>
                      <a:r>
                        <a:t>systems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accessibility.</a:t>
                      </a:r>
                    </a:p>
                  </a:txBody>
                  <a:tcPr marL="45720" marR="45720" horzOverflow="overflow"/>
                </a:tc>
                <a:tc>
                  <a:txBody>
                    <a:bodyPr/>
                    <a:lstStyle/>
                    <a:p>
                      <a:pPr indent="12700" algn="l">
                        <a:defRPr sz="1200">
                          <a:latin typeface="Calibri"/>
                          <a:ea typeface="Calibri"/>
                          <a:cs typeface="Calibri"/>
                          <a:sym typeface="Calibri"/>
                        </a:defRPr>
                      </a:pPr>
                      <a:r>
                        <a:t>However,</a:t>
                      </a:r>
                      <a:r>
                        <a:rPr>
                          <a:latin typeface="Times New Roman"/>
                          <a:ea typeface="Times New Roman"/>
                          <a:cs typeface="Times New Roman"/>
                          <a:sym typeface="Times New Roman"/>
                        </a:rPr>
                        <a:t> </a:t>
                      </a:r>
                      <a:r>
                        <a:t>it</a:t>
                      </a:r>
                      <a:r>
                        <a:rPr>
                          <a:latin typeface="Times New Roman"/>
                          <a:ea typeface="Times New Roman"/>
                          <a:cs typeface="Times New Roman"/>
                          <a:sym typeface="Times New Roman"/>
                        </a:rPr>
                        <a:t> </a:t>
                      </a:r>
                      <a:r>
                        <a:t>lacks</a:t>
                      </a:r>
                      <a:r>
                        <a:rPr>
                          <a:latin typeface="Times New Roman"/>
                          <a:ea typeface="Times New Roman"/>
                          <a:cs typeface="Times New Roman"/>
                          <a:sym typeface="Times New Roman"/>
                        </a:rPr>
                        <a:t> </a:t>
                      </a:r>
                      <a:r>
                        <a:t>student</a:t>
                      </a:r>
                      <a:r>
                        <a:rPr>
                          <a:latin typeface="Times New Roman"/>
                          <a:ea typeface="Times New Roman"/>
                          <a:cs typeface="Times New Roman"/>
                          <a:sym typeface="Times New Roman"/>
                        </a:rPr>
                        <a:t> </a:t>
                      </a:r>
                      <a:r>
                        <a:t>input,</a:t>
                      </a:r>
                      <a:r>
                        <a:rPr>
                          <a:latin typeface="Times New Roman"/>
                          <a:ea typeface="Times New Roman"/>
                          <a:cs typeface="Times New Roman"/>
                          <a:sym typeface="Times New Roman"/>
                        </a:rPr>
                        <a:t> </a:t>
                      </a:r>
                      <a:r>
                        <a:t>long-term</a:t>
                      </a:r>
                      <a:r>
                        <a:rPr>
                          <a:latin typeface="Times New Roman"/>
                          <a:ea typeface="Times New Roman"/>
                          <a:cs typeface="Times New Roman"/>
                          <a:sym typeface="Times New Roman"/>
                        </a:rPr>
                        <a:t> </a:t>
                      </a:r>
                      <a:r>
                        <a:t>impact</a:t>
                      </a:r>
                      <a:r>
                        <a:rPr>
                          <a:latin typeface="Times New Roman"/>
                          <a:ea typeface="Times New Roman"/>
                          <a:cs typeface="Times New Roman"/>
                          <a:sym typeface="Times New Roman"/>
                        </a:rPr>
                        <a:t> </a:t>
                      </a:r>
                      <a:r>
                        <a:t>analysis,</a:t>
                      </a:r>
                      <a:r>
                        <a:rPr>
                          <a:latin typeface="Times New Roman"/>
                          <a:ea typeface="Times New Roman"/>
                          <a:cs typeface="Times New Roman"/>
                          <a:sym typeface="Times New Roman"/>
                        </a:rPr>
                        <a:t> </a:t>
                      </a:r>
                      <a:r>
                        <a:t>scalability</a:t>
                      </a:r>
                      <a:r>
                        <a:rPr b="1">
                          <a:latin typeface="Times New Roman"/>
                          <a:ea typeface="Times New Roman"/>
                          <a:cs typeface="Times New Roman"/>
                          <a:sym typeface="Times New Roman"/>
                        </a:rPr>
                        <a:t> </a:t>
                      </a:r>
                      <a:r>
                        <a:t>insights,</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real-</a:t>
                      </a:r>
                      <a:r>
                        <a:rPr>
                          <a:latin typeface="Times New Roman"/>
                          <a:ea typeface="Times New Roman"/>
                          <a:cs typeface="Times New Roman"/>
                          <a:sym typeface="Times New Roman"/>
                        </a:rPr>
                        <a:t> </a:t>
                      </a:r>
                      <a:r>
                        <a:t>world</a:t>
                      </a:r>
                      <a:r>
                        <a:rPr>
                          <a:latin typeface="Times New Roman"/>
                          <a:ea typeface="Times New Roman"/>
                          <a:cs typeface="Times New Roman"/>
                          <a:sym typeface="Times New Roman"/>
                        </a:rPr>
                        <a:t> </a:t>
                      </a:r>
                      <a:r>
                        <a:t>implementation</a:t>
                      </a:r>
                      <a:r>
                        <a:rPr>
                          <a:latin typeface="Times New Roman"/>
                          <a:ea typeface="Times New Roman"/>
                          <a:cs typeface="Times New Roman"/>
                          <a:sym typeface="Times New Roman"/>
                        </a:rPr>
                        <a:t> </a:t>
                      </a:r>
                      <a:r>
                        <a:t>details,</a:t>
                      </a:r>
                      <a:r>
                        <a:rPr>
                          <a:latin typeface="Times New Roman"/>
                          <a:ea typeface="Times New Roman"/>
                          <a:cs typeface="Times New Roman"/>
                          <a:sym typeface="Times New Roman"/>
                        </a:rPr>
                        <a:t> </a:t>
                      </a:r>
                      <a:r>
                        <a:t>limiting</a:t>
                      </a:r>
                      <a:r>
                        <a:rPr>
                          <a:latin typeface="Times New Roman"/>
                          <a:ea typeface="Times New Roman"/>
                          <a:cs typeface="Times New Roman"/>
                          <a:sym typeface="Times New Roman"/>
                        </a:rPr>
                        <a:t> </a:t>
                      </a:r>
                      <a:r>
                        <a:t>its</a:t>
                      </a:r>
                      <a:r>
                        <a:rPr>
                          <a:latin typeface="Times New Roman"/>
                          <a:ea typeface="Times New Roman"/>
                          <a:cs typeface="Times New Roman"/>
                          <a:sym typeface="Times New Roman"/>
                        </a:rPr>
                        <a:t> </a:t>
                      </a:r>
                      <a:r>
                        <a:t>generalizability</a:t>
                      </a:r>
                      <a:r>
                        <a:rPr>
                          <a:latin typeface="Times New Roman"/>
                          <a:ea typeface="Times New Roman"/>
                          <a:cs typeface="Times New Roman"/>
                          <a:sym typeface="Times New Roman"/>
                        </a:rPr>
                        <a:t> </a:t>
                      </a:r>
                      <a:r>
                        <a:t>and</a:t>
                      </a:r>
                      <a:r>
                        <a:rPr>
                          <a:latin typeface="Times New Roman"/>
                          <a:ea typeface="Times New Roman"/>
                          <a:cs typeface="Times New Roman"/>
                          <a:sym typeface="Times New Roman"/>
                        </a:rPr>
                        <a:t> </a:t>
                      </a:r>
                      <a:r>
                        <a:t>practical</a:t>
                      </a:r>
                      <a:r>
                        <a:rPr>
                          <a:latin typeface="Times New Roman"/>
                          <a:ea typeface="Times New Roman"/>
                          <a:cs typeface="Times New Roman"/>
                          <a:sym typeface="Times New Roman"/>
                        </a:rPr>
                        <a:t> </a:t>
                      </a:r>
                      <a:r>
                        <a:t>application.</a:t>
                      </a:r>
                    </a:p>
                  </a:txBody>
                  <a:tcPr marL="45720" marR="45720" horzOverflow="overflow"/>
                </a:tc>
                <a:extLst>
                  <a:ext uri="{0D108BD9-81ED-4DB2-BD59-A6C34878D82A}">
                    <a16:rowId xmlns:a16="http://schemas.microsoft.com/office/drawing/2014/main" val="10001"/>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7</a:t>
            </a:fld>
            <a:endParaRPr/>
          </a:p>
        </p:txBody>
      </p:sp>
      <p:grpSp>
        <p:nvGrpSpPr>
          <p:cNvPr id="177" name="Rectangle"/>
          <p:cNvGrpSpPr/>
          <p:nvPr/>
        </p:nvGrpSpPr>
        <p:grpSpPr>
          <a:xfrm>
            <a:off x="1295400" y="290297"/>
            <a:ext cx="6858000" cy="486206"/>
            <a:chOff x="0" y="0"/>
            <a:chExt cx="6858000" cy="486204"/>
          </a:xfrm>
        </p:grpSpPr>
        <p:sp>
          <p:nvSpPr>
            <p:cNvPr id="175"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76" name="PROBLEM STATEMENT"/>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PROBLEM STATEMENT</a:t>
              </a:r>
            </a:p>
          </p:txBody>
        </p:sp>
      </p:grpSp>
      <p:sp>
        <p:nvSpPr>
          <p:cNvPr id="178" name="TextBox 3"/>
          <p:cNvSpPr txBox="1"/>
          <p:nvPr/>
        </p:nvSpPr>
        <p:spPr>
          <a:xfrm>
            <a:off x="746449" y="2136338"/>
            <a:ext cx="7661127" cy="2047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just">
              <a:defRPr sz="1800">
                <a:latin typeface="Segoe UI"/>
                <a:ea typeface="Segoe UI"/>
                <a:cs typeface="Segoe UI"/>
                <a:sym typeface="Segoe UI"/>
              </a:defRPr>
            </a:lvl1pPr>
          </a:lstStyle>
          <a:p>
            <a:r>
              <a:t>There is no centralized, interactive platform for students to engage with alumni for career advice, mentorship, and professional networking. Existing systems are static, outdated, and not scalable.There is no centralized, interactive platform for students to engage with alumni for career advice, mentorship, and professional networking. Existing systems are static, outdated, and not scalable.</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Rectangle">
            <a:extLst>
              <a:ext uri="{FF2B5EF4-FFF2-40B4-BE49-F238E27FC236}">
                <a16:creationId xmlns:a16="http://schemas.microsoft.com/office/drawing/2014/main" id="{6F3A67BC-98B8-4613-866A-2816D6F1B511}"/>
              </a:ext>
            </a:extLst>
          </p:cNvPr>
          <p:cNvGrpSpPr/>
          <p:nvPr/>
        </p:nvGrpSpPr>
        <p:grpSpPr>
          <a:xfrm>
            <a:off x="1267119" y="318578"/>
            <a:ext cx="6858000" cy="486206"/>
            <a:chOff x="0" y="0"/>
            <a:chExt cx="6858000" cy="486204"/>
          </a:xfrm>
        </p:grpSpPr>
        <p:sp>
          <p:nvSpPr>
            <p:cNvPr id="4" name="Rectangle">
              <a:extLst>
                <a:ext uri="{FF2B5EF4-FFF2-40B4-BE49-F238E27FC236}">
                  <a16:creationId xmlns:a16="http://schemas.microsoft.com/office/drawing/2014/main" id="{25FDD4B9-8E02-4DF6-9FEC-4FC5706D24E7}"/>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5" name="METHODOLOGY">
              <a:extLst>
                <a:ext uri="{FF2B5EF4-FFF2-40B4-BE49-F238E27FC236}">
                  <a16:creationId xmlns:a16="http://schemas.microsoft.com/office/drawing/2014/main" id="{E6CED572-819C-40E0-94C8-72CCBB76C898}"/>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dirty="0"/>
                <a:t>METHODOLOGY</a:t>
              </a:r>
            </a:p>
          </p:txBody>
        </p:sp>
      </p:grpSp>
      <p:sp>
        <p:nvSpPr>
          <p:cNvPr id="6" name="TextBox 5">
            <a:extLst>
              <a:ext uri="{FF2B5EF4-FFF2-40B4-BE49-F238E27FC236}">
                <a16:creationId xmlns:a16="http://schemas.microsoft.com/office/drawing/2014/main" id="{7B09A966-AB84-47FD-ACBD-EC0F6859592A}"/>
              </a:ext>
            </a:extLst>
          </p:cNvPr>
          <p:cNvSpPr txBox="1"/>
          <p:nvPr/>
        </p:nvSpPr>
        <p:spPr>
          <a:xfrm>
            <a:off x="518474" y="1456080"/>
            <a:ext cx="8107052" cy="43627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100" b="1" i="0" u="none" strike="noStrike" cap="none" spc="0" normalizeH="0" baseline="0" dirty="0">
                <a:ln>
                  <a:noFill/>
                </a:ln>
                <a:solidFill>
                  <a:srgbClr val="000000"/>
                </a:solidFill>
                <a:effectLst/>
                <a:uFillTx/>
                <a:latin typeface="+mn-lt"/>
                <a:ea typeface="+mn-ea"/>
                <a:cs typeface="+mn-cs"/>
                <a:sym typeface="Arial"/>
              </a:rPr>
              <a:t>Agile:</a:t>
            </a:r>
          </a:p>
          <a:p>
            <a:pPr>
              <a:lnSpc>
                <a:spcPct val="150000"/>
              </a:lnSpc>
            </a:pPr>
            <a:r>
              <a:rPr lang="en-US" sz="1900" dirty="0">
                <a:latin typeface="Times New Roman"/>
                <a:cs typeface="Times New Roman"/>
              </a:rPr>
              <a:t>We have chosen the Agile </a:t>
            </a:r>
            <a:r>
              <a:rPr lang="en-US" sz="1900" dirty="0">
                <a:latin typeface="Georgia"/>
                <a:cs typeface="Times New Roman"/>
              </a:rPr>
              <a:t>methodology (Kanban) for the development of this project.</a:t>
            </a:r>
            <a:endParaRPr lang="en-US" sz="1900" dirty="0"/>
          </a:p>
          <a:p>
            <a:pPr>
              <a:lnSpc>
                <a:spcPct val="150000"/>
              </a:lnSpc>
            </a:pPr>
            <a:r>
              <a:rPr lang="en-US" sz="1900" dirty="0">
                <a:latin typeface="Helvetica"/>
                <a:cs typeface="Times New Roman"/>
              </a:rPr>
              <a:t>Justification:</a:t>
            </a:r>
          </a:p>
          <a:p>
            <a:pPr marL="342900" indent="-342900">
              <a:lnSpc>
                <a:spcPct val="150000"/>
              </a:lnSpc>
            </a:pPr>
            <a:r>
              <a:rPr lang="en-US" sz="1900" dirty="0">
                <a:latin typeface="Times New Roman"/>
                <a:cs typeface="Times New Roman"/>
              </a:rPr>
              <a:t>1. Visual Workflow Management: Helps in tracking progress through different task stages.</a:t>
            </a:r>
          </a:p>
          <a:p>
            <a:pPr marL="342900" indent="-342900">
              <a:lnSpc>
                <a:spcPct val="150000"/>
              </a:lnSpc>
            </a:pPr>
            <a:r>
              <a:rPr lang="en-US" sz="1900" dirty="0">
                <a:latin typeface="Times New Roman"/>
                <a:cs typeface="Times New Roman"/>
              </a:rPr>
              <a:t>2. Continuous Delivery: Supports iterative development with real-time updates.</a:t>
            </a:r>
          </a:p>
          <a:p>
            <a:pPr marL="342900" indent="-342900">
              <a:lnSpc>
                <a:spcPct val="150000"/>
              </a:lnSpc>
            </a:pPr>
            <a:r>
              <a:rPr lang="en-US" sz="1900" dirty="0">
                <a:latin typeface="Times New Roman"/>
                <a:cs typeface="Times New Roman"/>
              </a:rPr>
              <a:t>3. Flexible &amp; Adaptable: Easy to incorporate feedback and evolving requirements.</a:t>
            </a:r>
          </a:p>
          <a:p>
            <a:pPr marL="342900" indent="-342900">
              <a:lnSpc>
                <a:spcPct val="150000"/>
              </a:lnSpc>
            </a:pPr>
            <a:r>
              <a:rPr lang="en-US" sz="1900" dirty="0">
                <a:latin typeface="Times New Roman"/>
                <a:cs typeface="Times New Roman"/>
              </a:rPr>
              <a:t>4. Less Restrictive: No fixed sprints, making it suitable for ongoing project improvements.</a:t>
            </a:r>
            <a:r>
              <a:rPr kumimoji="0" lang="en-US" sz="1900" b="1" i="0" u="none" strike="noStrike" cap="none" spc="0" normalizeH="0" baseline="0" dirty="0">
                <a:ln>
                  <a:noFill/>
                </a:ln>
                <a:solidFill>
                  <a:srgbClr val="000000"/>
                </a:solidFill>
                <a:effectLst/>
                <a:uFillTx/>
                <a:latin typeface="+mn-lt"/>
                <a:ea typeface="+mn-ea"/>
                <a:cs typeface="+mn-cs"/>
                <a:sym typeface="Arial"/>
              </a:rPr>
              <a:t> </a:t>
            </a:r>
            <a:endParaRPr kumimoji="0" lang="en-IN" sz="1900" b="1" i="0" u="none" strike="noStrike" cap="none" spc="0" normalizeH="0" baseline="0" dirty="0">
              <a:ln>
                <a:noFill/>
              </a:ln>
              <a:solidFill>
                <a:srgbClr val="000000"/>
              </a:solidFill>
              <a:effectLst/>
              <a:uFillTx/>
              <a:latin typeface="+mn-lt"/>
              <a:ea typeface="+mn-ea"/>
              <a:cs typeface="+mn-cs"/>
              <a:sym typeface="Arial"/>
            </a:endParaRPr>
          </a:p>
        </p:txBody>
      </p:sp>
    </p:spTree>
    <p:extLst>
      <p:ext uri="{BB962C8B-B14F-4D97-AF65-F5344CB8AC3E}">
        <p14:creationId xmlns:p14="http://schemas.microsoft.com/office/powerpoint/2010/main" val="152203237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443AA-F3EC-4B87-983E-D5F63BC9AE07}"/>
              </a:ext>
            </a:extLst>
          </p:cNvPr>
          <p:cNvSpPr>
            <a:spLocks noGrp="1"/>
          </p:cNvSpPr>
          <p:nvPr>
            <p:ph type="title"/>
          </p:nvPr>
        </p:nvSpPr>
        <p:spPr>
          <a:xfrm>
            <a:off x="-2408549" y="808106"/>
            <a:ext cx="8229600" cy="1508126"/>
          </a:xfrm>
        </p:spPr>
        <p:txBody>
          <a:bodyPr/>
          <a:lstStyle/>
          <a:p>
            <a:r>
              <a:rPr lang="en-US" dirty="0"/>
              <a:t>User Story:</a:t>
            </a:r>
            <a:endParaRPr lang="en-IN" dirty="0"/>
          </a:p>
        </p:txBody>
      </p:sp>
      <p:sp>
        <p:nvSpPr>
          <p:cNvPr id="3" name="Rectangle 2">
            <a:extLst>
              <a:ext uri="{FF2B5EF4-FFF2-40B4-BE49-F238E27FC236}">
                <a16:creationId xmlns:a16="http://schemas.microsoft.com/office/drawing/2014/main" id="{F5653763-6559-4576-A4AD-B93D67C6DB4D}"/>
              </a:ext>
            </a:extLst>
          </p:cNvPr>
          <p:cNvSpPr/>
          <p:nvPr/>
        </p:nvSpPr>
        <p:spPr>
          <a:xfrm>
            <a:off x="527900" y="2146955"/>
            <a:ext cx="8229599" cy="338554"/>
          </a:xfrm>
          <a:prstGeom prst="rect">
            <a:avLst/>
          </a:prstGeom>
        </p:spPr>
        <p:txBody>
          <a:bodyPr wrap="square">
            <a:spAutoFit/>
          </a:bodyPr>
          <a:lstStyle/>
          <a:p>
            <a:endParaRPr lang="en-IN" sz="1600" dirty="0"/>
          </a:p>
        </p:txBody>
      </p:sp>
      <p:sp>
        <p:nvSpPr>
          <p:cNvPr id="5" name="Rectangle 4">
            <a:extLst>
              <a:ext uri="{FF2B5EF4-FFF2-40B4-BE49-F238E27FC236}">
                <a16:creationId xmlns:a16="http://schemas.microsoft.com/office/drawing/2014/main" id="{5C8C84F5-3B06-46F0-B768-918C2BC18599}"/>
              </a:ext>
            </a:extLst>
          </p:cNvPr>
          <p:cNvSpPr/>
          <p:nvPr/>
        </p:nvSpPr>
        <p:spPr>
          <a:xfrm>
            <a:off x="492549" y="1841140"/>
            <a:ext cx="8300299" cy="3970318"/>
          </a:xfrm>
          <a:prstGeom prst="rect">
            <a:avLst/>
          </a:prstGeom>
        </p:spPr>
        <p:txBody>
          <a:bodyPr wrap="square">
            <a:spAutoFit/>
          </a:bodyPr>
          <a:lstStyle/>
          <a:p>
            <a:r>
              <a:rPr lang="en-IN" sz="1800" dirty="0"/>
              <a:t>The alumni networking site allows students, faculty, and alumni to connect, collaborate, and expand their professional networks. Users register with their college email or LinkedIn, build comprehensive profiles, and establish event and mentorship preferences. Students and faculty can find and connect with alumni through a swipe-based matching system based on common backgrounds, career aspirations, or geographic locations. Alumni create availability for networking and mentoring, while administrators mediate connections and control privacy settings. Users are allowed to exchange direct messages, send out connection requests, and view recommendations for events based on their interest in their professional fields. Students and club owners can also browse through alumni in their respective clubs and invite them for a speech or mentoring. College administrators can monitor alumni information for placement, networking, and institutional partnerships, providing a complete and efficient career development platform for all stakeholders.</a:t>
            </a:r>
          </a:p>
        </p:txBody>
      </p:sp>
      <p:grpSp>
        <p:nvGrpSpPr>
          <p:cNvPr id="6" name="Rectangle">
            <a:extLst>
              <a:ext uri="{FF2B5EF4-FFF2-40B4-BE49-F238E27FC236}">
                <a16:creationId xmlns:a16="http://schemas.microsoft.com/office/drawing/2014/main" id="{BCFB9113-A8E6-4906-8622-F9BC29C24F04}"/>
              </a:ext>
            </a:extLst>
          </p:cNvPr>
          <p:cNvGrpSpPr/>
          <p:nvPr/>
        </p:nvGrpSpPr>
        <p:grpSpPr>
          <a:xfrm>
            <a:off x="1267119" y="318578"/>
            <a:ext cx="6858000" cy="486206"/>
            <a:chOff x="0" y="0"/>
            <a:chExt cx="6858000" cy="486204"/>
          </a:xfrm>
        </p:grpSpPr>
        <p:sp>
          <p:nvSpPr>
            <p:cNvPr id="7" name="Rectangle">
              <a:extLst>
                <a:ext uri="{FF2B5EF4-FFF2-40B4-BE49-F238E27FC236}">
                  <a16:creationId xmlns:a16="http://schemas.microsoft.com/office/drawing/2014/main" id="{12B7D71A-E97A-4C0A-9E39-29702C3BB708}"/>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8" name="METHODOLOGY">
              <a:extLst>
                <a:ext uri="{FF2B5EF4-FFF2-40B4-BE49-F238E27FC236}">
                  <a16:creationId xmlns:a16="http://schemas.microsoft.com/office/drawing/2014/main" id="{948B508E-AFC0-4F9B-B95E-1E269AE55409}"/>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dirty="0"/>
                <a:t>METHODOLOGY</a:t>
              </a:r>
            </a:p>
          </p:txBody>
        </p:sp>
      </p:grpSp>
    </p:spTree>
    <p:extLst>
      <p:ext uri="{BB962C8B-B14F-4D97-AF65-F5344CB8AC3E}">
        <p14:creationId xmlns:p14="http://schemas.microsoft.com/office/powerpoint/2010/main" val="2004038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grpSp>
        <p:nvGrpSpPr>
          <p:cNvPr id="183" name="Rectangle"/>
          <p:cNvGrpSpPr/>
          <p:nvPr/>
        </p:nvGrpSpPr>
        <p:grpSpPr>
          <a:xfrm>
            <a:off x="1295400" y="290297"/>
            <a:ext cx="6858000" cy="486206"/>
            <a:chOff x="0" y="0"/>
            <a:chExt cx="6858000" cy="486204"/>
          </a:xfrm>
        </p:grpSpPr>
        <p:sp>
          <p:nvSpPr>
            <p:cNvPr id="18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82"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dirty="0"/>
                <a:t>METHODOLOGY</a:t>
              </a:r>
            </a:p>
          </p:txBody>
        </p:sp>
      </p:grpSp>
      <p:sp>
        <p:nvSpPr>
          <p:cNvPr id="184" name="TextBox 3"/>
          <p:cNvSpPr txBox="1"/>
          <p:nvPr/>
        </p:nvSpPr>
        <p:spPr>
          <a:xfrm>
            <a:off x="725864" y="1182679"/>
            <a:ext cx="7795967" cy="6109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p>
            <a:pPr algn="just">
              <a:defRPr sz="1800">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r>
              <a:rPr dirty="0"/>
              <a:t>System Requirements:</a:t>
            </a:r>
          </a:p>
          <a:p>
            <a:pPr algn="just">
              <a:buSzPct val="100000"/>
              <a:buFont typeface="Arial"/>
              <a:buChar char="•"/>
              <a:defRPr sz="1800" b="1">
                <a:latin typeface="Times New Roman"/>
                <a:ea typeface="Times New Roman"/>
                <a:cs typeface="Times New Roman"/>
                <a:sym typeface="Times New Roman"/>
              </a:defRPr>
            </a:pPr>
            <a:r>
              <a:rPr dirty="0"/>
              <a:t>Functional</a:t>
            </a:r>
            <a:r>
              <a:rPr b="0" dirty="0"/>
              <a:t>:</a:t>
            </a:r>
            <a:endParaRPr lang="en-US" b="0" dirty="0"/>
          </a:p>
          <a:p>
            <a:pPr algn="just">
              <a:buSzPct val="100000"/>
              <a:buFont typeface="Arial"/>
              <a:buChar char="•"/>
              <a:defRPr sz="1800" b="1">
                <a:latin typeface="Times New Roman"/>
                <a:ea typeface="Times New Roman"/>
                <a:cs typeface="Times New Roman"/>
                <a:sym typeface="Times New Roman"/>
              </a:defRPr>
            </a:pPr>
            <a:endParaRPr lang="en-IN" dirty="0"/>
          </a:p>
          <a:p>
            <a:pPr fontAlgn="base"/>
            <a:r>
              <a:rPr lang="en-US" sz="1700" b="1" dirty="0"/>
              <a:t>1. User Authentication &amp; Registration</a:t>
            </a:r>
            <a:r>
              <a:rPr lang="en-US" sz="1700" dirty="0"/>
              <a:t> </a:t>
            </a:r>
          </a:p>
          <a:p>
            <a:pPr fontAlgn="base"/>
            <a:r>
              <a:rPr lang="en-US" sz="1700" dirty="0"/>
              <a:t>a. Users and alumni can register using email and password. </a:t>
            </a:r>
          </a:p>
          <a:p>
            <a:pPr fontAlgn="base"/>
            <a:r>
              <a:rPr lang="en-US" sz="1700" dirty="0"/>
              <a:t>b. Passwords must be encrypted. </a:t>
            </a:r>
          </a:p>
          <a:p>
            <a:pPr fontAlgn="base"/>
            <a:r>
              <a:rPr lang="en-US" sz="1700" dirty="0"/>
              <a:t>c. Role-based access control (Users vs. Alumni).</a:t>
            </a:r>
          </a:p>
          <a:p>
            <a:pPr fontAlgn="base"/>
            <a:r>
              <a:rPr lang="en-US" sz="1700" dirty="0"/>
              <a:t> </a:t>
            </a:r>
          </a:p>
          <a:p>
            <a:pPr fontAlgn="base"/>
            <a:r>
              <a:rPr lang="en-US" sz="1700" b="1" dirty="0"/>
              <a:t>2. Profile Management</a:t>
            </a:r>
            <a:r>
              <a:rPr lang="en-US" sz="1700" dirty="0"/>
              <a:t> </a:t>
            </a:r>
          </a:p>
          <a:p>
            <a:pPr fontAlgn="base"/>
            <a:r>
              <a:rPr lang="en-US" sz="1700" dirty="0"/>
              <a:t>a. Users can edit their profile details (name, college info, interests). </a:t>
            </a:r>
          </a:p>
          <a:p>
            <a:pPr fontAlgn="base"/>
            <a:r>
              <a:rPr lang="en-US" sz="1700" dirty="0"/>
              <a:t>b. Alumni can update job title, hobbies, and professional details.</a:t>
            </a:r>
          </a:p>
          <a:p>
            <a:pPr fontAlgn="base"/>
            <a:r>
              <a:rPr lang="en-US" sz="1700" dirty="0"/>
              <a:t> </a:t>
            </a:r>
          </a:p>
          <a:p>
            <a:pPr fontAlgn="base"/>
            <a:r>
              <a:rPr lang="en-US" sz="1700" b="1" dirty="0"/>
              <a:t>3. Alumni Discovery (Tinder-Style Swiping &amp; Search)</a:t>
            </a:r>
            <a:r>
              <a:rPr lang="en-US" sz="1700" dirty="0"/>
              <a:t> </a:t>
            </a:r>
          </a:p>
          <a:p>
            <a:pPr fontAlgn="base"/>
            <a:r>
              <a:rPr lang="en-US" sz="1700" dirty="0"/>
              <a:t>a. Users can swipe left/right to explore alumni profiles. </a:t>
            </a:r>
          </a:p>
          <a:p>
            <a:pPr fontAlgn="base"/>
            <a:r>
              <a:rPr lang="en-US" sz="1700" dirty="0"/>
              <a:t>b. Swiping right allows users to view detailed profiles and send messages. </a:t>
            </a:r>
          </a:p>
          <a:p>
            <a:pPr fontAlgn="base"/>
            <a:r>
              <a:rPr lang="en-US" sz="1700" dirty="0"/>
              <a:t>c. Search functionality enables users to find alumni by name. </a:t>
            </a:r>
          </a:p>
          <a:p>
            <a:pPr fontAlgn="base"/>
            <a:br>
              <a:rPr dirty="0"/>
            </a:br>
            <a:br>
              <a:rPr dirty="0"/>
            </a:br>
            <a:br>
              <a:rPr dirty="0"/>
            </a:br>
            <a:br>
              <a:rPr dirty="0"/>
            </a:br>
            <a:br>
              <a:rPr dirty="0"/>
            </a:br>
            <a:br>
              <a:rPr dirty="0"/>
            </a:br>
            <a:endParaRPr dirty="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4B02-6881-4B52-9AF4-03220E6E139A}"/>
              </a:ext>
            </a:extLst>
          </p:cNvPr>
          <p:cNvSpPr>
            <a:spLocks noGrp="1"/>
          </p:cNvSpPr>
          <p:nvPr>
            <p:ph type="title"/>
          </p:nvPr>
        </p:nvSpPr>
        <p:spPr>
          <a:xfrm>
            <a:off x="457200" y="1404593"/>
            <a:ext cx="8229600" cy="4769963"/>
          </a:xfrm>
        </p:spPr>
        <p:txBody>
          <a:bodyPr>
            <a:normAutofit/>
          </a:bodyPr>
          <a:lstStyle/>
          <a:p>
            <a:pPr algn="l" fontAlgn="base"/>
            <a:r>
              <a:rPr lang="en-US" sz="1700" b="1" dirty="0"/>
              <a:t>4. Messaging &amp; Inbox System</a:t>
            </a:r>
            <a:r>
              <a:rPr lang="en-US" sz="1700" dirty="0"/>
              <a:t> </a:t>
            </a:r>
            <a:br>
              <a:rPr lang="en-US" sz="1700" dirty="0"/>
            </a:br>
            <a:r>
              <a:rPr lang="en-US" sz="1700" dirty="0"/>
              <a:t>a. Users can send and receive real-time messages. </a:t>
            </a:r>
            <a:br>
              <a:rPr lang="en-US" sz="1700" dirty="0"/>
            </a:br>
            <a:r>
              <a:rPr lang="en-US" sz="1700" dirty="0"/>
              <a:t>b. Messages are stored securely and accessible in an inbox. </a:t>
            </a:r>
            <a:br>
              <a:rPr lang="en-US" sz="1700" dirty="0"/>
            </a:br>
            <a:r>
              <a:rPr lang="en-US" sz="1700" dirty="0"/>
              <a:t>c. Alumni can reply only to matched users. </a:t>
            </a:r>
            <a:br>
              <a:rPr lang="en-US" sz="1700" dirty="0"/>
            </a:br>
            <a:br>
              <a:rPr lang="en-US" sz="1700" dirty="0"/>
            </a:br>
            <a:r>
              <a:rPr lang="en-US" sz="1700" b="1" dirty="0"/>
              <a:t>5. Event Announcements &amp; Help Page</a:t>
            </a:r>
            <a:r>
              <a:rPr lang="en-US" sz="1700" dirty="0"/>
              <a:t> </a:t>
            </a:r>
            <a:br>
              <a:rPr lang="en-US" sz="1700" dirty="0"/>
            </a:br>
            <a:r>
              <a:rPr lang="en-US" sz="1700" dirty="0"/>
              <a:t>a. Users can create event announcements that appear on alumni dashboards. </a:t>
            </a:r>
            <a:br>
              <a:rPr lang="en-US" sz="1700" dirty="0"/>
            </a:br>
            <a:r>
              <a:rPr lang="en-US" sz="1700" dirty="0"/>
              <a:t>b. Alumni can access a help page with special contacts for assistance. </a:t>
            </a:r>
            <a:br>
              <a:rPr lang="en-US" sz="1700" dirty="0"/>
            </a:br>
            <a:br>
              <a:rPr lang="en-US" sz="1700" dirty="0"/>
            </a:br>
            <a:r>
              <a:rPr lang="en-US" sz="1700" b="1" dirty="0"/>
              <a:t>6. Security Features</a:t>
            </a:r>
            <a:r>
              <a:rPr lang="en-US" sz="1700" dirty="0"/>
              <a:t> </a:t>
            </a:r>
            <a:br>
              <a:rPr lang="en-US" sz="1700" dirty="0"/>
            </a:br>
            <a:r>
              <a:rPr lang="en-US" sz="1700" dirty="0"/>
              <a:t>a. Unauthorized access to profiles is restricted. </a:t>
            </a:r>
            <a:br>
              <a:rPr lang="en-US" sz="1700" dirty="0"/>
            </a:br>
            <a:r>
              <a:rPr lang="en-US" sz="1700" dirty="0"/>
              <a:t>b. Data encryption ensures security. </a:t>
            </a:r>
            <a:br>
              <a:rPr lang="en-US" dirty="0"/>
            </a:br>
            <a:endParaRPr lang="en-IN" dirty="0"/>
          </a:p>
        </p:txBody>
      </p:sp>
      <p:grpSp>
        <p:nvGrpSpPr>
          <p:cNvPr id="3" name="Rectangle">
            <a:extLst>
              <a:ext uri="{FF2B5EF4-FFF2-40B4-BE49-F238E27FC236}">
                <a16:creationId xmlns:a16="http://schemas.microsoft.com/office/drawing/2014/main" id="{C5BB2A6F-6FB8-41BE-9272-F01493681AD8}"/>
              </a:ext>
            </a:extLst>
          </p:cNvPr>
          <p:cNvGrpSpPr/>
          <p:nvPr/>
        </p:nvGrpSpPr>
        <p:grpSpPr>
          <a:xfrm>
            <a:off x="1143000" y="337431"/>
            <a:ext cx="6858000" cy="486206"/>
            <a:chOff x="0" y="0"/>
            <a:chExt cx="6858000" cy="486204"/>
          </a:xfrm>
        </p:grpSpPr>
        <p:sp>
          <p:nvSpPr>
            <p:cNvPr id="4" name="Rectangle">
              <a:extLst>
                <a:ext uri="{FF2B5EF4-FFF2-40B4-BE49-F238E27FC236}">
                  <a16:creationId xmlns:a16="http://schemas.microsoft.com/office/drawing/2014/main" id="{E5D37548-AEB0-4752-A2CA-C1A60E843D26}"/>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5" name="METHODOLOGY">
              <a:extLst>
                <a:ext uri="{FF2B5EF4-FFF2-40B4-BE49-F238E27FC236}">
                  <a16:creationId xmlns:a16="http://schemas.microsoft.com/office/drawing/2014/main" id="{04B56B5D-6DCF-4080-AFEB-AA26B45472B3}"/>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dirty="0"/>
                <a:t>METHODOLOGY</a:t>
              </a:r>
            </a:p>
          </p:txBody>
        </p:sp>
      </p:grpSp>
      <p:grpSp>
        <p:nvGrpSpPr>
          <p:cNvPr id="6" name="Rectangle">
            <a:extLst>
              <a:ext uri="{FF2B5EF4-FFF2-40B4-BE49-F238E27FC236}">
                <a16:creationId xmlns:a16="http://schemas.microsoft.com/office/drawing/2014/main" id="{7D8140E0-9F85-48E4-9CA9-A1BD246014DA}"/>
              </a:ext>
            </a:extLst>
          </p:cNvPr>
          <p:cNvGrpSpPr/>
          <p:nvPr/>
        </p:nvGrpSpPr>
        <p:grpSpPr>
          <a:xfrm>
            <a:off x="1295400" y="290297"/>
            <a:ext cx="6858000" cy="486206"/>
            <a:chOff x="0" y="0"/>
            <a:chExt cx="6858000" cy="486204"/>
          </a:xfrm>
        </p:grpSpPr>
        <p:sp>
          <p:nvSpPr>
            <p:cNvPr id="7" name="Rectangle">
              <a:extLst>
                <a:ext uri="{FF2B5EF4-FFF2-40B4-BE49-F238E27FC236}">
                  <a16:creationId xmlns:a16="http://schemas.microsoft.com/office/drawing/2014/main" id="{7C0D3B5D-4978-417F-BA74-CC63551435F3}"/>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8" name="METHODOLOGY">
              <a:extLst>
                <a:ext uri="{FF2B5EF4-FFF2-40B4-BE49-F238E27FC236}">
                  <a16:creationId xmlns:a16="http://schemas.microsoft.com/office/drawing/2014/main" id="{B79EBE09-C19D-4AE5-BD33-46E92EB38CC4}"/>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dirty="0"/>
                <a:t>METHODOLOGY</a:t>
              </a:r>
            </a:p>
          </p:txBody>
        </p:sp>
      </p:grpSp>
    </p:spTree>
    <p:extLst>
      <p:ext uri="{BB962C8B-B14F-4D97-AF65-F5344CB8AC3E}">
        <p14:creationId xmlns:p14="http://schemas.microsoft.com/office/powerpoint/2010/main" val="7332650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Rectangle">
            <a:extLst>
              <a:ext uri="{FF2B5EF4-FFF2-40B4-BE49-F238E27FC236}">
                <a16:creationId xmlns:a16="http://schemas.microsoft.com/office/drawing/2014/main" id="{B496930F-494D-442F-8F80-7D9BCC611D74}"/>
              </a:ext>
            </a:extLst>
          </p:cNvPr>
          <p:cNvGrpSpPr/>
          <p:nvPr/>
        </p:nvGrpSpPr>
        <p:grpSpPr>
          <a:xfrm>
            <a:off x="918328" y="422272"/>
            <a:ext cx="6858000" cy="486206"/>
            <a:chOff x="0" y="0"/>
            <a:chExt cx="6858000" cy="486204"/>
          </a:xfrm>
        </p:grpSpPr>
        <p:sp>
          <p:nvSpPr>
            <p:cNvPr id="4" name="Rectangle">
              <a:extLst>
                <a:ext uri="{FF2B5EF4-FFF2-40B4-BE49-F238E27FC236}">
                  <a16:creationId xmlns:a16="http://schemas.microsoft.com/office/drawing/2014/main" id="{90C4EB6E-F986-447E-872E-B2D88853F3CD}"/>
                </a:ext>
              </a:extLst>
            </p:cNvPr>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5" name="METHODOLOGY">
              <a:extLst>
                <a:ext uri="{FF2B5EF4-FFF2-40B4-BE49-F238E27FC236}">
                  <a16:creationId xmlns:a16="http://schemas.microsoft.com/office/drawing/2014/main" id="{5AC69F86-E87A-4FE3-8B91-F5C53A38FB45}"/>
                </a:ext>
              </a:extLst>
            </p:cNvPr>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dirty="0"/>
                <a:t>METHODOLOGY</a:t>
              </a:r>
            </a:p>
          </p:txBody>
        </p:sp>
      </p:grpSp>
      <p:sp>
        <p:nvSpPr>
          <p:cNvPr id="6" name="Rectangle 5">
            <a:extLst>
              <a:ext uri="{FF2B5EF4-FFF2-40B4-BE49-F238E27FC236}">
                <a16:creationId xmlns:a16="http://schemas.microsoft.com/office/drawing/2014/main" id="{461856A3-4C08-428B-A376-2F1E66C0FB58}"/>
              </a:ext>
            </a:extLst>
          </p:cNvPr>
          <p:cNvSpPr/>
          <p:nvPr/>
        </p:nvSpPr>
        <p:spPr>
          <a:xfrm>
            <a:off x="692869" y="1182768"/>
            <a:ext cx="7942084" cy="369332"/>
          </a:xfrm>
          <a:prstGeom prst="rect">
            <a:avLst/>
          </a:prstGeom>
        </p:spPr>
        <p:txBody>
          <a:bodyPr wrap="square">
            <a:spAutoFit/>
          </a:bodyPr>
          <a:lstStyle/>
          <a:p>
            <a:pPr algn="just">
              <a:buSzPct val="100000"/>
              <a:buFont typeface="Arial"/>
              <a:buChar char="•"/>
              <a:defRPr sz="1800" b="1">
                <a:latin typeface="Times New Roman"/>
                <a:ea typeface="Times New Roman"/>
                <a:cs typeface="Times New Roman"/>
                <a:sym typeface="Times New Roman"/>
              </a:defRPr>
            </a:pPr>
            <a:r>
              <a:rPr lang="en-IN" dirty="0"/>
              <a:t>Non Functional Requirements:</a:t>
            </a:r>
          </a:p>
        </p:txBody>
      </p:sp>
      <p:sp>
        <p:nvSpPr>
          <p:cNvPr id="7" name="Rectangle 6">
            <a:extLst>
              <a:ext uri="{FF2B5EF4-FFF2-40B4-BE49-F238E27FC236}">
                <a16:creationId xmlns:a16="http://schemas.microsoft.com/office/drawing/2014/main" id="{31589A19-3226-421F-AC68-272994F93878}"/>
              </a:ext>
            </a:extLst>
          </p:cNvPr>
          <p:cNvSpPr/>
          <p:nvPr/>
        </p:nvSpPr>
        <p:spPr>
          <a:xfrm>
            <a:off x="768284" y="1474159"/>
            <a:ext cx="8125905" cy="4801314"/>
          </a:xfrm>
          <a:prstGeom prst="rect">
            <a:avLst/>
          </a:prstGeom>
        </p:spPr>
        <p:txBody>
          <a:bodyPr wrap="square">
            <a:spAutoFit/>
          </a:bodyPr>
          <a:lstStyle/>
          <a:p>
            <a:pPr fontAlgn="base"/>
            <a:r>
              <a:rPr lang="en-US" dirty="0">
                <a:latin typeface="Aptos Display"/>
              </a:rPr>
              <a:t>(</a:t>
            </a:r>
            <a:r>
              <a:rPr lang="en-US" sz="1700" dirty="0">
                <a:latin typeface="Aptos Display"/>
              </a:rPr>
              <a:t>Describe how the system should perform) </a:t>
            </a:r>
          </a:p>
          <a:p>
            <a:pPr fontAlgn="base">
              <a:buFont typeface="+mj-lt"/>
              <a:buAutoNum type="arabicPeriod"/>
            </a:pPr>
            <a:r>
              <a:rPr lang="en-US" sz="1700" b="1" dirty="0">
                <a:latin typeface="Aptos Display"/>
              </a:rPr>
              <a:t>Performance</a:t>
            </a:r>
            <a:r>
              <a:rPr lang="en-US" sz="1700" dirty="0">
                <a:latin typeface="Aptos Display"/>
              </a:rPr>
              <a:t> </a:t>
            </a:r>
          </a:p>
          <a:p>
            <a:pPr fontAlgn="base"/>
            <a:r>
              <a:rPr lang="en-US" sz="1700" dirty="0">
                <a:latin typeface="Aptos Display"/>
              </a:rPr>
              <a:t>The portal should load within </a:t>
            </a:r>
            <a:r>
              <a:rPr lang="en-US" sz="1700" b="1" dirty="0">
                <a:latin typeface="Aptos Display"/>
              </a:rPr>
              <a:t>2 seconds</a:t>
            </a:r>
            <a:r>
              <a:rPr lang="en-US" sz="1700" dirty="0">
                <a:latin typeface="Aptos Display"/>
              </a:rPr>
              <a:t> on average. </a:t>
            </a:r>
          </a:p>
          <a:p>
            <a:pPr fontAlgn="base"/>
            <a:endParaRPr lang="en-US" sz="1700" dirty="0">
              <a:latin typeface="Aptos Display"/>
            </a:endParaRPr>
          </a:p>
          <a:p>
            <a:pPr fontAlgn="base">
              <a:buFont typeface="+mj-lt"/>
              <a:buAutoNum type="arabicPeriod" startAt="2"/>
            </a:pPr>
            <a:r>
              <a:rPr lang="en-US" sz="1700" b="1" dirty="0">
                <a:latin typeface="Aptos Display"/>
              </a:rPr>
              <a:t>Scalability</a:t>
            </a:r>
            <a:r>
              <a:rPr lang="en-US" sz="1700" dirty="0">
                <a:latin typeface="Aptos Display"/>
              </a:rPr>
              <a:t> </a:t>
            </a:r>
          </a:p>
          <a:p>
            <a:pPr fontAlgn="base"/>
            <a:r>
              <a:rPr lang="en-US" sz="1700" dirty="0">
                <a:latin typeface="Aptos Display"/>
              </a:rPr>
              <a:t>The system should handle </a:t>
            </a:r>
            <a:r>
              <a:rPr lang="en-US" sz="1700" b="1" dirty="0">
                <a:latin typeface="Aptos Display"/>
              </a:rPr>
              <a:t>high traffic</a:t>
            </a:r>
            <a:r>
              <a:rPr lang="en-US" sz="1700" dirty="0">
                <a:latin typeface="Aptos Display"/>
              </a:rPr>
              <a:t> efficiently during peak usage.</a:t>
            </a:r>
          </a:p>
          <a:p>
            <a:pPr fontAlgn="base"/>
            <a:r>
              <a:rPr lang="en-US" sz="1700" dirty="0">
                <a:latin typeface="Aptos Display"/>
              </a:rPr>
              <a:t> </a:t>
            </a:r>
          </a:p>
          <a:p>
            <a:pPr fontAlgn="base">
              <a:buFont typeface="+mj-lt"/>
              <a:buAutoNum type="arabicPeriod" startAt="3"/>
            </a:pPr>
            <a:r>
              <a:rPr lang="en-US" sz="1700" b="1" dirty="0">
                <a:latin typeface="Aptos Display"/>
              </a:rPr>
              <a:t>Usability &amp; User Experience</a:t>
            </a:r>
            <a:r>
              <a:rPr lang="en-US" sz="1700" dirty="0">
                <a:latin typeface="Aptos Display"/>
              </a:rPr>
              <a:t> </a:t>
            </a:r>
          </a:p>
          <a:p>
            <a:pPr fontAlgn="base"/>
            <a:r>
              <a:rPr lang="en-US" sz="1700" dirty="0">
                <a:latin typeface="Aptos Display"/>
              </a:rPr>
              <a:t>Swiping and search features should be intuitive and responsive. </a:t>
            </a:r>
          </a:p>
          <a:p>
            <a:pPr fontAlgn="base"/>
            <a:endParaRPr lang="en-US" sz="1700" dirty="0">
              <a:latin typeface="Aptos Display"/>
            </a:endParaRPr>
          </a:p>
          <a:p>
            <a:pPr fontAlgn="base">
              <a:buFont typeface="+mj-lt"/>
              <a:buAutoNum type="arabicPeriod" startAt="4"/>
            </a:pPr>
            <a:r>
              <a:rPr lang="en-US" sz="1700" b="1" dirty="0">
                <a:latin typeface="Aptos Display"/>
              </a:rPr>
              <a:t>Availability &amp; Reliability</a:t>
            </a:r>
            <a:r>
              <a:rPr lang="en-US" sz="1700" dirty="0">
                <a:latin typeface="Aptos Display"/>
              </a:rPr>
              <a:t> </a:t>
            </a:r>
          </a:p>
          <a:p>
            <a:pPr fontAlgn="base"/>
            <a:r>
              <a:rPr lang="en-US" sz="1700" dirty="0">
                <a:latin typeface="Aptos Display"/>
              </a:rPr>
              <a:t>The system should be available </a:t>
            </a:r>
            <a:r>
              <a:rPr lang="en-US" sz="1700" b="1" dirty="0">
                <a:latin typeface="Aptos Display"/>
              </a:rPr>
              <a:t>24/7</a:t>
            </a:r>
            <a:r>
              <a:rPr lang="en-US" sz="1700" dirty="0">
                <a:latin typeface="Aptos Display"/>
              </a:rPr>
              <a:t> with minimal downtime. </a:t>
            </a:r>
          </a:p>
          <a:p>
            <a:pPr fontAlgn="base">
              <a:buFont typeface="+mj-lt"/>
              <a:buAutoNum type="arabicPeriod"/>
            </a:pPr>
            <a:endParaRPr lang="en-US" sz="1700" dirty="0">
              <a:latin typeface="Aptos Display"/>
            </a:endParaRPr>
          </a:p>
          <a:p>
            <a:pPr fontAlgn="base">
              <a:buFont typeface="+mj-lt"/>
              <a:buAutoNum type="arabicPeriod" startAt="5"/>
            </a:pPr>
            <a:r>
              <a:rPr lang="en-US" sz="1700" b="1" dirty="0">
                <a:latin typeface="Aptos Display"/>
              </a:rPr>
              <a:t>Security &amp; Compliance</a:t>
            </a:r>
            <a:r>
              <a:rPr lang="en-US" sz="1700" dirty="0">
                <a:latin typeface="Aptos Display"/>
              </a:rPr>
              <a:t> </a:t>
            </a:r>
          </a:p>
          <a:p>
            <a:pPr fontAlgn="base"/>
            <a:r>
              <a:rPr lang="en-US" sz="1700" dirty="0">
                <a:latin typeface="Aptos Display"/>
              </a:rPr>
              <a:t>Data encryption and secure authentication must be implemented. </a:t>
            </a:r>
          </a:p>
          <a:p>
            <a:pPr fontAlgn="base"/>
            <a:endParaRPr lang="en-US" sz="1700" dirty="0">
              <a:latin typeface="Aptos Display"/>
            </a:endParaRPr>
          </a:p>
          <a:p>
            <a:pPr fontAlgn="base">
              <a:buFont typeface="+mj-lt"/>
              <a:buAutoNum type="arabicPeriod" startAt="6"/>
            </a:pPr>
            <a:r>
              <a:rPr lang="en-US" sz="1700" b="1" dirty="0">
                <a:latin typeface="Aptos Display"/>
              </a:rPr>
              <a:t>Maintainability &amp; Extensibility</a:t>
            </a:r>
            <a:r>
              <a:rPr lang="en-US" sz="1700" dirty="0">
                <a:latin typeface="Aptos Display"/>
              </a:rPr>
              <a:t> </a:t>
            </a:r>
          </a:p>
          <a:p>
            <a:pPr fontAlgn="base"/>
            <a:r>
              <a:rPr lang="en-US" sz="1700" dirty="0">
                <a:latin typeface="Aptos Display"/>
              </a:rPr>
              <a:t>The system should allow easy updates and future feature additions.</a:t>
            </a:r>
            <a:r>
              <a:rPr lang="en-US" dirty="0">
                <a:latin typeface="Aptos Display"/>
              </a:rPr>
              <a:t> </a:t>
            </a:r>
          </a:p>
        </p:txBody>
      </p:sp>
    </p:spTree>
    <p:extLst>
      <p:ext uri="{BB962C8B-B14F-4D97-AF65-F5344CB8AC3E}">
        <p14:creationId xmlns:p14="http://schemas.microsoft.com/office/powerpoint/2010/main" val="11440429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Slide Number"/>
          <p:cNvSpPr txBox="1">
            <a:spLocks noGrp="1"/>
          </p:cNvSpPr>
          <p:nvPr>
            <p:ph type="sldNum" sz="quarter" idx="2"/>
          </p:nvPr>
        </p:nvSpPr>
        <p:spPr>
          <a:xfrm>
            <a:off x="8407575" y="381000"/>
            <a:ext cx="203023"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13</a:t>
            </a:fld>
            <a:endParaRPr/>
          </a:p>
        </p:txBody>
      </p:sp>
      <p:grpSp>
        <p:nvGrpSpPr>
          <p:cNvPr id="189" name="Rectangle"/>
          <p:cNvGrpSpPr/>
          <p:nvPr/>
        </p:nvGrpSpPr>
        <p:grpSpPr>
          <a:xfrm>
            <a:off x="1295400" y="290297"/>
            <a:ext cx="6858000" cy="486206"/>
            <a:chOff x="0" y="0"/>
            <a:chExt cx="6858000" cy="486204"/>
          </a:xfrm>
        </p:grpSpPr>
        <p:sp>
          <p:nvSpPr>
            <p:cNvPr id="187"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88"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METHODOLOGY</a:t>
              </a:r>
            </a:p>
          </p:txBody>
        </p:sp>
      </p:grpSp>
      <p:sp>
        <p:nvSpPr>
          <p:cNvPr id="190" name="TextBox 3"/>
          <p:cNvSpPr txBox="1"/>
          <p:nvPr/>
        </p:nvSpPr>
        <p:spPr>
          <a:xfrm>
            <a:off x="746449" y="1408922"/>
            <a:ext cx="7661127" cy="6463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lang="en-US" dirty="0"/>
              <a:t>System Architecture:</a:t>
            </a:r>
            <a:endParaRPr dirty="0"/>
          </a:p>
          <a:p>
            <a:pPr algn="just">
              <a:defRPr sz="1800" b="1">
                <a:latin typeface="Times New Roman"/>
                <a:ea typeface="Times New Roman"/>
                <a:cs typeface="Times New Roman"/>
                <a:sym typeface="Times New Roman"/>
              </a:defRPr>
            </a:pPr>
            <a:endParaRPr dirty="0"/>
          </a:p>
        </p:txBody>
      </p:sp>
      <p:pic>
        <p:nvPicPr>
          <p:cNvPr id="3" name="Picture 2">
            <a:extLst>
              <a:ext uri="{FF2B5EF4-FFF2-40B4-BE49-F238E27FC236}">
                <a16:creationId xmlns:a16="http://schemas.microsoft.com/office/drawing/2014/main" id="{949BE16C-E6AB-428C-964A-81B96B42C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000" y="2253006"/>
            <a:ext cx="8308420" cy="2549746"/>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14</a:t>
            </a:fld>
            <a:endParaRPr/>
          </a:p>
        </p:txBody>
      </p:sp>
      <p:grpSp>
        <p:nvGrpSpPr>
          <p:cNvPr id="195" name="Rectangle"/>
          <p:cNvGrpSpPr/>
          <p:nvPr/>
        </p:nvGrpSpPr>
        <p:grpSpPr>
          <a:xfrm>
            <a:off x="1295400" y="302997"/>
            <a:ext cx="6858000" cy="486206"/>
            <a:chOff x="0" y="0"/>
            <a:chExt cx="6858000" cy="486204"/>
          </a:xfrm>
        </p:grpSpPr>
        <p:sp>
          <p:nvSpPr>
            <p:cNvPr id="193"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194"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METHODOLOGY</a:t>
              </a:r>
            </a:p>
          </p:txBody>
        </p:sp>
      </p:grpSp>
      <p:sp>
        <p:nvSpPr>
          <p:cNvPr id="196" name="TextBox 3"/>
          <p:cNvSpPr txBox="1"/>
          <p:nvPr/>
        </p:nvSpPr>
        <p:spPr>
          <a:xfrm>
            <a:off x="893836" y="1125828"/>
            <a:ext cx="7661127" cy="6463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lang="en-US" dirty="0"/>
              <a:t>UML</a:t>
            </a:r>
            <a:r>
              <a:rPr dirty="0"/>
              <a:t> Diagram:</a:t>
            </a:r>
          </a:p>
          <a:p>
            <a:pPr algn="just">
              <a:defRPr sz="1800" b="1">
                <a:latin typeface="Times New Roman"/>
                <a:ea typeface="Times New Roman"/>
                <a:cs typeface="Times New Roman"/>
                <a:sym typeface="Times New Roman"/>
              </a:defRPr>
            </a:pPr>
            <a:endParaRPr dirty="0"/>
          </a:p>
        </p:txBody>
      </p:sp>
      <p:pic>
        <p:nvPicPr>
          <p:cNvPr id="3" name="Picture 2">
            <a:extLst>
              <a:ext uri="{FF2B5EF4-FFF2-40B4-BE49-F238E27FC236}">
                <a16:creationId xmlns:a16="http://schemas.microsoft.com/office/drawing/2014/main" id="{8E4CE166-E484-4996-88BF-F7129452EC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867" y="1480008"/>
            <a:ext cx="8075732" cy="4644186"/>
          </a:xfrm>
          <a:prstGeom prst="rect">
            <a:avLst/>
          </a:prstGeom>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Slide Number"/>
          <p:cNvSpPr txBox="1">
            <a:spLocks noGrp="1"/>
          </p:cNvSpPr>
          <p:nvPr>
            <p:ph type="sldNum" sz="quarter" idx="2"/>
          </p:nvPr>
        </p:nvSpPr>
        <p:spPr>
          <a:xfrm>
            <a:off x="8321890" y="381000"/>
            <a:ext cx="288710"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15</a:t>
            </a:fld>
            <a:endParaRPr/>
          </a:p>
        </p:txBody>
      </p:sp>
      <p:grpSp>
        <p:nvGrpSpPr>
          <p:cNvPr id="201" name="Rectangle"/>
          <p:cNvGrpSpPr/>
          <p:nvPr/>
        </p:nvGrpSpPr>
        <p:grpSpPr>
          <a:xfrm>
            <a:off x="1295400" y="290297"/>
            <a:ext cx="6858000" cy="486206"/>
            <a:chOff x="0" y="0"/>
            <a:chExt cx="6858000" cy="486204"/>
          </a:xfrm>
        </p:grpSpPr>
        <p:sp>
          <p:nvSpPr>
            <p:cNvPr id="199"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00" name="METHODOLOGY"/>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METHODOLOGY</a:t>
              </a:r>
            </a:p>
          </p:txBody>
        </p:sp>
      </p:grpSp>
      <p:sp>
        <p:nvSpPr>
          <p:cNvPr id="202" name="TextBox 3"/>
          <p:cNvSpPr txBox="1"/>
          <p:nvPr/>
        </p:nvSpPr>
        <p:spPr>
          <a:xfrm>
            <a:off x="898499" y="1306316"/>
            <a:ext cx="7567746" cy="8309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p>
            <a:pPr algn="just">
              <a:defRPr sz="1800" b="1">
                <a:latin typeface="Times New Roman"/>
                <a:ea typeface="Times New Roman"/>
                <a:cs typeface="Times New Roman"/>
                <a:sym typeface="Times New Roman"/>
              </a:defRPr>
            </a:pPr>
            <a:r>
              <a:rPr lang="en-US" sz="2800" dirty="0"/>
              <a:t>Test Plan</a:t>
            </a:r>
            <a:r>
              <a:rPr sz="2800" dirty="0"/>
              <a:t>:</a:t>
            </a:r>
            <a:endParaRPr lang="en-US" sz="2800" dirty="0"/>
          </a:p>
          <a:p>
            <a:pPr algn="just">
              <a:defRPr sz="1800" b="1">
                <a:latin typeface="Times New Roman"/>
                <a:ea typeface="Times New Roman"/>
                <a:cs typeface="Times New Roman"/>
                <a:sym typeface="Times New Roman"/>
              </a:defRPr>
            </a:pPr>
            <a:endParaRPr dirty="0"/>
          </a:p>
        </p:txBody>
      </p:sp>
      <p:sp>
        <p:nvSpPr>
          <p:cNvPr id="2" name="Rectangle 1">
            <a:extLst>
              <a:ext uri="{FF2B5EF4-FFF2-40B4-BE49-F238E27FC236}">
                <a16:creationId xmlns:a16="http://schemas.microsoft.com/office/drawing/2014/main" id="{2890DED6-C8A2-4592-9D6A-8D6C7152C7D0}"/>
              </a:ext>
            </a:extLst>
          </p:cNvPr>
          <p:cNvSpPr/>
          <p:nvPr/>
        </p:nvSpPr>
        <p:spPr>
          <a:xfrm>
            <a:off x="621776" y="1828495"/>
            <a:ext cx="8205247" cy="4462760"/>
          </a:xfrm>
          <a:prstGeom prst="rect">
            <a:avLst/>
          </a:prstGeom>
        </p:spPr>
        <p:txBody>
          <a:bodyPr wrap="square">
            <a:spAutoFit/>
          </a:bodyPr>
          <a:lstStyle/>
          <a:p>
            <a:r>
              <a:rPr lang="en-US" sz="2400" b="1" dirty="0"/>
              <a:t>Workflow Division: </a:t>
            </a:r>
            <a:br>
              <a:rPr lang="en-US" sz="2000" b="1" dirty="0"/>
            </a:br>
            <a:r>
              <a:rPr lang="en-US" sz="2000" b="1" dirty="0"/>
              <a:t>a) Division of tasks: </a:t>
            </a:r>
            <a:br>
              <a:rPr lang="en-US" sz="2000" dirty="0"/>
            </a:br>
            <a:r>
              <a:rPr lang="en-US" sz="2000" dirty="0"/>
              <a:t>1) Kanban Master</a:t>
            </a:r>
            <a:br>
              <a:rPr lang="en-US" sz="2000" dirty="0"/>
            </a:br>
            <a:r>
              <a:rPr lang="en-US" sz="2000" dirty="0"/>
              <a:t>2) Team member</a:t>
            </a:r>
            <a:br>
              <a:rPr lang="en-US" sz="2000" dirty="0"/>
            </a:br>
            <a:r>
              <a:rPr lang="en-US" sz="2000" dirty="0"/>
              <a:t>3) Stakeholders</a:t>
            </a:r>
            <a:br>
              <a:rPr lang="en-US" sz="2000" dirty="0"/>
            </a:br>
            <a:r>
              <a:rPr lang="en-US" sz="2000" dirty="0"/>
              <a:t>4) Product owner</a:t>
            </a:r>
            <a:br>
              <a:rPr lang="en-US" sz="2000" dirty="0"/>
            </a:br>
            <a:br>
              <a:rPr lang="en-US" sz="2000" dirty="0"/>
            </a:br>
            <a:r>
              <a:rPr lang="en-US" sz="2000" b="1" dirty="0"/>
              <a:t>b) Modules: </a:t>
            </a:r>
            <a:br>
              <a:rPr lang="en-US" sz="2000" dirty="0"/>
            </a:br>
            <a:r>
              <a:rPr lang="en-US" sz="2000" dirty="0"/>
              <a:t>1) Creation of Database (in 1</a:t>
            </a:r>
            <a:r>
              <a:rPr lang="en-US" sz="2000" baseline="30000" dirty="0"/>
              <a:t>st</a:t>
            </a:r>
            <a:r>
              <a:rPr lang="en-US" sz="2000" dirty="0"/>
              <a:t> 2-3 weeks)</a:t>
            </a:r>
            <a:br>
              <a:rPr lang="en-US" sz="2000" dirty="0"/>
            </a:br>
            <a:r>
              <a:rPr lang="en-US" sz="2000" dirty="0"/>
              <a:t>2) Backend creation (in third and fourth week)</a:t>
            </a:r>
            <a:br>
              <a:rPr lang="en-US" sz="2000" dirty="0"/>
            </a:br>
            <a:r>
              <a:rPr lang="en-US" sz="2000" dirty="0"/>
              <a:t>3) Frontend creation (in fifth week)</a:t>
            </a:r>
            <a:br>
              <a:rPr lang="en-US" sz="2000" dirty="0"/>
            </a:br>
            <a:r>
              <a:rPr lang="en-US" sz="2000" dirty="0"/>
              <a:t>4) Creation of Kanban Board (in fifth-sixth week) </a:t>
            </a:r>
            <a:br>
              <a:rPr lang="en-US" sz="2000" dirty="0"/>
            </a:br>
            <a:br>
              <a:rPr lang="en-US" sz="2000" dirty="0"/>
            </a:br>
            <a:endParaRPr lang="en-IN" sz="2000" dirty="0"/>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7CADC-FEBD-4CFC-81E0-B2FA5DF9FDCE}"/>
              </a:ext>
            </a:extLst>
          </p:cNvPr>
          <p:cNvSpPr>
            <a:spLocks noGrp="1"/>
          </p:cNvSpPr>
          <p:nvPr>
            <p:ph type="title"/>
          </p:nvPr>
        </p:nvSpPr>
        <p:spPr/>
        <p:txBody>
          <a:bodyPr/>
          <a:lstStyle/>
          <a:p>
            <a:r>
              <a:rPr lang="en-US" dirty="0"/>
              <a:t>METHODOLOGY</a:t>
            </a:r>
            <a:endParaRPr lang="en-IN" dirty="0"/>
          </a:p>
        </p:txBody>
      </p:sp>
      <p:sp>
        <p:nvSpPr>
          <p:cNvPr id="4" name="TextBox 3">
            <a:extLst>
              <a:ext uri="{FF2B5EF4-FFF2-40B4-BE49-F238E27FC236}">
                <a16:creationId xmlns:a16="http://schemas.microsoft.com/office/drawing/2014/main" id="{28B74D17-9017-41F9-B9DA-4AE998905335}"/>
              </a:ext>
            </a:extLst>
          </p:cNvPr>
          <p:cNvSpPr txBox="1"/>
          <p:nvPr/>
        </p:nvSpPr>
        <p:spPr>
          <a:xfrm>
            <a:off x="898498" y="1092816"/>
            <a:ext cx="7567746" cy="8309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p>
            <a:pPr algn="just">
              <a:defRPr sz="1800" b="1">
                <a:latin typeface="Times New Roman"/>
                <a:ea typeface="Times New Roman"/>
                <a:cs typeface="Times New Roman"/>
                <a:sym typeface="Times New Roman"/>
              </a:defRPr>
            </a:pPr>
            <a:r>
              <a:rPr lang="en-US" sz="2800" dirty="0"/>
              <a:t>Test Plan</a:t>
            </a:r>
            <a:r>
              <a:rPr sz="2800" dirty="0"/>
              <a:t>:</a:t>
            </a:r>
            <a:endParaRPr lang="en-US" sz="2800" dirty="0"/>
          </a:p>
          <a:p>
            <a:pPr algn="just">
              <a:defRPr sz="1800" b="1">
                <a:latin typeface="Times New Roman"/>
                <a:ea typeface="Times New Roman"/>
                <a:cs typeface="Times New Roman"/>
                <a:sym typeface="Times New Roman"/>
              </a:defRPr>
            </a:pPr>
            <a:endParaRPr dirty="0"/>
          </a:p>
        </p:txBody>
      </p:sp>
      <p:sp>
        <p:nvSpPr>
          <p:cNvPr id="5" name="Rectangle 4">
            <a:extLst>
              <a:ext uri="{FF2B5EF4-FFF2-40B4-BE49-F238E27FC236}">
                <a16:creationId xmlns:a16="http://schemas.microsoft.com/office/drawing/2014/main" id="{9FCFF505-6032-46F4-9B5F-13BA06E30AE7}"/>
              </a:ext>
            </a:extLst>
          </p:cNvPr>
          <p:cNvSpPr/>
          <p:nvPr/>
        </p:nvSpPr>
        <p:spPr>
          <a:xfrm>
            <a:off x="457200" y="1561160"/>
            <a:ext cx="8369823" cy="2369880"/>
          </a:xfrm>
          <a:prstGeom prst="rect">
            <a:avLst/>
          </a:prstGeom>
        </p:spPr>
        <p:txBody>
          <a:bodyPr wrap="square">
            <a:spAutoFit/>
          </a:bodyPr>
          <a:lstStyle/>
          <a:p>
            <a:r>
              <a:rPr lang="en-US" sz="1800" b="1" dirty="0"/>
              <a:t>Justification: </a:t>
            </a:r>
            <a:r>
              <a:rPr lang="en-US" sz="1800" dirty="0"/>
              <a:t>There will be a constant switch of roles of Kanban Master and Team member between </a:t>
            </a:r>
            <a:r>
              <a:rPr lang="en-US" sz="1800" dirty="0" err="1"/>
              <a:t>Likhit</a:t>
            </a:r>
            <a:r>
              <a:rPr lang="en-US" sz="1800" dirty="0"/>
              <a:t> and Harsha. But for the first 2-3 weeks of creation of database, </a:t>
            </a:r>
            <a:r>
              <a:rPr lang="en-US" sz="1800" dirty="0" err="1"/>
              <a:t>Likhit</a:t>
            </a:r>
            <a:r>
              <a:rPr lang="en-US" sz="1800" dirty="0"/>
              <a:t> is going to be the Kanban Master while Harsha will be the Team member. In general, </a:t>
            </a:r>
            <a:r>
              <a:rPr lang="en-US" sz="1800" dirty="0" err="1"/>
              <a:t>Likhit</a:t>
            </a:r>
            <a:r>
              <a:rPr lang="en-US" sz="1800" dirty="0"/>
              <a:t> is competent in Database and Backend creation while Harsha is good in Frontend and Kanban Board creation. Hence via this we are going to segregate the roles amongst ourselves. </a:t>
            </a:r>
            <a:br>
              <a:rPr lang="en-US" sz="1800" dirty="0"/>
            </a:br>
            <a:br>
              <a:rPr lang="en-US" sz="2000" dirty="0"/>
            </a:br>
            <a:endParaRPr lang="en-IN" sz="2000" dirty="0"/>
          </a:p>
        </p:txBody>
      </p:sp>
      <p:sp>
        <p:nvSpPr>
          <p:cNvPr id="6" name="Rectangle 5">
            <a:extLst>
              <a:ext uri="{FF2B5EF4-FFF2-40B4-BE49-F238E27FC236}">
                <a16:creationId xmlns:a16="http://schemas.microsoft.com/office/drawing/2014/main" id="{5D47EB9E-6D9B-4844-8630-18E3903FB390}"/>
              </a:ext>
            </a:extLst>
          </p:cNvPr>
          <p:cNvSpPr/>
          <p:nvPr/>
        </p:nvSpPr>
        <p:spPr>
          <a:xfrm>
            <a:off x="457199" y="3392895"/>
            <a:ext cx="8369823" cy="243143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900" b="1" i="0" u="none" strike="noStrike" kern="1200" cap="none" spc="0" normalizeH="0" baseline="0" noProof="0" dirty="0">
                <a:ln>
                  <a:noFill/>
                </a:ln>
                <a:solidFill>
                  <a:prstClr val="black"/>
                </a:solidFill>
                <a:effectLst/>
                <a:uLnTx/>
                <a:uFillTx/>
                <a:latin typeface="Calibri Light" panose="020F0302020204030204"/>
                <a:ea typeface="+mj-ea"/>
                <a:cs typeface="+mj-cs"/>
              </a:rPr>
              <a:t>Product Owners: </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t>1) Pooja Madam</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t>2) Rashmi Madam</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1" i="0" u="none" strike="noStrike" kern="1200" cap="none" spc="0" normalizeH="0" baseline="0" noProof="0" dirty="0">
                <a:ln>
                  <a:noFill/>
                </a:ln>
                <a:solidFill>
                  <a:prstClr val="black"/>
                </a:solidFill>
                <a:effectLst/>
                <a:uLnTx/>
                <a:uFillTx/>
                <a:latin typeface="Calibri Light" panose="020F0302020204030204"/>
                <a:ea typeface="+mj-ea"/>
                <a:cs typeface="+mj-cs"/>
              </a:rPr>
              <a:t>Stakeholders: </a:t>
            </a:r>
            <a:b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US" sz="1900" b="0" i="0" u="none" strike="noStrike" kern="1200" cap="none" spc="0" normalizeH="0" baseline="0" noProof="0" dirty="0">
                <a:ln>
                  <a:noFill/>
                </a:ln>
                <a:solidFill>
                  <a:prstClr val="black"/>
                </a:solidFill>
                <a:effectLst/>
                <a:uLnTx/>
                <a:uFillTx/>
                <a:latin typeface="Calibri Light" panose="020F0302020204030204"/>
                <a:ea typeface="+mj-ea"/>
                <a:cs typeface="+mj-cs"/>
              </a:rPr>
              <a:t>1) Students of the college, 2) Faculty members of the college, 3) Club owners, 4) Alumni’s of the college, 5) Higher authorities (4 of the authorities have special access to view the contact number of Alumni’s which others don’t have access to).</a:t>
            </a:r>
            <a:endParaRPr kumimoji="0" lang="en-IN" sz="19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626356419"/>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grpSp>
        <p:nvGrpSpPr>
          <p:cNvPr id="207" name="Rectangle"/>
          <p:cNvGrpSpPr/>
          <p:nvPr/>
        </p:nvGrpSpPr>
        <p:grpSpPr>
          <a:xfrm>
            <a:off x="1295400" y="271793"/>
            <a:ext cx="6858000" cy="523216"/>
            <a:chOff x="0" y="-18504"/>
            <a:chExt cx="6858000" cy="523214"/>
          </a:xfrm>
        </p:grpSpPr>
        <p:sp>
          <p:nvSpPr>
            <p:cNvPr id="205"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06" name="METHODOLOGY"/>
            <p:cNvSpPr txBox="1"/>
            <p:nvPr/>
          </p:nvSpPr>
          <p:spPr>
            <a:xfrm>
              <a:off x="4762" y="-18504"/>
              <a:ext cx="6848476" cy="5232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lang="en-US" dirty="0"/>
                <a:t>RESULT</a:t>
              </a:r>
              <a:endParaRPr dirty="0"/>
            </a:p>
          </p:txBody>
        </p:sp>
      </p:grpSp>
      <p:sp>
        <p:nvSpPr>
          <p:cNvPr id="208" name="TextBox 3"/>
          <p:cNvSpPr txBox="1"/>
          <p:nvPr/>
        </p:nvSpPr>
        <p:spPr>
          <a:xfrm>
            <a:off x="847961" y="1483566"/>
            <a:ext cx="7661128" cy="40822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sz="2300" dirty="0"/>
              <a:t>Bug Report:</a:t>
            </a:r>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p:txBody>
      </p:sp>
      <p:sp>
        <p:nvSpPr>
          <p:cNvPr id="3" name="Rectangle 2">
            <a:extLst>
              <a:ext uri="{FF2B5EF4-FFF2-40B4-BE49-F238E27FC236}">
                <a16:creationId xmlns:a16="http://schemas.microsoft.com/office/drawing/2014/main" id="{B45AB3FD-5145-4530-8E6B-DB6B021AD92F}"/>
              </a:ext>
            </a:extLst>
          </p:cNvPr>
          <p:cNvSpPr/>
          <p:nvPr/>
        </p:nvSpPr>
        <p:spPr>
          <a:xfrm>
            <a:off x="634911" y="2007910"/>
            <a:ext cx="7975689" cy="3785652"/>
          </a:xfrm>
          <a:prstGeom prst="rect">
            <a:avLst/>
          </a:prstGeom>
        </p:spPr>
        <p:txBody>
          <a:bodyPr wrap="square">
            <a:spAutoFit/>
          </a:bodyPr>
          <a:lstStyle/>
          <a:p>
            <a:r>
              <a:rPr lang="en-IN" sz="2000" dirty="0"/>
              <a:t>Common Bug Types in Your Project: </a:t>
            </a:r>
          </a:p>
          <a:p>
            <a:pPr marL="342900" indent="-342900">
              <a:buAutoNum type="arabicPeriod"/>
            </a:pPr>
            <a:r>
              <a:rPr lang="en-IN" sz="2000" dirty="0"/>
              <a:t>UI Bugs: Profile pics not showing, too big images </a:t>
            </a:r>
          </a:p>
          <a:p>
            <a:pPr marL="342900" indent="-342900">
              <a:buAutoNum type="arabicPeriod"/>
            </a:pPr>
            <a:r>
              <a:rPr lang="en-IN" sz="2000" dirty="0"/>
              <a:t>Data Bugs: Messages failing to display due to absent or malformed data</a:t>
            </a:r>
          </a:p>
          <a:p>
            <a:pPr marL="342900" indent="-342900">
              <a:buAutoNum type="arabicPeriod"/>
            </a:pPr>
            <a:r>
              <a:rPr lang="en-IN" sz="2000" dirty="0"/>
              <a:t>Routing Bugs: Navigating a profile doesn't work properly </a:t>
            </a:r>
          </a:p>
          <a:p>
            <a:pPr marL="342900" indent="-342900">
              <a:buAutoNum type="arabicPeriod"/>
            </a:pPr>
            <a:r>
              <a:rPr lang="en-IN" sz="2000" dirty="0"/>
              <a:t>State Bugs: Messages failing to be stored across page reloads (since there's no backend DB) </a:t>
            </a:r>
          </a:p>
          <a:p>
            <a:pPr marL="342900" indent="-342900">
              <a:buAutoNum type="arabicPeriod"/>
            </a:pPr>
            <a:r>
              <a:rPr lang="en-IN" sz="2000" dirty="0"/>
              <a:t>UX Bugs: "Loading." text is stuck even when data silently fails.</a:t>
            </a:r>
          </a:p>
          <a:p>
            <a:endParaRPr lang="en-IN" sz="2000" dirty="0"/>
          </a:p>
          <a:p>
            <a:r>
              <a:rPr lang="en-IN" sz="2000" dirty="0"/>
              <a:t>Such bug reports are critical to Agile development in order to follow regressions and problems throughout sprints. Let me know if you'd like a formal bug report document or template.</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18</a:t>
            </a:fld>
            <a:endParaRPr/>
          </a:p>
        </p:txBody>
      </p:sp>
      <p:grpSp>
        <p:nvGrpSpPr>
          <p:cNvPr id="213" name="Rectangle"/>
          <p:cNvGrpSpPr/>
          <p:nvPr/>
        </p:nvGrpSpPr>
        <p:grpSpPr>
          <a:xfrm>
            <a:off x="1295400" y="271793"/>
            <a:ext cx="6858000" cy="523216"/>
            <a:chOff x="0" y="-18504"/>
            <a:chExt cx="6858000" cy="523214"/>
          </a:xfrm>
        </p:grpSpPr>
        <p:sp>
          <p:nvSpPr>
            <p:cNvPr id="21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12" name="METHODOLOGY"/>
            <p:cNvSpPr txBox="1"/>
            <p:nvPr/>
          </p:nvSpPr>
          <p:spPr>
            <a:xfrm>
              <a:off x="4762" y="-18504"/>
              <a:ext cx="6848476" cy="5232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rPr lang="en-US" dirty="0"/>
                <a:t>RESULT</a:t>
              </a:r>
              <a:endParaRPr dirty="0"/>
            </a:p>
          </p:txBody>
        </p:sp>
      </p:grpSp>
      <p:sp>
        <p:nvSpPr>
          <p:cNvPr id="214" name="TextBox 3"/>
          <p:cNvSpPr txBox="1"/>
          <p:nvPr/>
        </p:nvSpPr>
        <p:spPr>
          <a:xfrm>
            <a:off x="847961" y="1483566"/>
            <a:ext cx="7661128" cy="48013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lang="en-US" dirty="0"/>
              <a:t>SAMPLE DEMO</a:t>
            </a:r>
            <a:r>
              <a:rPr dirty="0"/>
              <a:t>:</a:t>
            </a:r>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r>
              <a:rPr lang="en-US" dirty="0"/>
              <a:t>User-interface: </a:t>
            </a:r>
          </a:p>
          <a:p>
            <a:pPr algn="just">
              <a:defRPr sz="1800" b="1">
                <a:latin typeface="Times New Roman"/>
                <a:ea typeface="Times New Roman"/>
                <a:cs typeface="Times New Roman"/>
                <a:sym typeface="Times New Roman"/>
              </a:defRPr>
            </a:pPr>
            <a:endParaRPr lang="en-US" dirty="0"/>
          </a:p>
          <a:p>
            <a:pPr algn="just">
              <a:defRPr sz="1800" b="1">
                <a:latin typeface="Times New Roman"/>
                <a:ea typeface="Times New Roman"/>
                <a:cs typeface="Times New Roman"/>
                <a:sym typeface="Times New Roman"/>
              </a:defRPr>
            </a:pPr>
            <a:r>
              <a:rPr lang="en-US" dirty="0"/>
              <a:t>Demo-1:</a:t>
            </a: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a:p>
            <a:pPr algn="just">
              <a:defRPr sz="1800" b="1">
                <a:latin typeface="Times New Roman"/>
                <a:ea typeface="Times New Roman"/>
                <a:cs typeface="Times New Roman"/>
                <a:sym typeface="Times New Roman"/>
              </a:defRPr>
            </a:pPr>
            <a:endParaRPr dirty="0"/>
          </a:p>
        </p:txBody>
      </p:sp>
      <p:pic>
        <p:nvPicPr>
          <p:cNvPr id="3" name="Picture 2">
            <a:extLst>
              <a:ext uri="{FF2B5EF4-FFF2-40B4-BE49-F238E27FC236}">
                <a16:creationId xmlns:a16="http://schemas.microsoft.com/office/drawing/2014/main" id="{63BE397A-244A-4E40-B2D4-7C053DD558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95600" y="2493615"/>
            <a:ext cx="6300439" cy="3084446"/>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Slide Number"/>
          <p:cNvSpPr txBox="1">
            <a:spLocks noGrp="1"/>
          </p:cNvSpPr>
          <p:nvPr>
            <p:ph type="sldNum" sz="quarter" idx="2"/>
          </p:nvPr>
        </p:nvSpPr>
        <p:spPr>
          <a:xfrm>
            <a:off x="8308694" y="381000"/>
            <a:ext cx="301907"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19</a:t>
            </a:fld>
            <a:endParaRPr/>
          </a:p>
        </p:txBody>
      </p:sp>
      <p:grpSp>
        <p:nvGrpSpPr>
          <p:cNvPr id="219" name="Rectangle"/>
          <p:cNvGrpSpPr/>
          <p:nvPr/>
        </p:nvGrpSpPr>
        <p:grpSpPr>
          <a:xfrm>
            <a:off x="1295400" y="290297"/>
            <a:ext cx="6858000" cy="486206"/>
            <a:chOff x="0" y="0"/>
            <a:chExt cx="6858000" cy="486204"/>
          </a:xfrm>
        </p:grpSpPr>
        <p:sp>
          <p:nvSpPr>
            <p:cNvPr id="217"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18"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RESULTS</a:t>
              </a:r>
            </a:p>
          </p:txBody>
        </p:sp>
      </p:grpSp>
      <p:sp>
        <p:nvSpPr>
          <p:cNvPr id="220" name="TextBox 8"/>
          <p:cNvSpPr txBox="1"/>
          <p:nvPr/>
        </p:nvSpPr>
        <p:spPr>
          <a:xfrm>
            <a:off x="666202" y="5299788"/>
            <a:ext cx="3905799" cy="307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21" name="TextBox 9"/>
          <p:cNvSpPr txBox="1"/>
          <p:nvPr/>
        </p:nvSpPr>
        <p:spPr>
          <a:xfrm>
            <a:off x="4757918" y="5299788"/>
            <a:ext cx="3719880" cy="307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 name="TextBox 1">
            <a:extLst>
              <a:ext uri="{FF2B5EF4-FFF2-40B4-BE49-F238E27FC236}">
                <a16:creationId xmlns:a16="http://schemas.microsoft.com/office/drawing/2014/main" id="{DADB7350-1E0E-4BAD-A570-F1C2E0DDA077}"/>
              </a:ext>
            </a:extLst>
          </p:cNvPr>
          <p:cNvSpPr txBox="1"/>
          <p:nvPr/>
        </p:nvSpPr>
        <p:spPr>
          <a:xfrm>
            <a:off x="936702" y="1583473"/>
            <a:ext cx="2252547" cy="35393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US" sz="1700" b="1" dirty="0"/>
              <a:t>Demo-2: </a:t>
            </a:r>
            <a:endParaRPr kumimoji="0" lang="en-IN" sz="1700" b="1" i="0" u="none" strike="noStrike" cap="none" spc="0" normalizeH="0" baseline="0" dirty="0">
              <a:ln>
                <a:noFill/>
              </a:ln>
              <a:solidFill>
                <a:srgbClr val="000000"/>
              </a:solidFill>
              <a:effectLst/>
              <a:uFillTx/>
              <a:latin typeface="+mn-lt"/>
              <a:ea typeface="+mn-ea"/>
              <a:cs typeface="+mn-cs"/>
              <a:sym typeface="Arial"/>
            </a:endParaRPr>
          </a:p>
        </p:txBody>
      </p:sp>
      <p:pic>
        <p:nvPicPr>
          <p:cNvPr id="6" name="Picture 5">
            <a:extLst>
              <a:ext uri="{FF2B5EF4-FFF2-40B4-BE49-F238E27FC236}">
                <a16:creationId xmlns:a16="http://schemas.microsoft.com/office/drawing/2014/main" id="{8D1568A2-77A0-466B-965D-5B1885B795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500" y="1597975"/>
            <a:ext cx="3905799" cy="4475754"/>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20</a:t>
            </a:fld>
            <a:endParaRPr/>
          </a:p>
        </p:txBody>
      </p:sp>
      <p:grpSp>
        <p:nvGrpSpPr>
          <p:cNvPr id="226" name="Rectangle"/>
          <p:cNvGrpSpPr/>
          <p:nvPr/>
        </p:nvGrpSpPr>
        <p:grpSpPr>
          <a:xfrm>
            <a:off x="1295400" y="290297"/>
            <a:ext cx="6858000" cy="486206"/>
            <a:chOff x="0" y="0"/>
            <a:chExt cx="6858000" cy="486204"/>
          </a:xfrm>
        </p:grpSpPr>
        <p:sp>
          <p:nvSpPr>
            <p:cNvPr id="224"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25"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RESULTS</a:t>
              </a:r>
            </a:p>
          </p:txBody>
        </p:sp>
      </p:grpSp>
      <p:sp>
        <p:nvSpPr>
          <p:cNvPr id="228" name="TextBox 10"/>
          <p:cNvSpPr txBox="1"/>
          <p:nvPr/>
        </p:nvSpPr>
        <p:spPr>
          <a:xfrm>
            <a:off x="4375867" y="5735216"/>
            <a:ext cx="3615385" cy="307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 name="TextBox 1">
            <a:extLst>
              <a:ext uri="{FF2B5EF4-FFF2-40B4-BE49-F238E27FC236}">
                <a16:creationId xmlns:a16="http://schemas.microsoft.com/office/drawing/2014/main" id="{4E5FFF89-7B49-4E13-9113-95F6EAC89305}"/>
              </a:ext>
            </a:extLst>
          </p:cNvPr>
          <p:cNvSpPr txBox="1"/>
          <p:nvPr/>
        </p:nvSpPr>
        <p:spPr>
          <a:xfrm>
            <a:off x="1182029" y="1293541"/>
            <a:ext cx="2118732"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mn-lt"/>
                <a:ea typeface="+mn-ea"/>
                <a:cs typeface="+mn-cs"/>
                <a:sym typeface="Arial"/>
              </a:rPr>
              <a:t>Demo 3:</a:t>
            </a:r>
            <a:endParaRPr kumimoji="0" lang="en-IN" sz="2000" b="1" i="0" u="none" strike="noStrike" cap="none" spc="0" normalizeH="0" baseline="0" dirty="0">
              <a:ln>
                <a:noFill/>
              </a:ln>
              <a:solidFill>
                <a:srgbClr val="000000"/>
              </a:solidFill>
              <a:effectLst/>
              <a:uFillTx/>
              <a:latin typeface="+mn-lt"/>
              <a:ea typeface="+mn-ea"/>
              <a:cs typeface="+mn-cs"/>
              <a:sym typeface="Arial"/>
            </a:endParaRPr>
          </a:p>
        </p:txBody>
      </p:sp>
      <p:pic>
        <p:nvPicPr>
          <p:cNvPr id="4" name="Picture 3">
            <a:extLst>
              <a:ext uri="{FF2B5EF4-FFF2-40B4-BE49-F238E27FC236}">
                <a16:creationId xmlns:a16="http://schemas.microsoft.com/office/drawing/2014/main" id="{D7A14614-8788-4127-9194-DB08669B97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0576" y="1996069"/>
            <a:ext cx="5993884" cy="3749774"/>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39EAB-23FA-42D8-A684-28ACD3A6A4F2}"/>
              </a:ext>
            </a:extLst>
          </p:cNvPr>
          <p:cNvSpPr>
            <a:spLocks noGrp="1"/>
          </p:cNvSpPr>
          <p:nvPr>
            <p:ph type="title"/>
          </p:nvPr>
        </p:nvSpPr>
        <p:spPr/>
        <p:txBody>
          <a:bodyPr/>
          <a:lstStyle/>
          <a:p>
            <a:r>
              <a:rPr lang="en-US" dirty="0"/>
              <a:t>RESULTS</a:t>
            </a:r>
            <a:endParaRPr lang="en-IN" dirty="0"/>
          </a:p>
        </p:txBody>
      </p:sp>
      <p:sp>
        <p:nvSpPr>
          <p:cNvPr id="3" name="TextBox 2">
            <a:extLst>
              <a:ext uri="{FF2B5EF4-FFF2-40B4-BE49-F238E27FC236}">
                <a16:creationId xmlns:a16="http://schemas.microsoft.com/office/drawing/2014/main" id="{9DDB3442-6571-48A3-83B9-4790B2A900E8}"/>
              </a:ext>
            </a:extLst>
          </p:cNvPr>
          <p:cNvSpPr txBox="1"/>
          <p:nvPr/>
        </p:nvSpPr>
        <p:spPr>
          <a:xfrm>
            <a:off x="1182029" y="1505415"/>
            <a:ext cx="2732049"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 4:</a:t>
            </a:r>
            <a:endParaRPr kumimoji="0" lang="en-IN" sz="2000" b="0" i="0" u="none" strike="noStrike" cap="none" spc="0" normalizeH="0" baseline="0" dirty="0">
              <a:ln>
                <a:noFill/>
              </a:ln>
              <a:solidFill>
                <a:srgbClr val="000000"/>
              </a:solidFill>
              <a:effectLst/>
              <a:uFillTx/>
              <a:latin typeface="+mn-lt"/>
              <a:ea typeface="+mn-ea"/>
              <a:cs typeface="+mn-cs"/>
              <a:sym typeface="Arial"/>
            </a:endParaRPr>
          </a:p>
        </p:txBody>
      </p:sp>
      <p:pic>
        <p:nvPicPr>
          <p:cNvPr id="5" name="Picture 4">
            <a:extLst>
              <a:ext uri="{FF2B5EF4-FFF2-40B4-BE49-F238E27FC236}">
                <a16:creationId xmlns:a16="http://schemas.microsoft.com/office/drawing/2014/main" id="{92A675F6-9E56-436D-9E0F-3C6A9CBB8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2029" y="2106235"/>
            <a:ext cx="6936409" cy="2994190"/>
          </a:xfrm>
          <a:prstGeom prst="rect">
            <a:avLst/>
          </a:prstGeom>
        </p:spPr>
      </p:pic>
    </p:spTree>
    <p:extLst>
      <p:ext uri="{BB962C8B-B14F-4D97-AF65-F5344CB8AC3E}">
        <p14:creationId xmlns:p14="http://schemas.microsoft.com/office/powerpoint/2010/main" val="332401840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22</a:t>
            </a:fld>
            <a:endParaRPr/>
          </a:p>
        </p:txBody>
      </p:sp>
      <p:grpSp>
        <p:nvGrpSpPr>
          <p:cNvPr id="233" name="Rectangle"/>
          <p:cNvGrpSpPr/>
          <p:nvPr/>
        </p:nvGrpSpPr>
        <p:grpSpPr>
          <a:xfrm>
            <a:off x="1295400" y="290297"/>
            <a:ext cx="6858000" cy="486206"/>
            <a:chOff x="0" y="0"/>
            <a:chExt cx="6858000" cy="486204"/>
          </a:xfrm>
        </p:grpSpPr>
        <p:sp>
          <p:nvSpPr>
            <p:cNvPr id="231"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32"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RESULTS</a:t>
              </a:r>
            </a:p>
          </p:txBody>
        </p:sp>
      </p:grpSp>
      <p:sp>
        <p:nvSpPr>
          <p:cNvPr id="234" name="TextBox 8"/>
          <p:cNvSpPr txBox="1"/>
          <p:nvPr/>
        </p:nvSpPr>
        <p:spPr>
          <a:xfrm>
            <a:off x="1295400" y="5735215"/>
            <a:ext cx="2530882" cy="307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35" name="TextBox 10"/>
          <p:cNvSpPr txBox="1"/>
          <p:nvPr/>
        </p:nvSpPr>
        <p:spPr>
          <a:xfrm>
            <a:off x="4281798" y="5727372"/>
            <a:ext cx="3615385" cy="307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3" name="TextBox 2">
            <a:extLst>
              <a:ext uri="{FF2B5EF4-FFF2-40B4-BE49-F238E27FC236}">
                <a16:creationId xmlns:a16="http://schemas.microsoft.com/office/drawing/2014/main" id="{C96EF4CB-3650-48C8-B185-34F1E87573EB}"/>
              </a:ext>
            </a:extLst>
          </p:cNvPr>
          <p:cNvSpPr txBox="1"/>
          <p:nvPr/>
        </p:nvSpPr>
        <p:spPr>
          <a:xfrm>
            <a:off x="970156" y="1338146"/>
            <a:ext cx="2754351"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 5: </a:t>
            </a:r>
            <a:endParaRPr kumimoji="0" lang="en-IN" sz="2000" b="0" i="0" u="none" strike="noStrike" cap="none" spc="0" normalizeH="0" baseline="0" dirty="0">
              <a:ln>
                <a:noFill/>
              </a:ln>
              <a:solidFill>
                <a:srgbClr val="000000"/>
              </a:solidFill>
              <a:effectLst/>
              <a:uFillTx/>
              <a:latin typeface="+mn-lt"/>
              <a:ea typeface="+mn-ea"/>
              <a:cs typeface="+mn-cs"/>
              <a:sym typeface="Arial"/>
            </a:endParaRPr>
          </a:p>
        </p:txBody>
      </p:sp>
      <p:pic>
        <p:nvPicPr>
          <p:cNvPr id="5" name="Picture 4">
            <a:extLst>
              <a:ext uri="{FF2B5EF4-FFF2-40B4-BE49-F238E27FC236}">
                <a16:creationId xmlns:a16="http://schemas.microsoft.com/office/drawing/2014/main" id="{4598DB0E-6BE7-49A7-9B07-75058192BB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357582"/>
            <a:ext cx="7848600" cy="2762168"/>
          </a:xfrm>
          <a:prstGeom prst="rect">
            <a:avLst/>
          </a:prstGeom>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1F7C1-D9CA-4C67-A4F5-04472262F6F9}"/>
              </a:ext>
            </a:extLst>
          </p:cNvPr>
          <p:cNvSpPr>
            <a:spLocks noGrp="1"/>
          </p:cNvSpPr>
          <p:nvPr>
            <p:ph type="title"/>
          </p:nvPr>
        </p:nvSpPr>
        <p:spPr/>
        <p:txBody>
          <a:bodyPr/>
          <a:lstStyle/>
          <a:p>
            <a:r>
              <a:rPr lang="en-US" dirty="0"/>
              <a:t>RESULTS</a:t>
            </a:r>
            <a:endParaRPr lang="en-IN" dirty="0"/>
          </a:p>
        </p:txBody>
      </p:sp>
      <p:sp>
        <p:nvSpPr>
          <p:cNvPr id="3" name="TextBox 2">
            <a:extLst>
              <a:ext uri="{FF2B5EF4-FFF2-40B4-BE49-F238E27FC236}">
                <a16:creationId xmlns:a16="http://schemas.microsoft.com/office/drawing/2014/main" id="{70AF76C3-9F74-4E1E-B0D9-4FDE8A8F1E32}"/>
              </a:ext>
            </a:extLst>
          </p:cNvPr>
          <p:cNvSpPr txBox="1"/>
          <p:nvPr/>
        </p:nvSpPr>
        <p:spPr>
          <a:xfrm>
            <a:off x="947854" y="1400147"/>
            <a:ext cx="2787805"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 6:</a:t>
            </a:r>
            <a:endParaRPr kumimoji="0" lang="en-IN" sz="2000" b="0" i="0" u="none" strike="noStrike" cap="none" spc="0" normalizeH="0" baseline="0" dirty="0">
              <a:ln>
                <a:noFill/>
              </a:ln>
              <a:solidFill>
                <a:srgbClr val="000000"/>
              </a:solidFill>
              <a:effectLst/>
              <a:uFillTx/>
              <a:latin typeface="+mn-lt"/>
              <a:ea typeface="+mn-ea"/>
              <a:cs typeface="+mn-cs"/>
              <a:sym typeface="Arial"/>
            </a:endParaRPr>
          </a:p>
        </p:txBody>
      </p:sp>
      <p:pic>
        <p:nvPicPr>
          <p:cNvPr id="5" name="Picture 4">
            <a:extLst>
              <a:ext uri="{FF2B5EF4-FFF2-40B4-BE49-F238E27FC236}">
                <a16:creationId xmlns:a16="http://schemas.microsoft.com/office/drawing/2014/main" id="{6E4AA838-F8F1-4FCC-A3E4-DE1934298C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434" y="2120712"/>
            <a:ext cx="7438214" cy="3210801"/>
          </a:xfrm>
          <a:prstGeom prst="rect">
            <a:avLst/>
          </a:prstGeom>
        </p:spPr>
      </p:pic>
    </p:spTree>
    <p:extLst>
      <p:ext uri="{BB962C8B-B14F-4D97-AF65-F5344CB8AC3E}">
        <p14:creationId xmlns:p14="http://schemas.microsoft.com/office/powerpoint/2010/main" val="56182709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24</a:t>
            </a:fld>
            <a:endParaRPr/>
          </a:p>
        </p:txBody>
      </p:sp>
      <p:grpSp>
        <p:nvGrpSpPr>
          <p:cNvPr id="240" name="Rectangle"/>
          <p:cNvGrpSpPr/>
          <p:nvPr/>
        </p:nvGrpSpPr>
        <p:grpSpPr>
          <a:xfrm>
            <a:off x="1295400" y="290297"/>
            <a:ext cx="6858000" cy="486206"/>
            <a:chOff x="0" y="0"/>
            <a:chExt cx="6858000" cy="486204"/>
          </a:xfrm>
        </p:grpSpPr>
        <p:sp>
          <p:nvSpPr>
            <p:cNvPr id="238"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39"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RESULTS</a:t>
              </a:r>
            </a:p>
          </p:txBody>
        </p:sp>
      </p:grpSp>
      <p:sp>
        <p:nvSpPr>
          <p:cNvPr id="241" name="TextBox 8"/>
          <p:cNvSpPr txBox="1"/>
          <p:nvPr/>
        </p:nvSpPr>
        <p:spPr>
          <a:xfrm>
            <a:off x="3458959" y="5641909"/>
            <a:ext cx="2530882" cy="3077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defRPr b="1">
                <a:latin typeface="Times New Roman"/>
                <a:ea typeface="Times New Roman"/>
                <a:cs typeface="Times New Roman"/>
                <a:sym typeface="Times New Roman"/>
              </a:defRPr>
            </a:pPr>
            <a:endParaRPr b="0" dirty="0"/>
          </a:p>
        </p:txBody>
      </p:sp>
      <p:sp>
        <p:nvSpPr>
          <p:cNvPr id="2" name="TextBox 1">
            <a:extLst>
              <a:ext uri="{FF2B5EF4-FFF2-40B4-BE49-F238E27FC236}">
                <a16:creationId xmlns:a16="http://schemas.microsoft.com/office/drawing/2014/main" id="{4B4B73EE-7B77-4880-B3AD-1E76F3D057DC}"/>
              </a:ext>
            </a:extLst>
          </p:cNvPr>
          <p:cNvSpPr txBox="1"/>
          <p:nvPr/>
        </p:nvSpPr>
        <p:spPr>
          <a:xfrm>
            <a:off x="892098" y="1438507"/>
            <a:ext cx="3490331" cy="4001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0" i="0" u="none" strike="noStrike" cap="none" spc="0" normalizeH="0" baseline="0" dirty="0">
                <a:ln>
                  <a:noFill/>
                </a:ln>
                <a:solidFill>
                  <a:srgbClr val="000000"/>
                </a:solidFill>
                <a:effectLst/>
                <a:uFillTx/>
                <a:latin typeface="+mn-lt"/>
                <a:ea typeface="+mn-ea"/>
                <a:cs typeface="+mn-cs"/>
                <a:sym typeface="Arial"/>
              </a:rPr>
              <a:t>Demo 7</a:t>
            </a:r>
            <a:r>
              <a:rPr kumimoji="0" lang="en-US" sz="1400" b="0" i="0" u="none" strike="noStrike" cap="none" spc="0" normalizeH="0" baseline="0" dirty="0">
                <a:ln>
                  <a:noFill/>
                </a:ln>
                <a:solidFill>
                  <a:srgbClr val="000000"/>
                </a:solidFill>
                <a:effectLst/>
                <a:uFillTx/>
                <a:latin typeface="+mn-lt"/>
                <a:ea typeface="+mn-ea"/>
                <a:cs typeface="+mn-cs"/>
                <a:sym typeface="Arial"/>
              </a:rPr>
              <a:t>: </a:t>
            </a:r>
            <a:endParaRPr kumimoji="0" lang="en-IN" sz="1400" b="0" i="0" u="none" strike="noStrike" cap="none" spc="0" normalizeH="0" baseline="0" dirty="0">
              <a:ln>
                <a:noFill/>
              </a:ln>
              <a:solidFill>
                <a:srgbClr val="000000"/>
              </a:solidFill>
              <a:effectLst/>
              <a:uFillTx/>
              <a:latin typeface="+mn-lt"/>
              <a:ea typeface="+mn-ea"/>
              <a:cs typeface="+mn-cs"/>
              <a:sym typeface="Arial"/>
            </a:endParaRPr>
          </a:p>
        </p:txBody>
      </p:sp>
      <p:pic>
        <p:nvPicPr>
          <p:cNvPr id="4" name="Picture 3">
            <a:extLst>
              <a:ext uri="{FF2B5EF4-FFF2-40B4-BE49-F238E27FC236}">
                <a16:creationId xmlns:a16="http://schemas.microsoft.com/office/drawing/2014/main" id="{7CAC953B-605B-4267-A834-2B554F135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098" y="2319358"/>
            <a:ext cx="7672039" cy="2700031"/>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25</a:t>
            </a:fld>
            <a:endParaRPr/>
          </a:p>
        </p:txBody>
      </p:sp>
      <p:grpSp>
        <p:nvGrpSpPr>
          <p:cNvPr id="246" name="Rectangle"/>
          <p:cNvGrpSpPr/>
          <p:nvPr/>
        </p:nvGrpSpPr>
        <p:grpSpPr>
          <a:xfrm>
            <a:off x="1295400" y="290297"/>
            <a:ext cx="6858000" cy="486206"/>
            <a:chOff x="0" y="0"/>
            <a:chExt cx="6858000" cy="486204"/>
          </a:xfrm>
        </p:grpSpPr>
        <p:sp>
          <p:nvSpPr>
            <p:cNvPr id="244"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45" name="RESULTS"/>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RESULTS</a:t>
              </a:r>
            </a:p>
          </p:txBody>
        </p:sp>
      </p:grpSp>
      <p:sp>
        <p:nvSpPr>
          <p:cNvPr id="247" name="TextBox 3"/>
          <p:cNvSpPr txBox="1"/>
          <p:nvPr/>
        </p:nvSpPr>
        <p:spPr>
          <a:xfrm>
            <a:off x="798519" y="1595078"/>
            <a:ext cx="7661128" cy="36163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defRPr sz="1800" b="1">
                <a:latin typeface="Times New Roman"/>
                <a:ea typeface="Times New Roman"/>
                <a:cs typeface="Times New Roman"/>
                <a:sym typeface="Times New Roman"/>
              </a:defRPr>
            </a:pPr>
            <a:r>
              <a:rPr sz="2300" dirty="0"/>
              <a:t>Sprint Planning:</a:t>
            </a:r>
          </a:p>
          <a:p>
            <a:r>
              <a:rPr lang="en-IN" sz="1800" b="1" dirty="0"/>
              <a:t>Sprint 1: </a:t>
            </a:r>
            <a:r>
              <a:rPr lang="en-IN" sz="1800" dirty="0"/>
              <a:t>Collection of Requirements, User Story, Identifying Stakeholders etc and Collection and Analysis of Literature Survey </a:t>
            </a:r>
          </a:p>
          <a:p>
            <a:r>
              <a:rPr lang="en-IN" sz="1800" b="1" dirty="0"/>
              <a:t>Sprint 2:</a:t>
            </a:r>
            <a:r>
              <a:rPr lang="en-IN" sz="1800" dirty="0"/>
              <a:t> Backend development (Node.js, API testing) </a:t>
            </a:r>
          </a:p>
          <a:p>
            <a:r>
              <a:rPr lang="en-IN" sz="1800" b="1" dirty="0"/>
              <a:t>Sprint 3:</a:t>
            </a:r>
            <a:r>
              <a:rPr lang="en-IN" sz="1800" dirty="0"/>
              <a:t> Frontend development (React.js) </a:t>
            </a:r>
          </a:p>
          <a:p>
            <a:r>
              <a:rPr lang="en-IN" sz="1800" b="1" dirty="0"/>
              <a:t>Sprint 4:</a:t>
            </a:r>
            <a:r>
              <a:rPr lang="en-IN" sz="1800" dirty="0"/>
              <a:t> Integration and testing and Deployment and final review</a:t>
            </a:r>
          </a:p>
          <a:p>
            <a:pPr>
              <a:buSzPct val="100000"/>
              <a:buFont typeface="Arial"/>
              <a:buChar char="•"/>
              <a:defRPr sz="1800">
                <a:latin typeface="Times New Roman"/>
                <a:ea typeface="Times New Roman"/>
                <a:cs typeface="Times New Roman"/>
                <a:sym typeface="Times New Roman"/>
              </a:defRPr>
            </a:pPr>
            <a:endParaRPr b="0" dirty="0"/>
          </a:p>
          <a:p>
            <a:pPr>
              <a:defRPr sz="1800" b="1">
                <a:latin typeface="Times New Roman"/>
                <a:ea typeface="Times New Roman"/>
                <a:cs typeface="Times New Roman"/>
                <a:sym typeface="Times New Roman"/>
              </a:defRPr>
            </a:pPr>
            <a:r>
              <a:rPr sz="2000" dirty="0"/>
              <a:t>Definition of Done:</a:t>
            </a:r>
          </a:p>
          <a:p>
            <a:pPr marL="381000" indent="-285750" algn="just">
              <a:buSzPct val="100000"/>
              <a:buFont typeface="Arial"/>
              <a:buChar char="•"/>
              <a:defRPr sz="1800">
                <a:latin typeface="Times New Roman"/>
                <a:ea typeface="Times New Roman"/>
                <a:cs typeface="Times New Roman"/>
                <a:sym typeface="Times New Roman"/>
              </a:defRPr>
            </a:pPr>
            <a:r>
              <a:rPr lang="en-US" sz="2000" dirty="0"/>
              <a:t>U</a:t>
            </a:r>
            <a:r>
              <a:rPr lang="en-IN" sz="2000" dirty="0"/>
              <a:t>ser Story and Functional and Non Functional Requirements</a:t>
            </a:r>
          </a:p>
          <a:p>
            <a:pPr marL="381000" indent="-285750" algn="just">
              <a:buSzPct val="100000"/>
              <a:buFont typeface="Arial"/>
              <a:buChar char="•"/>
              <a:defRPr sz="1800">
                <a:latin typeface="Times New Roman"/>
                <a:ea typeface="Times New Roman"/>
                <a:cs typeface="Times New Roman"/>
                <a:sym typeface="Times New Roman"/>
              </a:defRPr>
            </a:pPr>
            <a:r>
              <a:rPr lang="en-US" sz="2000" dirty="0"/>
              <a:t>Backend development</a:t>
            </a:r>
            <a:endParaRPr sz="2000" dirty="0"/>
          </a:p>
          <a:p>
            <a:pPr marL="381000" indent="-285750" algn="just">
              <a:buSzPct val="100000"/>
              <a:buFont typeface="Arial"/>
              <a:buChar char="•"/>
              <a:defRPr sz="1800">
                <a:latin typeface="Times New Roman"/>
                <a:ea typeface="Times New Roman"/>
                <a:cs typeface="Times New Roman"/>
                <a:sym typeface="Times New Roman"/>
              </a:defRPr>
            </a:pPr>
            <a:r>
              <a:rPr lang="en-US" sz="2000" dirty="0"/>
              <a:t>Frontend development</a:t>
            </a:r>
            <a:endParaRPr sz="2000" dirty="0"/>
          </a:p>
          <a:p>
            <a:pPr>
              <a:defRPr sz="1800">
                <a:latin typeface="Times New Roman"/>
                <a:ea typeface="Times New Roman"/>
                <a:cs typeface="Times New Roman"/>
                <a:sym typeface="Times New Roman"/>
              </a:defRPr>
            </a:pPr>
            <a:endParaRPr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Slide Number"/>
          <p:cNvSpPr txBox="1">
            <a:spLocks noGrp="1"/>
          </p:cNvSpPr>
          <p:nvPr>
            <p:ph type="sldNum" sz="quarter" idx="2"/>
          </p:nvPr>
        </p:nvSpPr>
        <p:spPr>
          <a:xfrm>
            <a:off x="8308694"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26</a:t>
            </a:fld>
            <a:endParaRPr/>
          </a:p>
        </p:txBody>
      </p:sp>
      <p:grpSp>
        <p:nvGrpSpPr>
          <p:cNvPr id="252" name="Rectangle"/>
          <p:cNvGrpSpPr/>
          <p:nvPr/>
        </p:nvGrpSpPr>
        <p:grpSpPr>
          <a:xfrm>
            <a:off x="1295400" y="290297"/>
            <a:ext cx="6858000" cy="486206"/>
            <a:chOff x="0" y="0"/>
            <a:chExt cx="6858000" cy="486204"/>
          </a:xfrm>
        </p:grpSpPr>
        <p:sp>
          <p:nvSpPr>
            <p:cNvPr id="250" name="Rectangle"/>
            <p:cNvSpPr/>
            <p:nvPr/>
          </p:nvSpPr>
          <p:spPr>
            <a:xfrm>
              <a:off x="0" y="14502"/>
              <a:ext cx="6858000" cy="457201"/>
            </a:xfrm>
            <a:prstGeom prst="rect">
              <a:avLst/>
            </a:prstGeom>
            <a:solidFill>
              <a:srgbClr val="FFFFFF"/>
            </a:solidFill>
            <a:ln w="9525" cap="flat">
              <a:solidFill>
                <a:srgbClr val="FFFFFF"/>
              </a:solidFill>
              <a:prstDash val="solid"/>
              <a:round/>
            </a:ln>
            <a:effectLst/>
          </p:spPr>
          <p:txBody>
            <a:bodyPr wrap="square" lIns="45718" tIns="45718" rIns="45718" bIns="45718" numCol="1" anchor="ctr">
              <a:noAutofit/>
            </a:bodyPr>
            <a:lstStyle/>
            <a:p>
              <a:pPr algn="ctr">
                <a:defRPr sz="2800"/>
              </a:pPr>
              <a:endParaRPr/>
            </a:p>
          </p:txBody>
        </p:sp>
        <p:sp>
          <p:nvSpPr>
            <p:cNvPr id="251" name="CONCLUSION &amp; FUTURE SCOPE"/>
            <p:cNvSpPr txBox="1"/>
            <p:nvPr/>
          </p:nvSpPr>
          <p:spPr>
            <a:xfrm>
              <a:off x="4762" y="0"/>
              <a:ext cx="6848476" cy="486205"/>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numCol="1" anchor="ctr">
              <a:spAutoFit/>
            </a:bodyPr>
            <a:lstStyle>
              <a:lvl1pPr algn="ctr">
                <a:defRPr sz="2800"/>
              </a:lvl1pPr>
            </a:lstStyle>
            <a:p>
              <a:r>
                <a:t>CONCLUSION &amp; FUTURE SCOPE</a:t>
              </a:r>
            </a:p>
          </p:txBody>
        </p:sp>
      </p:grpSp>
      <p:sp>
        <p:nvSpPr>
          <p:cNvPr id="253" name="TextBox 3"/>
          <p:cNvSpPr txBox="1"/>
          <p:nvPr/>
        </p:nvSpPr>
        <p:spPr>
          <a:xfrm>
            <a:off x="893836" y="2015412"/>
            <a:ext cx="7661128" cy="30277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defTabSz="457200">
              <a:defRPr sz="1600">
                <a:solidFill>
                  <a:srgbClr val="3B3A3B"/>
                </a:solidFill>
                <a:latin typeface="+mj-lt"/>
                <a:ea typeface="+mj-ea"/>
                <a:cs typeface="+mj-cs"/>
                <a:sym typeface="Helvetica"/>
              </a:defRPr>
            </a:pPr>
            <a:r>
              <a:rPr dirty="0" err="1"/>
              <a:t>Alumination</a:t>
            </a:r>
            <a:r>
              <a:rPr dirty="0"/>
              <a:t> gives student</a:t>
            </a:r>
            <a:r>
              <a:rPr dirty="0">
                <a:latin typeface="Times Roman"/>
                <a:ea typeface="Times Roman"/>
                <a:cs typeface="Times Roman"/>
                <a:sym typeface="Times Roman"/>
              </a:rPr>
              <a:t>s </a:t>
            </a:r>
            <a:r>
              <a:rPr lang="en-US" dirty="0">
                <a:latin typeface="Times Roman"/>
                <a:ea typeface="Times Roman"/>
                <a:cs typeface="Times Roman"/>
                <a:sym typeface="Times Roman"/>
              </a:rPr>
              <a:t>a </a:t>
            </a:r>
            <a:r>
              <a:rPr dirty="0"/>
              <a:t>dynamic platform to engage with </a:t>
            </a:r>
            <a:r>
              <a:rPr dirty="0">
                <a:latin typeface="Times Roman"/>
                <a:ea typeface="Times Roman"/>
                <a:cs typeface="Times Roman"/>
                <a:sym typeface="Times Roman"/>
              </a:rPr>
              <a:t>the alumni; engage</a:t>
            </a:r>
            <a:r>
              <a:rPr dirty="0"/>
              <a:t> in </a:t>
            </a:r>
            <a:r>
              <a:rPr dirty="0">
                <a:latin typeface="Times Roman"/>
                <a:ea typeface="Times Roman"/>
                <a:cs typeface="Times Roman"/>
                <a:sym typeface="Times Roman"/>
              </a:rPr>
              <a:t>mentorship; network;</a:t>
            </a:r>
            <a:r>
              <a:rPr dirty="0"/>
              <a:t> and seek job opportunities </a:t>
            </a:r>
            <a:r>
              <a:rPr dirty="0">
                <a:latin typeface="Times Roman"/>
                <a:ea typeface="Times Roman"/>
                <a:cs typeface="Times Roman"/>
                <a:sym typeface="Times Roman"/>
              </a:rPr>
              <a:t>on</a:t>
            </a:r>
            <a:r>
              <a:rPr dirty="0"/>
              <a:t> alumni circles. A </a:t>
            </a:r>
            <a:r>
              <a:rPr dirty="0">
                <a:latin typeface="Times Roman"/>
                <a:ea typeface="Times Roman"/>
                <a:cs typeface="Times Roman"/>
                <a:sym typeface="Times Roman"/>
              </a:rPr>
              <a:t>trustworthy scalable easy</a:t>
            </a:r>
            <a:r>
              <a:rPr dirty="0"/>
              <a:t> platform powered by React.js, </a:t>
            </a:r>
            <a:r>
              <a:rPr dirty="0">
                <a:latin typeface="Times Roman"/>
                <a:ea typeface="Times Roman"/>
                <a:cs typeface="Times Roman"/>
                <a:sym typeface="Times Roman"/>
              </a:rPr>
              <a:t>Node.js</a:t>
            </a:r>
            <a:r>
              <a:rPr dirty="0"/>
              <a:t> and PostgreSQL serves both students and alumni. The </a:t>
            </a:r>
            <a:r>
              <a:rPr dirty="0">
                <a:latin typeface="Times Roman"/>
                <a:ea typeface="Times Roman"/>
                <a:cs typeface="Times Roman"/>
                <a:sym typeface="Times Roman"/>
              </a:rPr>
              <a:t>swiped-based</a:t>
            </a:r>
            <a:r>
              <a:rPr dirty="0"/>
              <a:t> system is </a:t>
            </a:r>
            <a:r>
              <a:rPr dirty="0">
                <a:latin typeface="Times Roman"/>
                <a:ea typeface="Times Roman"/>
                <a:cs typeface="Times Roman"/>
                <a:sym typeface="Times Roman"/>
              </a:rPr>
              <a:t>structured</a:t>
            </a:r>
            <a:r>
              <a:rPr dirty="0"/>
              <a:t> to </a:t>
            </a:r>
            <a:r>
              <a:rPr dirty="0">
                <a:latin typeface="Times Roman"/>
                <a:ea typeface="Times Roman"/>
                <a:cs typeface="Times Roman"/>
                <a:sym typeface="Times Roman"/>
              </a:rPr>
              <a:t>make</a:t>
            </a:r>
            <a:r>
              <a:rPr dirty="0"/>
              <a:t> simple connections between </a:t>
            </a:r>
            <a:r>
              <a:rPr dirty="0">
                <a:latin typeface="Times Roman"/>
                <a:ea typeface="Times Roman"/>
                <a:cs typeface="Times Roman"/>
                <a:sym typeface="Times Roman"/>
              </a:rPr>
              <a:t>the</a:t>
            </a:r>
            <a:r>
              <a:rPr dirty="0"/>
              <a:t> students and </a:t>
            </a:r>
            <a:r>
              <a:rPr dirty="0">
                <a:latin typeface="Times Roman"/>
                <a:ea typeface="Times Roman"/>
                <a:cs typeface="Times Roman"/>
                <a:sym typeface="Times Roman"/>
              </a:rPr>
              <a:t>alumni</a:t>
            </a:r>
            <a:r>
              <a:rPr dirty="0"/>
              <a:t> enabling </a:t>
            </a:r>
            <a:r>
              <a:rPr dirty="0">
                <a:latin typeface="Times Roman"/>
                <a:ea typeface="Times Roman"/>
                <a:cs typeface="Times Roman"/>
                <a:sym typeface="Times Roman"/>
              </a:rPr>
              <a:t>to tighten</a:t>
            </a:r>
            <a:r>
              <a:rPr dirty="0"/>
              <a:t> bonds that </a:t>
            </a:r>
            <a:r>
              <a:rPr dirty="0">
                <a:latin typeface="Times Roman"/>
                <a:ea typeface="Times Roman"/>
                <a:cs typeface="Times Roman"/>
                <a:sym typeface="Times Roman"/>
              </a:rPr>
              <a:t>may reach outside other</a:t>
            </a:r>
            <a:r>
              <a:rPr dirty="0"/>
              <a:t> college networks. When scaled appropriately and </a:t>
            </a:r>
            <a:r>
              <a:rPr dirty="0">
                <a:latin typeface="Times Roman"/>
                <a:ea typeface="Times Roman"/>
                <a:cs typeface="Times Roman"/>
                <a:sym typeface="Times Roman"/>
              </a:rPr>
              <a:t>drawing in</a:t>
            </a:r>
            <a:r>
              <a:rPr dirty="0"/>
              <a:t> features, the platform is </a:t>
            </a:r>
            <a:r>
              <a:rPr dirty="0">
                <a:latin typeface="Times Roman"/>
                <a:ea typeface="Times Roman"/>
                <a:cs typeface="Times Roman"/>
                <a:sym typeface="Times Roman"/>
              </a:rPr>
              <a:t>set</a:t>
            </a:r>
            <a:r>
              <a:rPr dirty="0"/>
              <a:t> for continuous growth. A</a:t>
            </a:r>
            <a:r>
              <a:rPr dirty="0">
                <a:latin typeface="Times Roman"/>
                <a:ea typeface="Times Roman"/>
                <a:cs typeface="Times Roman"/>
                <a:sym typeface="Times Roman"/>
              </a:rPr>
              <a:t>n up</a:t>
            </a:r>
            <a:r>
              <a:rPr dirty="0"/>
              <a:t>grade </a:t>
            </a:r>
            <a:r>
              <a:rPr dirty="0">
                <a:latin typeface="Times Roman"/>
                <a:ea typeface="Times Roman"/>
                <a:cs typeface="Times Roman"/>
                <a:sym typeface="Times Roman"/>
              </a:rPr>
              <a:t>oven</a:t>
            </a:r>
            <a:r>
              <a:rPr dirty="0"/>
              <a:t> is expected to include real-time communication, </a:t>
            </a:r>
            <a:r>
              <a:rPr dirty="0">
                <a:latin typeface="Times Roman"/>
                <a:ea typeface="Times Roman"/>
                <a:cs typeface="Times Roman"/>
                <a:sym typeface="Times Roman"/>
              </a:rPr>
              <a:t>instantaneous notification</a:t>
            </a:r>
            <a:r>
              <a:rPr dirty="0"/>
              <a:t> of events, </a:t>
            </a:r>
            <a:r>
              <a:rPr dirty="0">
                <a:latin typeface="Times Roman"/>
                <a:ea typeface="Times Roman"/>
                <a:cs typeface="Times Roman"/>
                <a:sym typeface="Times Roman"/>
              </a:rPr>
              <a:t>the use of</a:t>
            </a:r>
            <a:r>
              <a:rPr dirty="0"/>
              <a:t> OTP authentication, and the ability to maintain consistent interaction with institutional systems. With </a:t>
            </a:r>
            <a:r>
              <a:rPr dirty="0">
                <a:latin typeface="Times Roman"/>
                <a:ea typeface="Times Roman"/>
                <a:cs typeface="Times Roman"/>
                <a:sym typeface="Times Roman"/>
              </a:rPr>
              <a:t>the use of</a:t>
            </a:r>
            <a:r>
              <a:rPr dirty="0"/>
              <a:t> these features, the platform will </a:t>
            </a:r>
            <a:r>
              <a:rPr dirty="0">
                <a:latin typeface="Times Roman"/>
                <a:ea typeface="Times Roman"/>
                <a:cs typeface="Times Roman"/>
                <a:sym typeface="Times Roman"/>
              </a:rPr>
              <a:t>help increase the</a:t>
            </a:r>
            <a:r>
              <a:rPr dirty="0"/>
              <a:t> interaction </a:t>
            </a:r>
            <a:r>
              <a:rPr dirty="0">
                <a:latin typeface="Times Roman"/>
                <a:ea typeface="Times Roman"/>
                <a:cs typeface="Times Roman"/>
                <a:sym typeface="Times Roman"/>
              </a:rPr>
              <a:t>of the users</a:t>
            </a:r>
            <a:r>
              <a:rPr dirty="0"/>
              <a:t> and </a:t>
            </a:r>
            <a:r>
              <a:rPr dirty="0">
                <a:latin typeface="Times Roman"/>
                <a:ea typeface="Times Roman"/>
                <a:cs typeface="Times Roman"/>
                <a:sym typeface="Times Roman"/>
              </a:rPr>
              <a:t>strengthen </a:t>
            </a:r>
            <a:r>
              <a:rPr dirty="0" err="1">
                <a:latin typeface="Times Roman"/>
                <a:ea typeface="Times Roman"/>
                <a:cs typeface="Times Roman"/>
                <a:sym typeface="Times Roman"/>
              </a:rPr>
              <a:t>Alumination’s</a:t>
            </a:r>
            <a:r>
              <a:rPr dirty="0">
                <a:latin typeface="Times Roman"/>
                <a:ea typeface="Times Roman"/>
                <a:cs typeface="Times Roman"/>
                <a:sym typeface="Times Roman"/>
              </a:rPr>
              <a:t> standing</a:t>
            </a:r>
            <a:r>
              <a:rPr dirty="0"/>
              <a:t> as a strong network of students </a:t>
            </a:r>
            <a:r>
              <a:rPr dirty="0">
                <a:latin typeface="Times Roman"/>
                <a:ea typeface="Times Roman"/>
                <a:cs typeface="Times Roman"/>
                <a:sym typeface="Times Roman"/>
              </a:rPr>
              <a:t>at</a:t>
            </a:r>
            <a:r>
              <a:rPr dirty="0"/>
              <a:t> schools.</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 name="Title 1"/>
          <p:cNvSpPr txBox="1">
            <a:spLocks noGrp="1"/>
          </p:cNvSpPr>
          <p:nvPr>
            <p:ph type="title"/>
          </p:nvPr>
        </p:nvSpPr>
        <p:spPr>
          <a:xfrm>
            <a:off x="391886" y="2809149"/>
            <a:ext cx="8229601" cy="1508127"/>
          </a:xfrm>
          <a:prstGeom prst="rect">
            <a:avLst/>
          </a:prstGeom>
        </p:spPr>
        <p:txBody>
          <a:bodyPr/>
          <a:lstStyle>
            <a:lvl1pPr>
              <a:defRPr>
                <a:latin typeface="Times New Roman"/>
                <a:ea typeface="Times New Roman"/>
                <a:cs typeface="Times New Roman"/>
                <a:sym typeface="Times New Roman"/>
              </a:defRPr>
            </a:lvl1pPr>
          </a:lstStyle>
          <a:p>
            <a:r>
              <a:t>THANK YOU</a:t>
            </a:r>
          </a:p>
        </p:txBody>
      </p:sp>
      <p:sp>
        <p:nvSpPr>
          <p:cNvPr id="256" name="Slide Number Placeholder 2"/>
          <p:cNvSpPr txBox="1">
            <a:spLocks noGrp="1"/>
          </p:cNvSpPr>
          <p:nvPr>
            <p:ph type="sldNum" sz="quarter" idx="2"/>
          </p:nvPr>
        </p:nvSpPr>
        <p:spPr>
          <a:xfrm>
            <a:off x="8308692" y="381000"/>
            <a:ext cx="301906" cy="288822"/>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27</a:t>
            </a:fld>
            <a:endParaRPr/>
          </a:p>
        </p:txBody>
      </p:sp>
    </p:spTree>
  </p:cSld>
  <p:clrMapOvr>
    <a:masterClrMapping/>
  </p:clrMapOvr>
  <p:transition spd="med"/>
</p:sld>
</file>

<file path=ppt/theme/theme1.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1_Default Design">
  <a:themeElements>
    <a:clrScheme name="11_Default Design">
      <a:dk1>
        <a:srgbClr val="000000"/>
      </a:dk1>
      <a:lt1>
        <a:srgbClr val="FFFFFF"/>
      </a:lt1>
      <a:dk2>
        <a:srgbClr val="A7A7A7"/>
      </a:dk2>
      <a:lt2>
        <a:srgbClr val="535353"/>
      </a:lt2>
      <a:accent1>
        <a:srgbClr val="BBE0E3"/>
      </a:accent1>
      <a:accent2>
        <a:srgbClr val="333399"/>
      </a:accent2>
      <a:accent3>
        <a:srgbClr val="9BBB59"/>
      </a:accent3>
      <a:accent4>
        <a:srgbClr val="8064A2"/>
      </a:accent4>
      <a:accent5>
        <a:srgbClr val="4BACC6"/>
      </a:accent5>
      <a:accent6>
        <a:srgbClr val="F79646"/>
      </a:accent6>
      <a:hlink>
        <a:srgbClr val="0000FF"/>
      </a:hlink>
      <a:folHlink>
        <a:srgbClr val="FF00FF"/>
      </a:folHlink>
    </a:clrScheme>
    <a:fontScheme name="11_Default Design">
      <a:majorFont>
        <a:latin typeface="Helvetica"/>
        <a:ea typeface="Helvetica"/>
        <a:cs typeface="Helvetica"/>
      </a:majorFont>
      <a:minorFont>
        <a:latin typeface="Arial"/>
        <a:ea typeface="Arial"/>
        <a:cs typeface="Arial"/>
      </a:minorFont>
    </a:fontScheme>
    <a:fmtScheme name="11_Default Desig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309</TotalTime>
  <Words>1957</Words>
  <Application>Microsoft Office PowerPoint</Application>
  <PresentationFormat>On-screen Show (4:3)</PresentationFormat>
  <Paragraphs>216</Paragraphs>
  <Slides>27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Aptos Display</vt:lpstr>
      <vt:lpstr>Arial</vt:lpstr>
      <vt:lpstr>Calibri</vt:lpstr>
      <vt:lpstr>Calibri Light</vt:lpstr>
      <vt:lpstr>Georgia</vt:lpstr>
      <vt:lpstr>Helvetica</vt:lpstr>
      <vt:lpstr>Segoe UI</vt:lpstr>
      <vt:lpstr>Times New Roman</vt:lpstr>
      <vt:lpstr>Times Roman</vt:lpstr>
      <vt:lpstr>11_Default Design</vt:lpstr>
      <vt:lpstr>S</vt:lpstr>
      <vt:lpstr>INTRODUCTION</vt:lpstr>
      <vt:lpstr>   </vt:lpstr>
      <vt:lpstr>   </vt:lpstr>
      <vt:lpstr>   </vt:lpstr>
      <vt:lpstr>   </vt:lpstr>
      <vt:lpstr>PowerPoint Presentation</vt:lpstr>
      <vt:lpstr>PowerPoint Presentation</vt:lpstr>
      <vt:lpstr>User Story:</vt:lpstr>
      <vt:lpstr>PowerPoint Presentation</vt:lpstr>
      <vt:lpstr>4. Messaging &amp; Inbox System  a. Users can send and receive real-time messages.  b. Messages are stored securely and accessible in an inbox.  c. Alumni can reply only to matched users.   5. Event Announcements &amp; Help Page  a. Users can create event announcements that appear on alumni dashboards.  b. Alumni can access a help page with special contacts for assistance.   6. Security Features  a. Unauthorized access to profiles is restricted.  b. Data encryption ensures security.  </vt:lpstr>
      <vt:lpstr>PowerPoint Presentation</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RESULTS</vt:lpstr>
      <vt:lpstr>PowerPoint Presentation</vt:lpstr>
      <vt:lpstr>RESULTS</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c:title>
  <cp:lastModifiedBy>LIKHIT YAMMANURU-[BL.EN.U4CSE22233]</cp:lastModifiedBy>
  <cp:revision>13</cp:revision>
  <dcterms:modified xsi:type="dcterms:W3CDTF">2025-05-13T17:02:20Z</dcterms:modified>
</cp:coreProperties>
</file>