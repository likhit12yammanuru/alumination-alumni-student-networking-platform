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85" r:id="rId3"/>
    <p:sldId id="257" r:id="rId4"/>
    <p:sldId id="258" r:id="rId5"/>
    <p:sldId id="259" r:id="rId6"/>
    <p:sldId id="260" r:id="rId7"/>
    <p:sldId id="261" r:id="rId8"/>
    <p:sldId id="262" r:id="rId9"/>
    <p:sldId id="284" r:id="rId10"/>
    <p:sldId id="283" r:id="rId11"/>
    <p:sldId id="278" r:id="rId12"/>
    <p:sldId id="279" r:id="rId13"/>
    <p:sldId id="263" r:id="rId14"/>
    <p:sldId id="276" r:id="rId15"/>
    <p:sldId id="277" r:id="rId16"/>
    <p:sldId id="264" r:id="rId17"/>
    <p:sldId id="265" r:id="rId18"/>
    <p:sldId id="266" r:id="rId19"/>
    <p:sldId id="282" r:id="rId20"/>
    <p:sldId id="267" r:id="rId21"/>
    <p:sldId id="268" r:id="rId22"/>
    <p:sldId id="269" r:id="rId23"/>
    <p:sldId id="286" r:id="rId24"/>
    <p:sldId id="270" r:id="rId25"/>
    <p:sldId id="280" r:id="rId26"/>
    <p:sldId id="271" r:id="rId27"/>
    <p:sldId id="273" r:id="rId28"/>
    <p:sldId id="274" r:id="rId29"/>
    <p:sldId id="275" r:id="rId3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a:tcStyle>
        <a:tcBdr/>
        <a:fill>
          <a:solidFill>
            <a:srgbClr val="FFFFFF"/>
          </a:solidFill>
        </a:fill>
      </a:tcStyle>
    </a:band2H>
    <a:firstCo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16" autoAdjust="0"/>
    <p:restoredTop sz="94660"/>
  </p:normalViewPr>
  <p:slideViewPr>
    <p:cSldViewPr snapToGrid="0">
      <p:cViewPr varScale="1">
        <p:scale>
          <a:sx n="69" d="100"/>
          <a:sy n="69" d="100"/>
        </p:scale>
        <p:origin x="86"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24"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25"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26"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2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3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36"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37"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38"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3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48"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49"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50"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5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59"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60"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61"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62"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63"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71"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72"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73"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74"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7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8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84"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85"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86"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8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9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96"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97"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98"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9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0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108"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109"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sp>
        <p:nvSpPr>
          <p:cNvPr id="110"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11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sp>
        <p:nvSpPr>
          <p:cNvPr id="3" name="Text"/>
          <p:cNvSpPr txBox="1"/>
          <p:nvPr/>
        </p:nvSpPr>
        <p:spPr>
          <a:xfrm>
            <a:off x="1264919" y="304800"/>
            <a:ext cx="6918960" cy="350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800" b="1"/>
            </a:lvl1pPr>
          </a:lstStyle>
          <a:p>
            <a:r>
              <a:t>                       </a:t>
            </a:r>
          </a:p>
        </p:txBody>
      </p:sp>
      <p:pic>
        <p:nvPicPr>
          <p:cNvPr id="4" name="image.png" descr="image.png"/>
          <p:cNvPicPr>
            <a:picLocks noChangeAspect="1"/>
          </p:cNvPicPr>
          <p:nvPr/>
        </p:nvPicPr>
        <p:blipFill>
          <a:blip r:embed="rId11">
            <a:extLst/>
          </a:blip>
          <a:stretch>
            <a:fillRect/>
          </a:stretch>
        </p:blipFill>
        <p:spPr>
          <a:xfrm>
            <a:off x="0" y="38100"/>
            <a:ext cx="1104900" cy="1104900"/>
          </a:xfrm>
          <a:prstGeom prst="rect">
            <a:avLst/>
          </a:prstGeom>
          <a:ln w="12700">
            <a:miter lim="400000"/>
          </a:ln>
        </p:spPr>
      </p:pic>
      <p:sp>
        <p:nvSpPr>
          <p:cNvPr id="5" name="Slide Number"/>
          <p:cNvSpPr txBox="1">
            <a:spLocks noGrp="1"/>
          </p:cNvSpPr>
          <p:nvPr>
            <p:ph type="sldNum" sz="quarter" idx="2"/>
          </p:nvPr>
        </p:nvSpPr>
        <p:spPr>
          <a:xfrm>
            <a:off x="8308695" y="381000"/>
            <a:ext cx="301907" cy="288822"/>
          </a:xfrm>
          <a:prstGeom prst="rect">
            <a:avLst/>
          </a:prstGeom>
          <a:ln w="12700">
            <a:miter lim="400000"/>
          </a:ln>
        </p:spPr>
        <p:txBody>
          <a:bodyPr wrap="none" lIns="45718" tIns="45718" rIns="45718" bIns="45718">
            <a:spAutoFit/>
          </a:bodyPr>
          <a:lstStyle>
            <a:lvl1pPr algn="r"/>
          </a:lstStyle>
          <a:p>
            <a:fld id="{86CB4B4D-7CA3-9044-876B-883B54F8677D}" type="slidenum">
              <a:t>‹#›</a:t>
            </a:fld>
            <a:endParaRPr/>
          </a:p>
        </p:txBody>
      </p:sp>
      <p:sp>
        <p:nvSpPr>
          <p:cNvPr id="6"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normAutofit/>
          </a:bodyPr>
          <a:lstStyle/>
          <a:p>
            <a:r>
              <a:t>Title Text</a:t>
            </a:r>
          </a:p>
        </p:txBody>
      </p:sp>
      <p:sp>
        <p:nvSpPr>
          <p:cNvPr id="7" name="Body Level One…"/>
          <p:cNvSpPr txBox="1">
            <a:spLocks noGrp="1"/>
          </p:cNvSpPr>
          <p:nvPr>
            <p:ph type="body" idx="1"/>
          </p:nvPr>
        </p:nvSpPr>
        <p:spPr>
          <a:xfrm>
            <a:off x="5103812" y="2438400"/>
            <a:ext cx="3581401" cy="396240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transition spd="med"/>
  <p:txStyles>
    <p:title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1pPr>
      <a:lvl2pPr marL="661307" marR="0" indent="-204107"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2pPr>
      <a:lvl3pPr marL="1200150" marR="0"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3pPr>
      <a:lvl4pPr marL="1600200" marR="0"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5pPr>
      <a:lvl6pPr marL="0" marR="0" indent="22860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6pPr>
      <a:lvl7pPr marL="0" marR="0" indent="27432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7pPr>
      <a:lvl8pPr marL="0" marR="0" indent="32004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8pPr>
      <a:lvl9pPr marL="0" marR="0" indent="36576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a:t>
            </a:fld>
            <a:endParaRPr/>
          </a:p>
        </p:txBody>
      </p:sp>
      <p:sp>
        <p:nvSpPr>
          <p:cNvPr id="130" name="Z-SPA"/>
          <p:cNvSpPr txBox="1">
            <a:spLocks noGrp="1"/>
          </p:cNvSpPr>
          <p:nvPr>
            <p:ph type="title"/>
          </p:nvPr>
        </p:nvSpPr>
        <p:spPr>
          <a:xfrm>
            <a:off x="419876" y="1255756"/>
            <a:ext cx="8304247" cy="914401"/>
          </a:xfrm>
          <a:prstGeom prst="rect">
            <a:avLst/>
          </a:prstGeom>
        </p:spPr>
        <p:txBody>
          <a:bodyPr/>
          <a:lstStyle>
            <a:lvl1pPr algn="l" defTabSz="457200">
              <a:defRPr sz="1200">
                <a:latin typeface="Times Roman"/>
                <a:ea typeface="Times Roman"/>
                <a:cs typeface="Times Roman"/>
                <a:sym typeface="Times Roman"/>
              </a:defRPr>
            </a:lvl1pPr>
          </a:lstStyle>
          <a:p>
            <a:r>
              <a:t>S</a:t>
            </a:r>
          </a:p>
        </p:txBody>
      </p:sp>
      <p:grpSp>
        <p:nvGrpSpPr>
          <p:cNvPr id="133" name="Rectangle"/>
          <p:cNvGrpSpPr/>
          <p:nvPr/>
        </p:nvGrpSpPr>
        <p:grpSpPr>
          <a:xfrm>
            <a:off x="1295400" y="290297"/>
            <a:ext cx="6858000" cy="486206"/>
            <a:chOff x="0" y="0"/>
            <a:chExt cx="6858000" cy="486204"/>
          </a:xfrm>
        </p:grpSpPr>
        <p:sp>
          <p:nvSpPr>
            <p:cNvPr id="13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32" name="19CSE314 – Software Engineering"/>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19CSE314 – Software Engineering</a:t>
              </a:r>
            </a:p>
          </p:txBody>
        </p:sp>
      </p:grpSp>
      <p:grpSp>
        <p:nvGrpSpPr>
          <p:cNvPr id="136" name="Group"/>
          <p:cNvGrpSpPr/>
          <p:nvPr/>
        </p:nvGrpSpPr>
        <p:grpSpPr>
          <a:xfrm>
            <a:off x="1053547" y="1981200"/>
            <a:ext cx="7455543" cy="3753679"/>
            <a:chOff x="0" y="0"/>
            <a:chExt cx="7455541" cy="3753677"/>
          </a:xfrm>
        </p:grpSpPr>
        <p:sp>
          <p:nvSpPr>
            <p:cNvPr id="134" name="Rectangle"/>
            <p:cNvSpPr/>
            <p:nvPr/>
          </p:nvSpPr>
          <p:spPr>
            <a:xfrm>
              <a:off x="-1" y="-1"/>
              <a:ext cx="7455543" cy="3753679"/>
            </a:xfrm>
            <a:prstGeom prst="rect">
              <a:avLst/>
            </a:prstGeom>
            <a:solidFill>
              <a:srgbClr val="FFFFFF"/>
            </a:solidFill>
            <a:ln w="12700" cap="flat">
              <a:noFill/>
              <a:miter lim="400000"/>
            </a:ln>
            <a:effectLst/>
          </p:spPr>
          <p:txBody>
            <a:bodyPr wrap="square" lIns="45718" tIns="45718" rIns="45718" bIns="45718" numCol="1" anchor="t">
              <a:noAutofit/>
            </a:bodyPr>
            <a:lstStyle/>
            <a:p>
              <a:pPr algn="ctr">
                <a:lnSpc>
                  <a:spcPct val="80000"/>
                </a:lnSpc>
                <a:spcBef>
                  <a:spcPts val="400"/>
                </a:spcBef>
                <a:defRPr sz="2000" b="1"/>
              </a:pPr>
              <a:endParaRPr/>
            </a:p>
          </p:txBody>
        </p:sp>
        <p:sp>
          <p:nvSpPr>
            <p:cNvPr id="135" name="Team Members     Group No: 13…"/>
            <p:cNvSpPr txBox="1"/>
            <p:nvPr/>
          </p:nvSpPr>
          <p:spPr>
            <a:xfrm>
              <a:off x="41039" y="341355"/>
              <a:ext cx="7373463" cy="237871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p>
              <a:pPr>
                <a:lnSpc>
                  <a:spcPct val="80000"/>
                </a:lnSpc>
                <a:spcBef>
                  <a:spcPts val="400"/>
                </a:spcBef>
                <a:defRPr sz="2000" b="1"/>
              </a:pPr>
              <a:r>
                <a:t>Team Number: 23</a:t>
              </a:r>
              <a:r>
                <a:rPr b="0"/>
                <a:t>	</a:t>
              </a: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p:txBody>
        </p:sp>
      </p:grpSp>
      <p:graphicFrame>
        <p:nvGraphicFramePr>
          <p:cNvPr id="137" name="Table 1"/>
          <p:cNvGraphicFramePr/>
          <p:nvPr>
            <p:extLst>
              <p:ext uri="{D42A27DB-BD31-4B8C-83A1-F6EECF244321}">
                <p14:modId xmlns:p14="http://schemas.microsoft.com/office/powerpoint/2010/main" val="3940681758"/>
              </p:ext>
            </p:extLst>
          </p:nvPr>
        </p:nvGraphicFramePr>
        <p:xfrm>
          <a:off x="1523999" y="3029829"/>
          <a:ext cx="6096000" cy="1112520"/>
        </p:xfrm>
        <a:graphic>
          <a:graphicData uri="http://schemas.openxmlformats.org/drawingml/2006/table">
            <a:tbl>
              <a:tblPr>
                <a:tableStyleId>{4C3C2611-4C71-4FC5-86AE-919BDF0F9419}</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defRPr sz="1800"/>
                      </a:pPr>
                      <a:r>
                        <a:rPr sz="1400" b="1"/>
                        <a:t>Reg.No</a:t>
                      </a:r>
                    </a:p>
                  </a:txBody>
                  <a:tcPr marL="45720" marR="45720" horzOverflow="overflow"/>
                </a:tc>
                <a:tc>
                  <a:txBody>
                    <a:bodyPr/>
                    <a:lstStyle/>
                    <a:p>
                      <a:pPr algn="ctr">
                        <a:defRPr sz="1800"/>
                      </a:pPr>
                      <a:r>
                        <a:rPr sz="1400" b="1"/>
                        <a:t>Name of the Student</a:t>
                      </a:r>
                    </a:p>
                  </a:txBody>
                  <a:tcPr marL="45720" marR="45720" horzOverflow="overflow"/>
                </a:tc>
                <a:extLst>
                  <a:ext uri="{0D108BD9-81ED-4DB2-BD59-A6C34878D82A}">
                    <a16:rowId xmlns:a16="http://schemas.microsoft.com/office/drawing/2014/main" val="10000"/>
                  </a:ext>
                </a:extLst>
              </a:tr>
              <a:tr h="370840">
                <a:tc>
                  <a:txBody>
                    <a:bodyPr/>
                    <a:lstStyle/>
                    <a:p>
                      <a:pPr algn="ctr">
                        <a:defRPr sz="1800"/>
                      </a:pPr>
                      <a:r>
                        <a:rPr sz="1400"/>
                        <a:t>BL.EN.U4CSE22233</a:t>
                      </a:r>
                    </a:p>
                  </a:txBody>
                  <a:tcPr marL="45720" marR="45720" horzOverflow="overflow"/>
                </a:tc>
                <a:tc>
                  <a:txBody>
                    <a:bodyPr/>
                    <a:lstStyle/>
                    <a:p>
                      <a:pPr algn="ctr">
                        <a:defRPr sz="1800"/>
                      </a:pPr>
                      <a:r>
                        <a:rPr sz="1400" dirty="0" err="1"/>
                        <a:t>Lik</a:t>
                      </a:r>
                      <a:r>
                        <a:rPr lang="en-US" sz="1400" dirty="0" err="1"/>
                        <a:t>h</a:t>
                      </a:r>
                      <a:r>
                        <a:rPr sz="1400" dirty="0" err="1"/>
                        <a:t>it</a:t>
                      </a:r>
                      <a:r>
                        <a:rPr sz="1400" dirty="0"/>
                        <a:t> </a:t>
                      </a:r>
                      <a:r>
                        <a:rPr lang="en-US" sz="1400" dirty="0" err="1"/>
                        <a:t>Yammanuru</a:t>
                      </a:r>
                      <a:endParaRPr sz="1400" dirty="0"/>
                    </a:p>
                  </a:txBody>
                  <a:tcPr marL="45720" marR="45720" horzOverflow="overflow"/>
                </a:tc>
                <a:extLst>
                  <a:ext uri="{0D108BD9-81ED-4DB2-BD59-A6C34878D82A}">
                    <a16:rowId xmlns:a16="http://schemas.microsoft.com/office/drawing/2014/main" val="10001"/>
                  </a:ext>
                </a:extLst>
              </a:tr>
              <a:tr h="370840">
                <a:tc>
                  <a:txBody>
                    <a:bodyPr/>
                    <a:lstStyle/>
                    <a:p>
                      <a:pPr algn="ctr">
                        <a:defRPr sz="1800"/>
                      </a:pPr>
                      <a:r>
                        <a:rPr sz="1400"/>
                        <a:t>BL.EN.U4CSE22249</a:t>
                      </a:r>
                    </a:p>
                  </a:txBody>
                  <a:tcPr marL="45720" marR="45720" horzOverflow="overflow"/>
                </a:tc>
                <a:tc>
                  <a:txBody>
                    <a:bodyPr/>
                    <a:lstStyle/>
                    <a:p>
                      <a:pPr algn="ctr">
                        <a:defRPr sz="1800"/>
                      </a:pPr>
                      <a:r>
                        <a:rPr sz="1400" dirty="0" err="1"/>
                        <a:t>R.Harsha</a:t>
                      </a:r>
                      <a:r>
                        <a:rPr sz="1400" dirty="0"/>
                        <a:t> </a:t>
                      </a:r>
                    </a:p>
                  </a:txBody>
                  <a:tcPr marL="45720" marR="45720"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3E30-9111-4C78-9A9A-F551F81AF234}"/>
              </a:ext>
            </a:extLst>
          </p:cNvPr>
          <p:cNvSpPr>
            <a:spLocks noGrp="1"/>
          </p:cNvSpPr>
          <p:nvPr>
            <p:ph type="title"/>
          </p:nvPr>
        </p:nvSpPr>
        <p:spPr/>
        <p:txBody>
          <a:bodyPr/>
          <a:lstStyle/>
          <a:p>
            <a:r>
              <a:rPr lang="en-US" dirty="0"/>
              <a:t>Abstract</a:t>
            </a:r>
            <a:endParaRPr lang="en-IN" dirty="0"/>
          </a:p>
        </p:txBody>
      </p:sp>
      <p:sp>
        <p:nvSpPr>
          <p:cNvPr id="4" name="Rectangle 3">
            <a:extLst>
              <a:ext uri="{FF2B5EF4-FFF2-40B4-BE49-F238E27FC236}">
                <a16:creationId xmlns:a16="http://schemas.microsoft.com/office/drawing/2014/main" id="{A854A459-12B3-4463-9319-0A6800961C3A}"/>
              </a:ext>
            </a:extLst>
          </p:cNvPr>
          <p:cNvSpPr/>
          <p:nvPr/>
        </p:nvSpPr>
        <p:spPr>
          <a:xfrm>
            <a:off x="791737" y="1600201"/>
            <a:ext cx="7895063" cy="3785652"/>
          </a:xfrm>
          <a:prstGeom prst="rect">
            <a:avLst/>
          </a:prstGeom>
        </p:spPr>
        <p:txBody>
          <a:bodyPr wrap="square">
            <a:spAutoFit/>
          </a:bodyPr>
          <a:lstStyle/>
          <a:p>
            <a:r>
              <a:rPr lang="en-IN" sz="2000" dirty="0"/>
              <a:t>This work aims to create an alumni portal named </a:t>
            </a:r>
            <a:r>
              <a:rPr lang="en-IN" sz="2000" dirty="0" err="1"/>
              <a:t>Alumination</a:t>
            </a:r>
            <a:r>
              <a:rPr lang="en-IN" sz="2000" dirty="0"/>
              <a:t>, with distinct student and alumni interfaces, employing full-stack web development concepts to facilitate interactive discovery of alumni. The system has a Tinder-like swipe interface with ease-of-use navigation buttons, enabling students to browse alumni profiles according to hobbies, profession, and academic background. Through the use of scalable architecture with React.js, Node.js, and minimal usage of PostgreSQL, the portal is made modular, high-performance, and clean data-handling. Authenticated access provides secure interactions, and features such as search, messaging, inboxes, and announcements provide two-way communication and active alumni participation.</a:t>
            </a:r>
          </a:p>
        </p:txBody>
      </p:sp>
    </p:spTree>
    <p:extLst>
      <p:ext uri="{BB962C8B-B14F-4D97-AF65-F5344CB8AC3E}">
        <p14:creationId xmlns:p14="http://schemas.microsoft.com/office/powerpoint/2010/main" val="337548672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a:t>
            </a:fld>
            <a:endParaRPr/>
          </a:p>
        </p:txBody>
      </p:sp>
      <p:sp>
        <p:nvSpPr>
          <p:cNvPr id="140" name="Content"/>
          <p:cNvSpPr txBox="1">
            <a:spLocks noGrp="1"/>
          </p:cNvSpPr>
          <p:nvPr>
            <p:ph type="title"/>
          </p:nvPr>
        </p:nvSpPr>
        <p:spPr>
          <a:xfrm>
            <a:off x="609600" y="-2"/>
            <a:ext cx="7772400" cy="1175659"/>
          </a:xfrm>
          <a:prstGeom prst="rect">
            <a:avLst/>
          </a:prstGeom>
        </p:spPr>
        <p:txBody>
          <a:bodyPr/>
          <a:lstStyle>
            <a:lvl1pPr>
              <a:defRPr sz="3200">
                <a:latin typeface="Times New Roman"/>
                <a:ea typeface="Times New Roman"/>
                <a:cs typeface="Times New Roman"/>
                <a:sym typeface="Times New Roman"/>
              </a:defRPr>
            </a:lvl1pPr>
          </a:lstStyle>
          <a:p>
            <a:r>
              <a:t>INTRODUCTION</a:t>
            </a:r>
          </a:p>
        </p:txBody>
      </p:sp>
      <p:grpSp>
        <p:nvGrpSpPr>
          <p:cNvPr id="143" name="Rectangle"/>
          <p:cNvGrpSpPr/>
          <p:nvPr/>
        </p:nvGrpSpPr>
        <p:grpSpPr>
          <a:xfrm>
            <a:off x="1181100" y="347447"/>
            <a:ext cx="6858001" cy="486206"/>
            <a:chOff x="0" y="0"/>
            <a:chExt cx="6858000" cy="486204"/>
          </a:xfrm>
        </p:grpSpPr>
        <p:sp>
          <p:nvSpPr>
            <p:cNvPr id="14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42" name="INTRODUCTION"/>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INTRODUCTION</a:t>
              </a:r>
            </a:p>
          </p:txBody>
        </p:sp>
      </p:grpSp>
      <p:sp>
        <p:nvSpPr>
          <p:cNvPr id="144" name="Introduction…"/>
          <p:cNvSpPr txBox="1"/>
          <p:nvPr/>
        </p:nvSpPr>
        <p:spPr>
          <a:xfrm>
            <a:off x="726615" y="1997840"/>
            <a:ext cx="7680960" cy="36933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lgn="just">
              <a:defRPr sz="1800">
                <a:latin typeface="Times New Roman"/>
                <a:ea typeface="Times New Roman"/>
                <a:cs typeface="Times New Roman"/>
                <a:sym typeface="Times New Roman"/>
              </a:defRPr>
            </a:lvl1pPr>
          </a:lstStyle>
          <a:p>
            <a:r>
              <a:rPr lang="en-US" dirty="0"/>
              <a:t>Academic campuses usually do not have efficient platforms for impactful student-alumni interaction, particularly in areas such as mentorship, career research, and networking. Conventional systems are generally old, inflexible, and have minimal interactivity, limiting students' exposure to valuable alumni advice. This emphasizes the necessity for an up-to-date, easy-to-use, and feature-packed networking system. To bridge this gap, </a:t>
            </a:r>
            <a:r>
              <a:rPr lang="en-US" dirty="0" err="1"/>
              <a:t>Alumination</a:t>
            </a:r>
            <a:r>
              <a:rPr lang="en-US" dirty="0"/>
              <a:t> is proposed—a full-stack web application engineered for personalized, interactive alumni-student interaction. Students can browse alumni profiles through a Tinder-style swipe interface, look up important information such as names, registration numbers, and employment status, and send direct messages. Alumni, through a separate portal, can search students by name, look up academic profiles, and administer assignments via an inbox-style user interface. Students can also send broadcasts, which are received by alumni through a </a:t>
            </a:r>
            <a:r>
              <a:rPr lang="en-US" dirty="0" err="1"/>
              <a:t>formalised</a:t>
            </a:r>
            <a:r>
              <a:rPr lang="en-US" dirty="0"/>
              <a:t> feed to foster community participation.</a:t>
            </a: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a:t>
            </a:fld>
            <a:endParaRPr/>
          </a:p>
        </p:txBody>
      </p:sp>
      <p:sp>
        <p:nvSpPr>
          <p:cNvPr id="147"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50" name="Rectangle"/>
          <p:cNvGrpSpPr/>
          <p:nvPr/>
        </p:nvGrpSpPr>
        <p:grpSpPr>
          <a:xfrm>
            <a:off x="1295400" y="290297"/>
            <a:ext cx="6858000" cy="486206"/>
            <a:chOff x="0" y="0"/>
            <a:chExt cx="6858000" cy="486204"/>
          </a:xfrm>
        </p:grpSpPr>
        <p:sp>
          <p:nvSpPr>
            <p:cNvPr id="148"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49"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51" name="Table 1"/>
          <p:cNvGraphicFramePr/>
          <p:nvPr/>
        </p:nvGraphicFramePr>
        <p:xfrm>
          <a:off x="866245" y="1282730"/>
          <a:ext cx="7487706" cy="4902139"/>
        </p:xfrm>
        <a:graphic>
          <a:graphicData uri="http://schemas.openxmlformats.org/drawingml/2006/table">
            <a:tbl>
              <a:tblPr>
                <a:tableStyleId>{4C3C2611-4C71-4FC5-86AE-919BDF0F9419}</a:tableStyleId>
              </a:tblPr>
              <a:tblGrid>
                <a:gridCol w="606151">
                  <a:extLst>
                    <a:ext uri="{9D8B030D-6E8A-4147-A177-3AD203B41FA5}">
                      <a16:colId xmlns:a16="http://schemas.microsoft.com/office/drawing/2014/main" val="20000"/>
                    </a:ext>
                  </a:extLst>
                </a:gridCol>
                <a:gridCol w="2092590">
                  <a:extLst>
                    <a:ext uri="{9D8B030D-6E8A-4147-A177-3AD203B41FA5}">
                      <a16:colId xmlns:a16="http://schemas.microsoft.com/office/drawing/2014/main" val="20001"/>
                    </a:ext>
                  </a:extLst>
                </a:gridCol>
                <a:gridCol w="1490377">
                  <a:extLst>
                    <a:ext uri="{9D8B030D-6E8A-4147-A177-3AD203B41FA5}">
                      <a16:colId xmlns:a16="http://schemas.microsoft.com/office/drawing/2014/main" val="20002"/>
                    </a:ext>
                  </a:extLst>
                </a:gridCol>
                <a:gridCol w="1649294">
                  <a:extLst>
                    <a:ext uri="{9D8B030D-6E8A-4147-A177-3AD203B41FA5}">
                      <a16:colId xmlns:a16="http://schemas.microsoft.com/office/drawing/2014/main" val="20003"/>
                    </a:ext>
                  </a:extLst>
                </a:gridCol>
                <a:gridCol w="1649294">
                  <a:extLst>
                    <a:ext uri="{9D8B030D-6E8A-4147-A177-3AD203B41FA5}">
                      <a16:colId xmlns:a16="http://schemas.microsoft.com/office/drawing/2014/main" val="20004"/>
                    </a:ext>
                  </a:extLst>
                </a:gridCol>
              </a:tblGrid>
              <a:tr h="326923">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4575216">
                <a:tc>
                  <a:txBody>
                    <a:bodyPr/>
                    <a:lstStyle/>
                    <a:p>
                      <a:pPr>
                        <a:defRPr sz="1800"/>
                      </a:pPr>
                      <a:r>
                        <a:rPr sz="1400"/>
                        <a:t>1.</a:t>
                      </a:r>
                    </a:p>
                  </a:txBody>
                  <a:tcPr marL="45720" marR="45720" horzOverflow="overflow"/>
                </a:tc>
                <a:tc>
                  <a:txBody>
                    <a:bodyPr/>
                    <a:lstStyle/>
                    <a:p>
                      <a:pPr indent="12700" algn="l">
                        <a:lnSpc>
                          <a:spcPct val="170000"/>
                        </a:lnSpc>
                        <a:defRPr sz="1200">
                          <a:solidFill>
                            <a:srgbClr val="181818"/>
                          </a:solidFill>
                          <a:latin typeface="Calibri"/>
                          <a:ea typeface="Calibri"/>
                          <a:cs typeface="Calibri"/>
                          <a:sym typeface="Calibri"/>
                        </a:defRPr>
                      </a:pPr>
                      <a:r>
                        <a:rPr>
                          <a:solidFill>
                            <a:srgbClr val="000000"/>
                          </a:solidFill>
                        </a:rPr>
                        <a:t>Tracking</a:t>
                      </a:r>
                      <a:r>
                        <a:rPr>
                          <a:solidFill>
                            <a:srgbClr val="000000"/>
                          </a:solidFill>
                          <a:latin typeface="Times New Roman"/>
                          <a:ea typeface="Times New Roman"/>
                          <a:cs typeface="Times New Roman"/>
                          <a:sym typeface="Times New Roman"/>
                        </a:rPr>
                        <a:t> </a:t>
                      </a:r>
                      <a:r>
                        <a:rPr>
                          <a:solidFill>
                            <a:srgbClr val="000000"/>
                          </a:solidFill>
                        </a:rPr>
                        <a:t>student</a:t>
                      </a:r>
                      <a:r>
                        <a:rPr>
                          <a:solidFill>
                            <a:srgbClr val="000000"/>
                          </a:solidFill>
                          <a:latin typeface="Times New Roman"/>
                          <a:ea typeface="Times New Roman"/>
                          <a:cs typeface="Times New Roman"/>
                          <a:sym typeface="Times New Roman"/>
                        </a:rPr>
                        <a:t> </a:t>
                      </a:r>
                      <a:r>
                        <a:rPr>
                          <a:solidFill>
                            <a:srgbClr val="000000"/>
                          </a:solidFill>
                        </a:rPr>
                        <a:t>progress</a:t>
                      </a:r>
                      <a:r>
                        <a:rPr>
                          <a:solidFill>
                            <a:srgbClr val="000000"/>
                          </a:solidFill>
                          <a:latin typeface="Times New Roman"/>
                          <a:ea typeface="Times New Roman"/>
                          <a:cs typeface="Times New Roman"/>
                          <a:sym typeface="Times New Roman"/>
                        </a:rPr>
                        <a:t> </a:t>
                      </a:r>
                      <a:r>
                        <a:rPr>
                          <a:solidFill>
                            <a:srgbClr val="000000"/>
                          </a:solidFill>
                        </a:rPr>
                        <a:t>through</a:t>
                      </a:r>
                      <a:r>
                        <a:rPr>
                          <a:solidFill>
                            <a:srgbClr val="000000"/>
                          </a:solidFill>
                          <a:latin typeface="Times New Roman"/>
                          <a:ea typeface="Times New Roman"/>
                          <a:cs typeface="Times New Roman"/>
                          <a:sym typeface="Times New Roman"/>
                        </a:rPr>
                        <a:t> </a:t>
                      </a:r>
                      <a:r>
                        <a:rPr>
                          <a:solidFill>
                            <a:srgbClr val="000000"/>
                          </a:solidFill>
                        </a:rPr>
                        <a:t>graduate</a:t>
                      </a:r>
                      <a:r>
                        <a:rPr>
                          <a:solidFill>
                            <a:srgbClr val="000000"/>
                          </a:solidFill>
                          <a:latin typeface="Times New Roman"/>
                          <a:ea typeface="Times New Roman"/>
                          <a:cs typeface="Times New Roman"/>
                          <a:sym typeface="Times New Roman"/>
                        </a:rPr>
                        <a:t> </a:t>
                      </a:r>
                      <a:r>
                        <a:rPr>
                          <a:solidFill>
                            <a:srgbClr val="000000"/>
                          </a:solidFill>
                        </a:rPr>
                        <a:t>programs</a:t>
                      </a:r>
                    </a:p>
                  </a:txBody>
                  <a:tcPr marL="45720" marR="45720" horzOverflow="overflow"/>
                </a:tc>
                <a:tc>
                  <a:txBody>
                    <a:bodyPr/>
                    <a:lstStyle/>
                    <a:p>
                      <a:pPr indent="12700" algn="l">
                        <a:spcBef>
                          <a:spcPts val="900"/>
                        </a:spcBef>
                        <a:defRPr sz="1200">
                          <a:solidFill>
                            <a:srgbClr val="181818"/>
                          </a:solidFill>
                          <a:latin typeface="Calibri"/>
                          <a:ea typeface="Calibri"/>
                          <a:cs typeface="Calibri"/>
                          <a:sym typeface="Calibri"/>
                        </a:defRPr>
                      </a:pPr>
                      <a:r>
                        <a:t>Young</a:t>
                      </a:r>
                      <a:r>
                        <a:rPr>
                          <a:latin typeface="Times New Roman"/>
                          <a:ea typeface="Times New Roman"/>
                          <a:cs typeface="Times New Roman"/>
                          <a:sym typeface="Times New Roman"/>
                        </a:rPr>
                        <a:t> </a:t>
                      </a:r>
                      <a:r>
                        <a:t>et</a:t>
                      </a:r>
                      <a:r>
                        <a:rPr>
                          <a:latin typeface="Times New Roman"/>
                          <a:ea typeface="Times New Roman"/>
                          <a:cs typeface="Times New Roman"/>
                          <a:sym typeface="Times New Roman"/>
                        </a:rPr>
                        <a:t> </a:t>
                      </a:r>
                      <a:r>
                        <a:t>al</a:t>
                      </a:r>
                    </a:p>
                  </a:txBody>
                  <a:tcPr marL="45720" marR="45720" horzOverflow="overflow"/>
                </a:tc>
                <a:tc>
                  <a:txBody>
                    <a:bodyPr/>
                    <a:lstStyle/>
                    <a:p>
                      <a:pPr indent="12700" algn="l">
                        <a:lnSpc>
                          <a:spcPct val="110000"/>
                        </a:lnSpc>
                        <a:spcBef>
                          <a:spcPts val="800"/>
                        </a:spcBef>
                        <a:defRPr sz="1200">
                          <a:solidFill>
                            <a:srgbClr val="181818"/>
                          </a:solidFill>
                          <a:latin typeface="Calibri"/>
                          <a:ea typeface="Calibri"/>
                          <a:cs typeface="Calibri"/>
                          <a:sym typeface="Calibri"/>
                        </a:defRPr>
                      </a:pPr>
                      <a:r>
                        <a:t>Graduate</a:t>
                      </a:r>
                      <a:r>
                        <a:rPr>
                          <a:latin typeface="Times New Roman"/>
                          <a:ea typeface="Times New Roman"/>
                          <a:cs typeface="Times New Roman"/>
                          <a:sym typeface="Times New Roman"/>
                        </a:rPr>
                        <a:t> </a:t>
                      </a:r>
                      <a:r>
                        <a:t>education</a:t>
                      </a:r>
                      <a:r>
                        <a:rPr>
                          <a:latin typeface="Times New Roman"/>
                          <a:ea typeface="Times New Roman"/>
                          <a:cs typeface="Times New Roman"/>
                          <a:sym typeface="Times New Roman"/>
                        </a:rPr>
                        <a:t> </a:t>
                      </a:r>
                      <a:r>
                        <a:t>is</a:t>
                      </a:r>
                      <a:r>
                        <a:rPr>
                          <a:latin typeface="Times New Roman"/>
                          <a:ea typeface="Times New Roman"/>
                          <a:cs typeface="Times New Roman"/>
                          <a:sym typeface="Times New Roman"/>
                        </a:rPr>
                        <a:t> </a:t>
                      </a:r>
                      <a:r>
                        <a:t>milestone-</a:t>
                      </a:r>
                      <a:r>
                        <a:rPr>
                          <a:solidFill>
                            <a:srgbClr val="000000"/>
                          </a:solidFill>
                        </a:rPr>
                        <a:t>centered</a:t>
                      </a:r>
                      <a:r>
                        <a:rPr>
                          <a:solidFill>
                            <a:srgbClr val="000000"/>
                          </a:solidFill>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decentralized,</a:t>
                      </a:r>
                      <a:r>
                        <a:rPr>
                          <a:latin typeface="Times New Roman"/>
                          <a:ea typeface="Times New Roman"/>
                          <a:cs typeface="Times New Roman"/>
                          <a:sym typeface="Times New Roman"/>
                        </a:rPr>
                        <a:t> </a:t>
                      </a:r>
                      <a:r>
                        <a:rPr>
                          <a:solidFill>
                            <a:srgbClr val="000000"/>
                          </a:solidFill>
                        </a:rPr>
                        <a:t>and</a:t>
                      </a:r>
                      <a:r>
                        <a:rPr>
                          <a:solidFill>
                            <a:srgbClr val="000000"/>
                          </a:solidFill>
                          <a:latin typeface="Times New Roman"/>
                          <a:ea typeface="Times New Roman"/>
                          <a:cs typeface="Times New Roman"/>
                          <a:sym typeface="Times New Roman"/>
                        </a:rPr>
                        <a:t> </a:t>
                      </a:r>
                      <a:r>
                        <a:rPr>
                          <a:solidFill>
                            <a:srgbClr val="000000"/>
                          </a:solidFill>
                        </a:rPr>
                        <a:t>therefore</a:t>
                      </a:r>
                      <a:r>
                        <a:rPr>
                          <a:solidFill>
                            <a:srgbClr val="000000"/>
                          </a:solidFill>
                          <a:latin typeface="Times New Roman"/>
                          <a:ea typeface="Times New Roman"/>
                          <a:cs typeface="Times New Roman"/>
                          <a:sym typeface="Times New Roman"/>
                        </a:rPr>
                        <a:t> </a:t>
                      </a:r>
                      <a:r>
                        <a:rPr>
                          <a:solidFill>
                            <a:srgbClr val="000000"/>
                          </a:solidFill>
                        </a:rPr>
                        <a:t>needs</a:t>
                      </a:r>
                      <a:r>
                        <a:rPr>
                          <a:solidFill>
                            <a:srgbClr val="000000"/>
                          </a:solidFill>
                          <a:latin typeface="Times New Roman"/>
                          <a:ea typeface="Times New Roman"/>
                          <a:cs typeface="Times New Roman"/>
                          <a:sym typeface="Times New Roman"/>
                        </a:rPr>
                        <a:t> </a:t>
                      </a:r>
                      <a:r>
                        <a:rPr>
                          <a:solidFill>
                            <a:srgbClr val="000000"/>
                          </a:solidFill>
                        </a:rPr>
                        <a:t>customized</a:t>
                      </a:r>
                      <a:r>
                        <a:rPr>
                          <a:solidFill>
                            <a:srgbClr val="000000"/>
                          </a:solidFill>
                          <a:latin typeface="Times New Roman"/>
                          <a:ea typeface="Times New Roman"/>
                          <a:cs typeface="Times New Roman"/>
                          <a:sym typeface="Times New Roman"/>
                        </a:rPr>
                        <a:t> </a:t>
                      </a:r>
                      <a:r>
                        <a:t>tracking</a:t>
                      </a:r>
                      <a:r>
                        <a:rPr>
                          <a:latin typeface="Times New Roman"/>
                          <a:ea typeface="Times New Roman"/>
                          <a:cs typeface="Times New Roman"/>
                          <a:sym typeface="Times New Roman"/>
                        </a:rPr>
                        <a:t> </a:t>
                      </a:r>
                      <a:r>
                        <a:rPr>
                          <a:solidFill>
                            <a:srgbClr val="000000"/>
                          </a:solidFill>
                        </a:rPr>
                        <a:t>instruments</a:t>
                      </a:r>
                      <a:r>
                        <a:t>.</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milestones</a:t>
                      </a:r>
                      <a:r>
                        <a:rPr>
                          <a:latin typeface="Times New Roman"/>
                          <a:ea typeface="Times New Roman"/>
                          <a:cs typeface="Times New Roman"/>
                          <a:sym typeface="Times New Roman"/>
                        </a:rPr>
                        <a:t> </a:t>
                      </a:r>
                      <a:r>
                        <a:t>dashboard</a:t>
                      </a:r>
                      <a:r>
                        <a:rPr>
                          <a:latin typeface="Times New Roman"/>
                          <a:ea typeface="Times New Roman"/>
                          <a:cs typeface="Times New Roman"/>
                          <a:sym typeface="Times New Roman"/>
                        </a:rPr>
                        <a:t> </a:t>
                      </a:r>
                      <a:r>
                        <a:rPr>
                          <a:solidFill>
                            <a:srgbClr val="000000"/>
                          </a:solidFill>
                        </a:rPr>
                        <a:t>increases</a:t>
                      </a:r>
                      <a:r>
                        <a:rPr>
                          <a:solidFill>
                            <a:srgbClr val="000000"/>
                          </a:solidFill>
                          <a:latin typeface="Times New Roman"/>
                          <a:ea typeface="Times New Roman"/>
                          <a:cs typeface="Times New Roman"/>
                          <a:sym typeface="Times New Roman"/>
                        </a:rPr>
                        <a:t> </a:t>
                      </a:r>
                      <a:r>
                        <a:t>transparency,</a:t>
                      </a:r>
                      <a:r>
                        <a:rPr>
                          <a:latin typeface="Times New Roman"/>
                          <a:ea typeface="Times New Roman"/>
                          <a:cs typeface="Times New Roman"/>
                          <a:sym typeface="Times New Roman"/>
                        </a:rPr>
                        <a:t> </a:t>
                      </a:r>
                      <a:r>
                        <a:t>visualizes,</a:t>
                      </a:r>
                    </a:p>
                    <a:p>
                      <a:pPr indent="12700" algn="l">
                        <a:lnSpc>
                          <a:spcPct val="109000"/>
                        </a:lnSpc>
                        <a:defRPr sz="1200">
                          <a:solidFill>
                            <a:srgbClr val="181818"/>
                          </a:solidFill>
                          <a:latin typeface="Calibri"/>
                          <a:ea typeface="Calibri"/>
                          <a:cs typeface="Calibri"/>
                          <a:sym typeface="Calibri"/>
                        </a:defRPr>
                      </a:pPr>
                      <a:r>
                        <a:t>and</a:t>
                      </a:r>
                      <a:r>
                        <a:rPr>
                          <a:latin typeface="Times New Roman"/>
                          <a:ea typeface="Times New Roman"/>
                          <a:cs typeface="Times New Roman"/>
                          <a:sym typeface="Times New Roman"/>
                        </a:rPr>
                        <a:t> </a:t>
                      </a:r>
                      <a:r>
                        <a:rPr>
                          <a:solidFill>
                            <a:srgbClr val="000000"/>
                          </a:solidFill>
                        </a:rPr>
                        <a:t>compares</a:t>
                      </a:r>
                      <a:r>
                        <a:rPr>
                          <a:solidFill>
                            <a:srgbClr val="000000"/>
                          </a:solidFill>
                          <a:latin typeface="Times New Roman"/>
                          <a:ea typeface="Times New Roman"/>
                          <a:cs typeface="Times New Roman"/>
                          <a:sym typeface="Times New Roman"/>
                        </a:rPr>
                        <a:t> </a:t>
                      </a:r>
                      <a:r>
                        <a:t>programs.</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rPr>
                          <a:solidFill>
                            <a:srgbClr val="000000"/>
                          </a:solidFill>
                        </a:rPr>
                        <a:t>article</a:t>
                      </a:r>
                      <a:r>
                        <a:rPr>
                          <a:solidFill>
                            <a:srgbClr val="000000"/>
                          </a:solidFill>
                          <a:latin typeface="Times New Roman"/>
                          <a:ea typeface="Times New Roman"/>
                          <a:cs typeface="Times New Roman"/>
                          <a:sym typeface="Times New Roman"/>
                        </a:rPr>
                        <a:t> </a:t>
                      </a:r>
                      <a:r>
                        <a:rPr>
                          <a:solidFill>
                            <a:srgbClr val="000000"/>
                          </a:solidFill>
                        </a:rPr>
                        <a:t>focuses</a:t>
                      </a:r>
                      <a:r>
                        <a:rPr>
                          <a:solidFill>
                            <a:srgbClr val="000000"/>
                          </a:solidFill>
                          <a:latin typeface="Times New Roman"/>
                          <a:ea typeface="Times New Roman"/>
                          <a:cs typeface="Times New Roman"/>
                          <a:sym typeface="Times New Roman"/>
                        </a:rPr>
                        <a:t> </a:t>
                      </a:r>
                      <a:r>
                        <a:rPr>
                          <a:solidFill>
                            <a:srgbClr val="000000"/>
                          </a:solidFill>
                        </a:rPr>
                        <a:t>on</a:t>
                      </a:r>
                      <a:r>
                        <a:rPr>
                          <a:solidFill>
                            <a:srgbClr val="000000"/>
                          </a:solidFill>
                          <a:latin typeface="Times New Roman"/>
                          <a:ea typeface="Times New Roman"/>
                          <a:cs typeface="Times New Roman"/>
                          <a:sym typeface="Times New Roman"/>
                        </a:rPr>
                        <a:t> </a:t>
                      </a:r>
                      <a:r>
                        <a:rPr>
                          <a:solidFill>
                            <a:srgbClr val="000000"/>
                          </a:solidFill>
                        </a:rPr>
                        <a:t>difficulties</a:t>
                      </a:r>
                      <a:r>
                        <a:rPr>
                          <a:solidFill>
                            <a:srgbClr val="000000"/>
                          </a:solidFill>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t>consistency</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trust</a:t>
                      </a:r>
                      <a:r>
                        <a:rPr>
                          <a:latin typeface="Times New Roman"/>
                          <a:ea typeface="Times New Roman"/>
                          <a:cs typeface="Times New Roman"/>
                          <a:sym typeface="Times New Roman"/>
                        </a:rPr>
                        <a:t> </a:t>
                      </a:r>
                      <a:r>
                        <a:rPr>
                          <a:solidFill>
                            <a:srgbClr val="000000"/>
                          </a:solidFill>
                        </a:rPr>
                        <a:t>in</a:t>
                      </a:r>
                      <a:r>
                        <a:rPr>
                          <a:solidFill>
                            <a:srgbClr val="000000"/>
                          </a:solidFill>
                          <a:latin typeface="Times New Roman"/>
                          <a:ea typeface="Times New Roman"/>
                          <a:cs typeface="Times New Roman"/>
                          <a:sym typeface="Times New Roman"/>
                        </a:rPr>
                        <a:t> </a:t>
                      </a:r>
                      <a:r>
                        <a:rPr>
                          <a:solidFill>
                            <a:srgbClr val="000000"/>
                          </a:solidFill>
                        </a:rPr>
                        <a:t>data</a:t>
                      </a:r>
                      <a:r>
                        <a:rPr>
                          <a:solidFill>
                            <a:srgbClr val="000000"/>
                          </a:solidFill>
                          <a:latin typeface="Times New Roman"/>
                          <a:ea typeface="Times New Roman"/>
                          <a:cs typeface="Times New Roman"/>
                          <a:sym typeface="Times New Roman"/>
                        </a:rPr>
                        <a:t> </a:t>
                      </a:r>
                      <a:r>
                        <a:rPr>
                          <a:solidFill>
                            <a:srgbClr val="000000"/>
                          </a:solidFill>
                        </a:rPr>
                        <a:t>and</a:t>
                      </a:r>
                      <a:r>
                        <a:rPr>
                          <a:solidFill>
                            <a:srgbClr val="000000"/>
                          </a:solidFill>
                          <a:latin typeface="Times New Roman"/>
                          <a:ea typeface="Times New Roman"/>
                          <a:cs typeface="Times New Roman"/>
                          <a:sym typeface="Times New Roman"/>
                        </a:rPr>
                        <a:t> </a:t>
                      </a:r>
                      <a:r>
                        <a:rPr>
                          <a:solidFill>
                            <a:srgbClr val="000000"/>
                          </a:solidFill>
                        </a:rPr>
                        <a:t>underscores</a:t>
                      </a:r>
                      <a:r>
                        <a:rPr>
                          <a:solidFill>
                            <a:srgbClr val="000000"/>
                          </a:solidFill>
                          <a:latin typeface="Times New Roman"/>
                          <a:ea typeface="Times New Roman"/>
                          <a:cs typeface="Times New Roman"/>
                          <a:sym typeface="Times New Roman"/>
                        </a:rPr>
                        <a:t> </a:t>
                      </a:r>
                      <a:r>
                        <a:rPr>
                          <a:solidFill>
                            <a:srgbClr val="000000"/>
                          </a:solidFill>
                        </a:rPr>
                        <a:t>the</a:t>
                      </a:r>
                      <a:r>
                        <a:rPr>
                          <a:solidFill>
                            <a:srgbClr val="000000"/>
                          </a:solidFill>
                          <a:latin typeface="Times New Roman"/>
                          <a:ea typeface="Times New Roman"/>
                          <a:cs typeface="Times New Roman"/>
                          <a:sym typeface="Times New Roman"/>
                        </a:rPr>
                        <a:t> </a:t>
                      </a:r>
                      <a:r>
                        <a:rPr>
                          <a:solidFill>
                            <a:srgbClr val="000000"/>
                          </a:solidFill>
                        </a:rPr>
                        <a:t>importance</a:t>
                      </a:r>
                      <a:r>
                        <a:rPr>
                          <a:solidFill>
                            <a:srgbClr val="000000"/>
                          </a:solidFill>
                          <a:latin typeface="Times New Roman"/>
                          <a:ea typeface="Times New Roman"/>
                          <a:cs typeface="Times New Roman"/>
                          <a:sym typeface="Times New Roman"/>
                        </a:rPr>
                        <a:t> </a:t>
                      </a:r>
                      <a:r>
                        <a:rPr>
                          <a:solidFill>
                            <a:srgbClr val="000000"/>
                          </a:solidFill>
                        </a:rPr>
                        <a:t>of</a:t>
                      </a:r>
                      <a:r>
                        <a:rPr>
                          <a:solidFill>
                            <a:srgbClr val="000000"/>
                          </a:solidFill>
                          <a:latin typeface="Times New Roman"/>
                          <a:ea typeface="Times New Roman"/>
                          <a:cs typeface="Times New Roman"/>
                          <a:sym typeface="Times New Roman"/>
                        </a:rPr>
                        <a:t> </a:t>
                      </a:r>
                      <a:r>
                        <a:t>dashboards</a:t>
                      </a:r>
                      <a:r>
                        <a:rPr>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rPr>
                          <a:solidFill>
                            <a:srgbClr val="000000"/>
                          </a:solidFill>
                        </a:rPr>
                        <a:t>enhancing</a:t>
                      </a:r>
                      <a:r>
                        <a:rPr>
                          <a:solidFill>
                            <a:srgbClr val="000000"/>
                          </a:solidFill>
                          <a:latin typeface="Times New Roman"/>
                          <a:ea typeface="Times New Roman"/>
                          <a:cs typeface="Times New Roman"/>
                          <a:sym typeface="Times New Roman"/>
                        </a:rPr>
                        <a:t> </a:t>
                      </a:r>
                      <a:r>
                        <a:t>decision-making</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rPr>
                          <a:solidFill>
                            <a:srgbClr val="000000"/>
                          </a:solidFill>
                        </a:rPr>
                        <a:t>results.</a:t>
                      </a:r>
                    </a:p>
                  </a:txBody>
                  <a:tcPr marL="45720" marR="45720" horzOverflow="overflow"/>
                </a:tc>
                <a:tc>
                  <a:txBody>
                    <a:bodyPr/>
                    <a:lstStyle/>
                    <a:p>
                      <a:pPr indent="12700" algn="l">
                        <a:lnSpc>
                          <a:spcPct val="110000"/>
                        </a:lnSpc>
                        <a:spcBef>
                          <a:spcPts val="800"/>
                        </a:spcBef>
                        <a:defRPr sz="1200">
                          <a:solidFill>
                            <a:srgbClr val="181818"/>
                          </a:solidFill>
                          <a:latin typeface="Calibri"/>
                          <a:ea typeface="Calibri"/>
                          <a:cs typeface="Calibri"/>
                          <a:sym typeface="Calibri"/>
                        </a:defRPr>
                      </a:pPr>
                      <a:r>
                        <a:rPr dirty="0">
                          <a:solidFill>
                            <a:srgbClr val="000000"/>
                          </a:solidFill>
                        </a:rPr>
                        <a:t>Does</a:t>
                      </a:r>
                      <a:r>
                        <a:rPr dirty="0">
                          <a:solidFill>
                            <a:srgbClr val="000000"/>
                          </a:solidFill>
                          <a:latin typeface="Times New Roman"/>
                          <a:ea typeface="Times New Roman"/>
                          <a:cs typeface="Times New Roman"/>
                          <a:sym typeface="Times New Roman"/>
                        </a:rPr>
                        <a:t> </a:t>
                      </a:r>
                      <a:r>
                        <a:rPr dirty="0">
                          <a:solidFill>
                            <a:srgbClr val="000000"/>
                          </a:solidFill>
                        </a:rPr>
                        <a:t>not</a:t>
                      </a:r>
                      <a:r>
                        <a:rPr dirty="0">
                          <a:solidFill>
                            <a:srgbClr val="000000"/>
                          </a:solidFill>
                          <a:latin typeface="Times New Roman"/>
                          <a:ea typeface="Times New Roman"/>
                          <a:cs typeface="Times New Roman"/>
                          <a:sym typeface="Times New Roman"/>
                        </a:rPr>
                        <a:t> </a:t>
                      </a:r>
                      <a:r>
                        <a:rPr dirty="0">
                          <a:solidFill>
                            <a:srgbClr val="000000"/>
                          </a:solidFill>
                        </a:rPr>
                        <a:t>have</a:t>
                      </a:r>
                      <a:r>
                        <a:rPr dirty="0">
                          <a:solidFill>
                            <a:srgbClr val="000000"/>
                          </a:solidFill>
                          <a:latin typeface="Times New Roman"/>
                          <a:ea typeface="Times New Roman"/>
                          <a:cs typeface="Times New Roman"/>
                          <a:sym typeface="Times New Roman"/>
                        </a:rPr>
                        <a:t> </a:t>
                      </a:r>
                      <a:r>
                        <a:rPr dirty="0"/>
                        <a:t>quantitative</a:t>
                      </a:r>
                      <a:r>
                        <a:rPr dirty="0">
                          <a:latin typeface="Times New Roman"/>
                          <a:ea typeface="Times New Roman"/>
                          <a:cs typeface="Times New Roman"/>
                          <a:sym typeface="Times New Roman"/>
                        </a:rPr>
                        <a:t> </a:t>
                      </a:r>
                      <a:r>
                        <a:rPr dirty="0"/>
                        <a:t>data,</a:t>
                      </a:r>
                      <a:r>
                        <a:rPr dirty="0">
                          <a:latin typeface="Times New Roman"/>
                          <a:ea typeface="Times New Roman"/>
                          <a:cs typeface="Times New Roman"/>
                          <a:sym typeface="Times New Roman"/>
                        </a:rPr>
                        <a:t> </a:t>
                      </a:r>
                      <a:r>
                        <a:rPr dirty="0"/>
                        <a:t>comparisons</a:t>
                      </a:r>
                      <a:r>
                        <a:rPr dirty="0">
                          <a:latin typeface="Times New Roman"/>
                          <a:ea typeface="Times New Roman"/>
                          <a:cs typeface="Times New Roman"/>
                          <a:sym typeface="Times New Roman"/>
                        </a:rPr>
                        <a:t> </a:t>
                      </a:r>
                      <a:r>
                        <a:rPr dirty="0">
                          <a:solidFill>
                            <a:srgbClr val="000000"/>
                          </a:solidFill>
                        </a:rPr>
                        <a:t>of</a:t>
                      </a:r>
                      <a:r>
                        <a:rPr dirty="0">
                          <a:solidFill>
                            <a:srgbClr val="000000"/>
                          </a:solidFill>
                          <a:latin typeface="Times New Roman"/>
                          <a:ea typeface="Times New Roman"/>
                          <a:cs typeface="Times New Roman"/>
                          <a:sym typeface="Times New Roman"/>
                        </a:rPr>
                        <a:t> </a:t>
                      </a:r>
                      <a:r>
                        <a:rPr dirty="0">
                          <a:solidFill>
                            <a:srgbClr val="000000"/>
                          </a:solidFill>
                        </a:rPr>
                        <a:t>the</a:t>
                      </a:r>
                      <a:r>
                        <a:rPr dirty="0">
                          <a:solidFill>
                            <a:srgbClr val="000000"/>
                          </a:solidFill>
                          <a:latin typeface="Times New Roman"/>
                          <a:ea typeface="Times New Roman"/>
                          <a:cs typeface="Times New Roman"/>
                          <a:sym typeface="Times New Roman"/>
                        </a:rPr>
                        <a:t> </a:t>
                      </a:r>
                      <a:r>
                        <a:rPr dirty="0">
                          <a:solidFill>
                            <a:srgbClr val="000000"/>
                          </a:solidFill>
                        </a:rPr>
                        <a:t>model</a:t>
                      </a:r>
                      <a:r>
                        <a:rPr dirty="0">
                          <a:solidFill>
                            <a:srgbClr val="000000"/>
                          </a:solidFill>
                          <a:latin typeface="Times New Roman"/>
                          <a:ea typeface="Times New Roman"/>
                          <a:cs typeface="Times New Roman"/>
                          <a:sym typeface="Times New Roman"/>
                        </a:rPr>
                        <a:t> </a:t>
                      </a:r>
                      <a:r>
                        <a:rPr dirty="0">
                          <a:solidFill>
                            <a:srgbClr val="000000"/>
                          </a:solidFill>
                        </a:rPr>
                        <a:t>with</a:t>
                      </a:r>
                      <a:r>
                        <a:rPr dirty="0">
                          <a:solidFill>
                            <a:srgbClr val="000000"/>
                          </a:solidFill>
                          <a:latin typeface="Times New Roman"/>
                          <a:ea typeface="Times New Roman"/>
                          <a:cs typeface="Times New Roman"/>
                          <a:sym typeface="Times New Roman"/>
                        </a:rPr>
                        <a:t> </a:t>
                      </a:r>
                      <a:r>
                        <a:rPr dirty="0">
                          <a:solidFill>
                            <a:srgbClr val="000000"/>
                          </a:solidFill>
                        </a:rPr>
                        <a:t>other</a:t>
                      </a:r>
                      <a:r>
                        <a:rPr dirty="0">
                          <a:solidFill>
                            <a:srgbClr val="000000"/>
                          </a:solidFill>
                          <a:latin typeface="Times New Roman"/>
                          <a:ea typeface="Times New Roman"/>
                          <a:cs typeface="Times New Roman"/>
                          <a:sym typeface="Times New Roman"/>
                        </a:rPr>
                        <a:t> </a:t>
                      </a:r>
                      <a:r>
                        <a:rPr dirty="0">
                          <a:solidFill>
                            <a:srgbClr val="000000"/>
                          </a:solidFill>
                        </a:rPr>
                        <a:t>student</a:t>
                      </a:r>
                      <a:r>
                        <a:rPr dirty="0">
                          <a:solidFill>
                            <a:srgbClr val="000000"/>
                          </a:solidFill>
                          <a:latin typeface="Times New Roman"/>
                          <a:ea typeface="Times New Roman"/>
                          <a:cs typeface="Times New Roman"/>
                          <a:sym typeface="Times New Roman"/>
                        </a:rPr>
                        <a:t> </a:t>
                      </a:r>
                      <a:r>
                        <a:rPr dirty="0">
                          <a:solidFill>
                            <a:srgbClr val="000000"/>
                          </a:solidFill>
                        </a:rPr>
                        <a:t>support</a:t>
                      </a:r>
                      <a:r>
                        <a:rPr dirty="0">
                          <a:solidFill>
                            <a:srgbClr val="000000"/>
                          </a:solidFill>
                          <a:latin typeface="Times New Roman"/>
                          <a:ea typeface="Times New Roman"/>
                          <a:cs typeface="Times New Roman"/>
                          <a:sym typeface="Times New Roman"/>
                        </a:rPr>
                        <a:t> </a:t>
                      </a:r>
                      <a:r>
                        <a:rPr dirty="0">
                          <a:solidFill>
                            <a:srgbClr val="000000"/>
                          </a:solidFill>
                        </a:rPr>
                        <a:t>models,</a:t>
                      </a:r>
                      <a:r>
                        <a:rPr dirty="0">
                          <a:solidFill>
                            <a:srgbClr val="000000"/>
                          </a:solidFill>
                          <a:latin typeface="Times New Roman"/>
                          <a:ea typeface="Times New Roman"/>
                          <a:cs typeface="Times New Roman"/>
                          <a:sym typeface="Times New Roman"/>
                        </a:rPr>
                        <a:t> </a:t>
                      </a:r>
                      <a:r>
                        <a:rPr dirty="0">
                          <a:solidFill>
                            <a:srgbClr val="000000"/>
                          </a:solidFill>
                        </a:rPr>
                        <a:t>long-term</a:t>
                      </a:r>
                      <a:r>
                        <a:rPr dirty="0">
                          <a:solidFill>
                            <a:srgbClr val="000000"/>
                          </a:solidFill>
                          <a:latin typeface="Times New Roman"/>
                          <a:ea typeface="Times New Roman"/>
                          <a:cs typeface="Times New Roman"/>
                          <a:sym typeface="Times New Roman"/>
                        </a:rPr>
                        <a:t> </a:t>
                      </a:r>
                      <a:r>
                        <a:rPr dirty="0">
                          <a:solidFill>
                            <a:srgbClr val="000000"/>
                          </a:solidFill>
                        </a:rPr>
                        <a:t>impact</a:t>
                      </a:r>
                      <a:r>
                        <a:rPr dirty="0">
                          <a:solidFill>
                            <a:srgbClr val="000000"/>
                          </a:solidFill>
                          <a:latin typeface="Times New Roman"/>
                          <a:ea typeface="Times New Roman"/>
                          <a:cs typeface="Times New Roman"/>
                          <a:sym typeface="Times New Roman"/>
                        </a:rPr>
                        <a:t> </a:t>
                      </a:r>
                      <a:r>
                        <a:rPr dirty="0">
                          <a:solidFill>
                            <a:srgbClr val="000000"/>
                          </a:solidFill>
                        </a:rPr>
                        <a:t>evaluations</a:t>
                      </a:r>
                      <a:r>
                        <a:rPr dirty="0"/>
                        <a:t>,</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solidFill>
                            <a:srgbClr val="000000"/>
                          </a:solidFill>
                        </a:rPr>
                        <a:t>understanding</a:t>
                      </a:r>
                      <a:r>
                        <a:rPr dirty="0">
                          <a:solidFill>
                            <a:srgbClr val="000000"/>
                          </a:solidFill>
                          <a:latin typeface="Times New Roman"/>
                          <a:ea typeface="Times New Roman"/>
                          <a:cs typeface="Times New Roman"/>
                          <a:sym typeface="Times New Roman"/>
                        </a:rPr>
                        <a:t> </a:t>
                      </a:r>
                      <a:r>
                        <a:rPr dirty="0">
                          <a:solidFill>
                            <a:srgbClr val="000000"/>
                          </a:solidFill>
                        </a:rPr>
                        <a:t>of</a:t>
                      </a:r>
                      <a:r>
                        <a:rPr dirty="0">
                          <a:solidFill>
                            <a:srgbClr val="000000"/>
                          </a:solidFill>
                          <a:latin typeface="Times New Roman"/>
                          <a:ea typeface="Times New Roman"/>
                          <a:cs typeface="Times New Roman"/>
                          <a:sym typeface="Times New Roman"/>
                        </a:rPr>
                        <a:t> </a:t>
                      </a:r>
                      <a:r>
                        <a:rPr dirty="0"/>
                        <a:t>technology-</a:t>
                      </a:r>
                      <a:r>
                        <a:rPr dirty="0">
                          <a:solidFill>
                            <a:srgbClr val="000000"/>
                          </a:solidFill>
                        </a:rPr>
                        <a:t>based</a:t>
                      </a:r>
                      <a:r>
                        <a:rPr dirty="0">
                          <a:solidFill>
                            <a:srgbClr val="000000"/>
                          </a:solidFill>
                          <a:latin typeface="Times New Roman"/>
                          <a:ea typeface="Times New Roman"/>
                          <a:cs typeface="Times New Roman"/>
                          <a:sym typeface="Times New Roman"/>
                        </a:rPr>
                        <a:t> </a:t>
                      </a:r>
                      <a:r>
                        <a:rPr dirty="0">
                          <a:solidFill>
                            <a:srgbClr val="000000"/>
                          </a:solidFill>
                        </a:rPr>
                        <a:t>interventions</a:t>
                      </a:r>
                      <a:r>
                        <a:rPr dirty="0">
                          <a:solidFill>
                            <a:srgbClr val="000000"/>
                          </a:solidFill>
                          <a:latin typeface="Times New Roman"/>
                          <a:ea typeface="Times New Roman"/>
                          <a:cs typeface="Times New Roman"/>
                          <a:sym typeface="Times New Roman"/>
                        </a:rPr>
                        <a:t> </a:t>
                      </a:r>
                      <a:r>
                        <a:rPr dirty="0">
                          <a:solidFill>
                            <a:srgbClr val="000000"/>
                          </a:solidFill>
                        </a:rPr>
                        <a:t>or</a:t>
                      </a:r>
                      <a:r>
                        <a:rPr dirty="0">
                          <a:solidFill>
                            <a:srgbClr val="000000"/>
                          </a:solidFill>
                          <a:latin typeface="Times New Roman"/>
                          <a:ea typeface="Times New Roman"/>
                          <a:cs typeface="Times New Roman"/>
                          <a:sym typeface="Times New Roman"/>
                        </a:rPr>
                        <a:t> </a:t>
                      </a:r>
                      <a:r>
                        <a:rPr dirty="0">
                          <a:solidFill>
                            <a:srgbClr val="000000"/>
                          </a:solidFill>
                        </a:rPr>
                        <a:t>policy</a:t>
                      </a:r>
                      <a:r>
                        <a:rPr dirty="0">
                          <a:solidFill>
                            <a:srgbClr val="000000"/>
                          </a:solidFill>
                          <a:latin typeface="Times New Roman"/>
                          <a:ea typeface="Times New Roman"/>
                          <a:cs typeface="Times New Roman"/>
                          <a:sym typeface="Times New Roman"/>
                        </a:rPr>
                        <a:t> </a:t>
                      </a:r>
                      <a:r>
                        <a:rPr dirty="0">
                          <a:solidFill>
                            <a:srgbClr val="000000"/>
                          </a:solidFill>
                        </a:rPr>
                        <a:t>reforms.</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sp>
        <p:nvSpPr>
          <p:cNvPr id="154"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57" name="Rectangle"/>
          <p:cNvGrpSpPr/>
          <p:nvPr/>
        </p:nvGrpSpPr>
        <p:grpSpPr>
          <a:xfrm>
            <a:off x="1295400" y="290297"/>
            <a:ext cx="6858000" cy="486206"/>
            <a:chOff x="0" y="0"/>
            <a:chExt cx="6858000" cy="486204"/>
          </a:xfrm>
        </p:grpSpPr>
        <p:sp>
          <p:nvSpPr>
            <p:cNvPr id="155"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56"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58" name="Table 1"/>
          <p:cNvGraphicFramePr/>
          <p:nvPr/>
        </p:nvGraphicFramePr>
        <p:xfrm>
          <a:off x="749212" y="1377436"/>
          <a:ext cx="7493173" cy="4712727"/>
        </p:xfrm>
        <a:graphic>
          <a:graphicData uri="http://schemas.openxmlformats.org/drawingml/2006/table">
            <a:tbl>
              <a:tblPr>
                <a:tableStyleId>{4C3C2611-4C71-4FC5-86AE-919BDF0F9419}</a:tableStyleId>
              </a:tblPr>
              <a:tblGrid>
                <a:gridCol w="606593">
                  <a:extLst>
                    <a:ext uri="{9D8B030D-6E8A-4147-A177-3AD203B41FA5}">
                      <a16:colId xmlns:a16="http://schemas.microsoft.com/office/drawing/2014/main" val="20000"/>
                    </a:ext>
                  </a:extLst>
                </a:gridCol>
                <a:gridCol w="2094118">
                  <a:extLst>
                    <a:ext uri="{9D8B030D-6E8A-4147-A177-3AD203B41FA5}">
                      <a16:colId xmlns:a16="http://schemas.microsoft.com/office/drawing/2014/main" val="20001"/>
                    </a:ext>
                  </a:extLst>
                </a:gridCol>
                <a:gridCol w="1490574">
                  <a:extLst>
                    <a:ext uri="{9D8B030D-6E8A-4147-A177-3AD203B41FA5}">
                      <a16:colId xmlns:a16="http://schemas.microsoft.com/office/drawing/2014/main" val="20002"/>
                    </a:ext>
                  </a:extLst>
                </a:gridCol>
                <a:gridCol w="1651390">
                  <a:extLst>
                    <a:ext uri="{9D8B030D-6E8A-4147-A177-3AD203B41FA5}">
                      <a16:colId xmlns:a16="http://schemas.microsoft.com/office/drawing/2014/main" val="20003"/>
                    </a:ext>
                  </a:extLst>
                </a:gridCol>
                <a:gridCol w="1650498">
                  <a:extLst>
                    <a:ext uri="{9D8B030D-6E8A-4147-A177-3AD203B41FA5}">
                      <a16:colId xmlns:a16="http://schemas.microsoft.com/office/drawing/2014/main" val="20004"/>
                    </a:ext>
                  </a:extLst>
                </a:gridCol>
              </a:tblGrid>
              <a:tr h="326673">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4386054">
                <a:tc>
                  <a:txBody>
                    <a:bodyPr/>
                    <a:lstStyle/>
                    <a:p>
                      <a:pPr>
                        <a:defRPr sz="1800"/>
                      </a:pPr>
                      <a:r>
                        <a:rPr sz="1400"/>
                        <a:t>2</a:t>
                      </a:r>
                    </a:p>
                  </a:txBody>
                  <a:tcPr marL="45720" marR="45720" horzOverflow="overflow"/>
                </a:tc>
                <a:tc>
                  <a:txBody>
                    <a:bodyPr/>
                    <a:lstStyle/>
                    <a:p>
                      <a:pPr indent="12700" algn="l">
                        <a:lnSpc>
                          <a:spcPts val="2200"/>
                        </a:lnSpc>
                        <a:spcBef>
                          <a:spcPts val="200"/>
                        </a:spcBef>
                        <a:defRPr sz="1200">
                          <a:latin typeface="Calibri"/>
                          <a:ea typeface="Calibri"/>
                          <a:cs typeface="Calibri"/>
                          <a:sym typeface="Calibri"/>
                        </a:defRPr>
                      </a:pPr>
                      <a:r>
                        <a:t>Development</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integration</a:t>
                      </a:r>
                      <a:r>
                        <a:rPr>
                          <a:latin typeface="Times New Roman"/>
                          <a:ea typeface="Times New Roman"/>
                          <a:cs typeface="Times New Roman"/>
                          <a:sym typeface="Times New Roman"/>
                        </a:rPr>
                        <a:t> </a:t>
                      </a:r>
                      <a:r>
                        <a:t>of</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clinical</a:t>
                      </a:r>
                      <a:r>
                        <a:rPr>
                          <a:latin typeface="Times New Roman"/>
                          <a:ea typeface="Times New Roman"/>
                          <a:cs typeface="Times New Roman"/>
                          <a:sym typeface="Times New Roman"/>
                        </a:rPr>
                        <a:t> </a:t>
                      </a:r>
                      <a:r>
                        <a:t>dashboard</a:t>
                      </a:r>
                      <a:r>
                        <a:rPr>
                          <a:latin typeface="Times New Roman"/>
                          <a:ea typeface="Times New Roman"/>
                          <a:cs typeface="Times New Roman"/>
                          <a:sym typeface="Times New Roman"/>
                        </a:rPr>
                        <a:t> </a:t>
                      </a:r>
                      <a:r>
                        <a:t>within</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dental</a:t>
                      </a:r>
                      <a:r>
                        <a:rPr>
                          <a:latin typeface="Times New Roman"/>
                          <a:ea typeface="Times New Roman"/>
                          <a:cs typeface="Times New Roman"/>
                          <a:sym typeface="Times New Roman"/>
                        </a:rPr>
                        <a:t> </a:t>
                      </a:r>
                      <a:r>
                        <a:t>school</a:t>
                      </a:r>
                      <a:r>
                        <a:rPr>
                          <a:latin typeface="Times New Roman"/>
                          <a:ea typeface="Times New Roman"/>
                          <a:cs typeface="Times New Roman"/>
                          <a:sym typeface="Times New Roman"/>
                        </a:rPr>
                        <a:t> </a:t>
                      </a:r>
                      <a:r>
                        <a:t>setting</a:t>
                      </a:r>
                      <a:r>
                        <a:rPr>
                          <a:latin typeface="Times New Roman"/>
                          <a:ea typeface="Times New Roman"/>
                          <a:cs typeface="Times New Roman"/>
                          <a:sym typeface="Times New Roman"/>
                        </a:rPr>
                        <a:t> </a:t>
                      </a:r>
                    </a:p>
                  </a:txBody>
                  <a:tcPr marL="45720" marR="45720" horzOverflow="overflow"/>
                </a:tc>
                <a:tc>
                  <a:txBody>
                    <a:bodyPr/>
                    <a:lstStyle/>
                    <a:p>
                      <a:pPr indent="12700" algn="l">
                        <a:lnSpc>
                          <a:spcPts val="2200"/>
                        </a:lnSpc>
                        <a:spcBef>
                          <a:spcPts val="200"/>
                        </a:spcBef>
                        <a:defRPr sz="1200">
                          <a:latin typeface="Calibri"/>
                          <a:ea typeface="Calibri"/>
                          <a:cs typeface="Calibri"/>
                          <a:sym typeface="Calibri"/>
                        </a:defRPr>
                      </a:pPr>
                      <a:r>
                        <a:t>Afshari</a:t>
                      </a:r>
                      <a:r>
                        <a:rPr>
                          <a:latin typeface="Times New Roman"/>
                          <a:ea typeface="Times New Roman"/>
                          <a:cs typeface="Times New Roman"/>
                          <a:sym typeface="Times New Roman"/>
                        </a:rPr>
                        <a:t> </a:t>
                      </a:r>
                      <a:r>
                        <a:t>et</a:t>
                      </a:r>
                      <a:r>
                        <a:rPr>
                          <a:latin typeface="Times New Roman"/>
                          <a:ea typeface="Times New Roman"/>
                          <a:cs typeface="Times New Roman"/>
                          <a:sym typeface="Times New Roman"/>
                        </a:rPr>
                        <a:t> </a:t>
                      </a:r>
                      <a:r>
                        <a:t>al</a:t>
                      </a:r>
                    </a:p>
                  </a:txBody>
                  <a:tcPr marL="45720" marR="45720" horzOverflow="overflow"/>
                </a:tc>
                <a:tc>
                  <a:txBody>
                    <a:bodyPr/>
                    <a:lstStyle/>
                    <a:p>
                      <a:pPr indent="12700" algn="l">
                        <a:lnSpc>
                          <a:spcPct val="110000"/>
                        </a:lnSpc>
                        <a:spcBef>
                          <a:spcPts val="500"/>
                        </a:spcBef>
                        <a:defRPr sz="1200">
                          <a:solidFill>
                            <a:srgbClr val="181818"/>
                          </a:solidFill>
                          <a:latin typeface="Calibri"/>
                          <a:ea typeface="Calibri"/>
                          <a:cs typeface="Calibri"/>
                          <a:sym typeface="Calibri"/>
                        </a:defRPr>
                      </a:pPr>
                      <a:r>
                        <a:t>: The</a:t>
                      </a:r>
                      <a:r>
                        <a:rPr>
                          <a:latin typeface="Times New Roman"/>
                          <a:ea typeface="Times New Roman"/>
                          <a:cs typeface="Times New Roman"/>
                          <a:sym typeface="Times New Roman"/>
                        </a:rPr>
                        <a:t> </a:t>
                      </a:r>
                      <a:r>
                        <a:rPr>
                          <a:solidFill>
                            <a:srgbClr val="000000"/>
                          </a:solidFill>
                        </a:rPr>
                        <a:t>research</a:t>
                      </a:r>
                      <a:r>
                        <a:rPr>
                          <a:solidFill>
                            <a:srgbClr val="000000"/>
                          </a:solidFill>
                          <a:latin typeface="Times New Roman"/>
                          <a:ea typeface="Times New Roman"/>
                          <a:cs typeface="Times New Roman"/>
                          <a:sym typeface="Times New Roman"/>
                        </a:rPr>
                        <a:t> </a:t>
                      </a:r>
                      <a:r>
                        <a:rPr>
                          <a:solidFill>
                            <a:srgbClr val="000000"/>
                          </a:solidFill>
                        </a:rPr>
                        <a:t>created</a:t>
                      </a:r>
                      <a:r>
                        <a:rPr>
                          <a:solidFill>
                            <a:srgbClr val="000000"/>
                          </a:solidFill>
                          <a:latin typeface="Times New Roman"/>
                          <a:ea typeface="Times New Roman"/>
                          <a:cs typeface="Times New Roman"/>
                          <a:sym typeface="Times New Roman"/>
                        </a:rPr>
                        <a:t> </a:t>
                      </a:r>
                      <a:r>
                        <a:rPr>
                          <a:solidFill>
                            <a:srgbClr val="000000"/>
                          </a:solidFill>
                        </a:rPr>
                        <a:t>a</a:t>
                      </a:r>
                      <a:r>
                        <a:rPr>
                          <a:solidFill>
                            <a:srgbClr val="000000"/>
                          </a:solidFill>
                          <a:latin typeface="Times New Roman"/>
                          <a:ea typeface="Times New Roman"/>
                          <a:cs typeface="Times New Roman"/>
                          <a:sym typeface="Times New Roman"/>
                        </a:rPr>
                        <a:t> </a:t>
                      </a:r>
                      <a:r>
                        <a:rPr>
                          <a:solidFill>
                            <a:srgbClr val="000000"/>
                          </a:solidFill>
                        </a:rPr>
                        <a:t>computer</a:t>
                      </a:r>
                      <a:r>
                        <a:t>-</a:t>
                      </a:r>
                      <a:r>
                        <a:rPr>
                          <a:solidFill>
                            <a:srgbClr val="000000"/>
                          </a:solidFill>
                        </a:rPr>
                        <a:t>based</a:t>
                      </a:r>
                      <a:r>
                        <a:rPr>
                          <a:solidFill>
                            <a:srgbClr val="000000"/>
                          </a:solidFill>
                          <a:latin typeface="Times New Roman"/>
                          <a:ea typeface="Times New Roman"/>
                          <a:cs typeface="Times New Roman"/>
                          <a:sym typeface="Times New Roman"/>
                        </a:rPr>
                        <a:t> </a:t>
                      </a:r>
                      <a:r>
                        <a:rPr>
                          <a:solidFill>
                            <a:srgbClr val="000000"/>
                          </a:solidFill>
                        </a:rPr>
                        <a:t>student</a:t>
                      </a:r>
                      <a:r>
                        <a:rPr>
                          <a:solidFill>
                            <a:srgbClr val="000000"/>
                          </a:solidFill>
                          <a:latin typeface="Times New Roman"/>
                          <a:ea typeface="Times New Roman"/>
                          <a:cs typeface="Times New Roman"/>
                          <a:sym typeface="Times New Roman"/>
                        </a:rPr>
                        <a:t> </a:t>
                      </a:r>
                      <a:r>
                        <a:rPr>
                          <a:solidFill>
                            <a:srgbClr val="000000"/>
                          </a:solidFill>
                        </a:rPr>
                        <a:t>dashboard</a:t>
                      </a:r>
                      <a:r>
                        <a:rPr>
                          <a:solidFill>
                            <a:srgbClr val="000000"/>
                          </a:solidFill>
                          <a:latin typeface="Times New Roman"/>
                          <a:ea typeface="Times New Roman"/>
                          <a:cs typeface="Times New Roman"/>
                          <a:sym typeface="Times New Roman"/>
                        </a:rPr>
                        <a:t> </a:t>
                      </a:r>
                      <a:r>
                        <a:rPr>
                          <a:solidFill>
                            <a:srgbClr val="000000"/>
                          </a:solidFill>
                        </a:rPr>
                        <a:t>for</a:t>
                      </a:r>
                      <a:r>
                        <a:rPr>
                          <a:solidFill>
                            <a:srgbClr val="000000"/>
                          </a:solidFill>
                          <a:latin typeface="Times New Roman"/>
                          <a:ea typeface="Times New Roman"/>
                          <a:cs typeface="Times New Roman"/>
                          <a:sym typeface="Times New Roman"/>
                        </a:rPr>
                        <a:t> </a:t>
                      </a:r>
                      <a:r>
                        <a:rPr>
                          <a:solidFill>
                            <a:srgbClr val="000000"/>
                          </a:solidFill>
                        </a:rPr>
                        <a:t>patient</a:t>
                      </a:r>
                      <a:r>
                        <a:rPr>
                          <a:solidFill>
                            <a:srgbClr val="000000"/>
                          </a:solidFill>
                          <a:latin typeface="Times New Roman"/>
                          <a:ea typeface="Times New Roman"/>
                          <a:cs typeface="Times New Roman"/>
                          <a:sym typeface="Times New Roman"/>
                        </a:rPr>
                        <a:t> </a:t>
                      </a:r>
                      <a:r>
                        <a:rPr>
                          <a:solidFill>
                            <a:srgbClr val="000000"/>
                          </a:solidFill>
                        </a:rPr>
                        <a:t>management</a:t>
                      </a:r>
                      <a:r>
                        <a:rPr>
                          <a:solidFill>
                            <a:srgbClr val="000000"/>
                          </a:solidFill>
                          <a:latin typeface="Times New Roman"/>
                          <a:ea typeface="Times New Roman"/>
                          <a:cs typeface="Times New Roman"/>
                          <a:sym typeface="Times New Roman"/>
                        </a:rPr>
                        <a:t> </a:t>
                      </a:r>
                      <a:r>
                        <a:rPr>
                          <a:solidFill>
                            <a:srgbClr val="000000"/>
                          </a:solidFill>
                        </a:rPr>
                        <a:t>within</a:t>
                      </a:r>
                      <a:r>
                        <a:rPr>
                          <a:solidFill>
                            <a:srgbClr val="000000"/>
                          </a:solidFill>
                          <a:latin typeface="Times New Roman"/>
                          <a:ea typeface="Times New Roman"/>
                          <a:cs typeface="Times New Roman"/>
                          <a:sym typeface="Times New Roman"/>
                        </a:rPr>
                        <a:t> </a:t>
                      </a:r>
                      <a:r>
                        <a:t>dental</a:t>
                      </a:r>
                      <a:r>
                        <a:rPr>
                          <a:latin typeface="Times New Roman"/>
                          <a:ea typeface="Times New Roman"/>
                          <a:cs typeface="Times New Roman"/>
                          <a:sym typeface="Times New Roman"/>
                        </a:rPr>
                        <a:t> </a:t>
                      </a:r>
                      <a:r>
                        <a:t>education</a:t>
                      </a:r>
                      <a:r>
                        <a:rPr>
                          <a:latin typeface="Times New Roman"/>
                          <a:ea typeface="Times New Roman"/>
                          <a:cs typeface="Times New Roman"/>
                          <a:sym typeface="Times New Roman"/>
                        </a:rPr>
                        <a:t> </a:t>
                      </a:r>
                      <a:r>
                        <a:rPr>
                          <a:solidFill>
                            <a:srgbClr val="000000"/>
                          </a:solidFill>
                        </a:rPr>
                        <a:t>based</a:t>
                      </a:r>
                      <a:r>
                        <a:rPr>
                          <a:solidFill>
                            <a:srgbClr val="000000"/>
                          </a:solidFill>
                          <a:latin typeface="Times New Roman"/>
                          <a:ea typeface="Times New Roman"/>
                          <a:cs typeface="Times New Roman"/>
                          <a:sym typeface="Times New Roman"/>
                        </a:rPr>
                        <a:t> </a:t>
                      </a:r>
                      <a:r>
                        <a:rPr>
                          <a:solidFill>
                            <a:srgbClr val="000000"/>
                          </a:solidFill>
                        </a:rPr>
                        <a:t>on</a:t>
                      </a:r>
                      <a:r>
                        <a:rPr>
                          <a:solidFill>
                            <a:srgbClr val="000000"/>
                          </a:solidFill>
                          <a:latin typeface="Times New Roman"/>
                          <a:ea typeface="Times New Roman"/>
                          <a:cs typeface="Times New Roman"/>
                          <a:sym typeface="Times New Roman"/>
                        </a:rPr>
                        <a:t> </a:t>
                      </a:r>
                      <a:r>
                        <a:rPr>
                          <a:solidFill>
                            <a:srgbClr val="000000"/>
                          </a:solidFill>
                        </a:rPr>
                        <a:t>electronic</a:t>
                      </a:r>
                      <a:r>
                        <a:rPr>
                          <a:solidFill>
                            <a:srgbClr val="000000"/>
                          </a:solidFill>
                          <a:latin typeface="Times New Roman"/>
                          <a:ea typeface="Times New Roman"/>
                          <a:cs typeface="Times New Roman"/>
                          <a:sym typeface="Times New Roman"/>
                        </a:rPr>
                        <a:t> </a:t>
                      </a:r>
                      <a:r>
                        <a:rPr>
                          <a:solidFill>
                            <a:srgbClr val="000000"/>
                          </a:solidFill>
                        </a:rPr>
                        <a:t>health</a:t>
                      </a:r>
                      <a:r>
                        <a:rPr>
                          <a:solidFill>
                            <a:srgbClr val="000000"/>
                          </a:solidFill>
                          <a:latin typeface="Times New Roman"/>
                          <a:ea typeface="Times New Roman"/>
                          <a:cs typeface="Times New Roman"/>
                          <a:sym typeface="Times New Roman"/>
                        </a:rPr>
                        <a:t> </a:t>
                      </a:r>
                      <a:r>
                        <a:rPr>
                          <a:solidFill>
                            <a:srgbClr val="000000"/>
                          </a:solidFill>
                        </a:rPr>
                        <a:t>records</a:t>
                      </a:r>
                      <a:r>
                        <a:t>.</a:t>
                      </a:r>
                      <a:r>
                        <a:rPr>
                          <a:latin typeface="Times New Roman"/>
                          <a:ea typeface="Times New Roman"/>
                          <a:cs typeface="Times New Roman"/>
                          <a:sym typeface="Times New Roman"/>
                        </a:rPr>
                        <a:t> </a:t>
                      </a:r>
                      <a:r>
                        <a:t>Post-</a:t>
                      </a:r>
                    </a:p>
                    <a:p>
                      <a:pPr indent="12700" algn="l">
                        <a:lnSpc>
                          <a:spcPct val="110000"/>
                        </a:lnSpc>
                        <a:defRPr sz="1200">
                          <a:solidFill>
                            <a:srgbClr val="181818"/>
                          </a:solidFill>
                          <a:latin typeface="Calibri"/>
                          <a:ea typeface="Calibri"/>
                          <a:cs typeface="Calibri"/>
                          <a:sym typeface="Calibri"/>
                        </a:defRPr>
                      </a:pPr>
                      <a:r>
                        <a:t>implementation</a:t>
                      </a:r>
                      <a:r>
                        <a:rPr>
                          <a:latin typeface="Times New Roman"/>
                          <a:ea typeface="Times New Roman"/>
                          <a:cs typeface="Times New Roman"/>
                          <a:sym typeface="Times New Roman"/>
                        </a:rPr>
                        <a:t> </a:t>
                      </a:r>
                      <a:r>
                        <a:rPr>
                          <a:solidFill>
                            <a:srgbClr val="000000"/>
                          </a:solidFill>
                        </a:rPr>
                        <a:t>outcomes</a:t>
                      </a:r>
                      <a:r>
                        <a:rPr>
                          <a:solidFill>
                            <a:srgbClr val="000000"/>
                          </a:solidFill>
                          <a:latin typeface="Times New Roman"/>
                          <a:ea typeface="Times New Roman"/>
                          <a:cs typeface="Times New Roman"/>
                          <a:sym typeface="Times New Roman"/>
                        </a:rPr>
                        <a:t> </a:t>
                      </a:r>
                      <a:r>
                        <a:rPr>
                          <a:solidFill>
                            <a:srgbClr val="000000"/>
                          </a:solidFill>
                        </a:rPr>
                        <a:t>included</a:t>
                      </a:r>
                      <a:r>
                        <a:rPr>
                          <a:solidFill>
                            <a:srgbClr val="000000"/>
                          </a:solidFill>
                          <a:latin typeface="Times New Roman"/>
                          <a:ea typeface="Times New Roman"/>
                          <a:cs typeface="Times New Roman"/>
                          <a:sym typeface="Times New Roman"/>
                        </a:rPr>
                        <a:t> </a:t>
                      </a:r>
                      <a:r>
                        <a:rPr>
                          <a:solidFill>
                            <a:srgbClr val="000000"/>
                          </a:solidFill>
                        </a:rPr>
                        <a:t>decreased</a:t>
                      </a:r>
                      <a:r>
                        <a:rPr>
                          <a:solidFill>
                            <a:srgbClr val="000000"/>
                          </a:solidFill>
                          <a:latin typeface="Times New Roman"/>
                          <a:ea typeface="Times New Roman"/>
                          <a:cs typeface="Times New Roman"/>
                          <a:sym typeface="Times New Roman"/>
                        </a:rPr>
                        <a:t> </a:t>
                      </a:r>
                      <a:r>
                        <a:t>overdue</a:t>
                      </a:r>
                      <a:r>
                        <a:rPr>
                          <a:latin typeface="Times New Roman"/>
                          <a:ea typeface="Times New Roman"/>
                          <a:cs typeface="Times New Roman"/>
                          <a:sym typeface="Times New Roman"/>
                        </a:rPr>
                        <a:t> </a:t>
                      </a:r>
                      <a:r>
                        <a:t>patients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rPr>
                          <a:solidFill>
                            <a:srgbClr val="000000"/>
                          </a:solidFill>
                        </a:rPr>
                        <a:t>better</a:t>
                      </a:r>
                      <a:r>
                        <a:rPr>
                          <a:solidFill>
                            <a:srgbClr val="000000"/>
                          </a:solidFill>
                          <a:latin typeface="Times New Roman"/>
                          <a:ea typeface="Times New Roman"/>
                          <a:cs typeface="Times New Roman"/>
                          <a:sym typeface="Times New Roman"/>
                        </a:rPr>
                        <a:t> </a:t>
                      </a:r>
                      <a:r>
                        <a:t>compliance.</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t>dashboard</a:t>
                      </a:r>
                      <a:r>
                        <a:rPr>
                          <a:latin typeface="Times New Roman"/>
                          <a:ea typeface="Times New Roman"/>
                          <a:cs typeface="Times New Roman"/>
                          <a:sym typeface="Times New Roman"/>
                        </a:rPr>
                        <a:t> </a:t>
                      </a:r>
                      <a:r>
                        <a:rPr>
                          <a:solidFill>
                            <a:srgbClr val="000000"/>
                          </a:solidFill>
                        </a:rPr>
                        <a:t>increases</a:t>
                      </a:r>
                      <a:r>
                        <a:rPr>
                          <a:solidFill>
                            <a:srgbClr val="000000"/>
                          </a:solidFill>
                          <a:latin typeface="Times New Roman"/>
                          <a:ea typeface="Times New Roman"/>
                          <a:cs typeface="Times New Roman"/>
                          <a:sym typeface="Times New Roman"/>
                        </a:rPr>
                        <a:t> </a:t>
                      </a:r>
                      <a:r>
                        <a:t>student</a:t>
                      </a:r>
                      <a:r>
                        <a:rPr>
                          <a:latin typeface="Times New Roman"/>
                          <a:ea typeface="Times New Roman"/>
                          <a:cs typeface="Times New Roman"/>
                          <a:sym typeface="Times New Roman"/>
                        </a:rPr>
                        <a:t> </a:t>
                      </a:r>
                      <a:r>
                        <a:rPr>
                          <a:solidFill>
                            <a:srgbClr val="000000"/>
                          </a:solidFill>
                        </a:rPr>
                        <a:t>involvement</a:t>
                      </a:r>
                      <a:r>
                        <a:rPr>
                          <a:solidFill>
                            <a:srgbClr val="000000"/>
                          </a:solidFill>
                          <a:latin typeface="Times New Roman"/>
                          <a:ea typeface="Times New Roman"/>
                          <a:cs typeface="Times New Roman"/>
                          <a:sym typeface="Times New Roman"/>
                        </a:rPr>
                        <a:t> </a:t>
                      </a:r>
                      <a:r>
                        <a:rPr>
                          <a:solidFill>
                            <a:srgbClr val="000000"/>
                          </a:solidFill>
                        </a:rPr>
                        <a:t>and</a:t>
                      </a:r>
                      <a:r>
                        <a:rPr>
                          <a:solidFill>
                            <a:srgbClr val="000000"/>
                          </a:solidFill>
                          <a:latin typeface="Times New Roman"/>
                          <a:ea typeface="Times New Roman"/>
                          <a:cs typeface="Times New Roman"/>
                          <a:sym typeface="Times New Roman"/>
                        </a:rPr>
                        <a:t> </a:t>
                      </a:r>
                      <a:r>
                        <a:rPr>
                          <a:solidFill>
                            <a:srgbClr val="000000"/>
                          </a:solidFill>
                        </a:rPr>
                        <a:t>patient</a:t>
                      </a:r>
                      <a:r>
                        <a:rPr>
                          <a:solidFill>
                            <a:srgbClr val="000000"/>
                          </a:solidFill>
                          <a:latin typeface="Times New Roman"/>
                          <a:ea typeface="Times New Roman"/>
                          <a:cs typeface="Times New Roman"/>
                          <a:sym typeface="Times New Roman"/>
                        </a:rPr>
                        <a:t> </a:t>
                      </a:r>
                      <a:r>
                        <a:rPr>
                          <a:solidFill>
                            <a:srgbClr val="000000"/>
                          </a:solidFill>
                        </a:rPr>
                        <a:t>care,</a:t>
                      </a:r>
                      <a:r>
                        <a:rPr>
                          <a:solidFill>
                            <a:srgbClr val="000000"/>
                          </a:solidFill>
                          <a:latin typeface="Times New Roman"/>
                          <a:ea typeface="Times New Roman"/>
                          <a:cs typeface="Times New Roman"/>
                          <a:sym typeface="Times New Roman"/>
                        </a:rPr>
                        <a:t> </a:t>
                      </a:r>
                      <a:r>
                        <a:rPr>
                          <a:solidFill>
                            <a:srgbClr val="000000"/>
                          </a:solidFill>
                        </a:rPr>
                        <a:t>with</a:t>
                      </a:r>
                      <a:r>
                        <a:rPr>
                          <a:solidFill>
                            <a:srgbClr val="000000"/>
                          </a:solidFill>
                          <a:latin typeface="Times New Roman"/>
                          <a:ea typeface="Times New Roman"/>
                          <a:cs typeface="Times New Roman"/>
                          <a:sym typeface="Times New Roman"/>
                        </a:rPr>
                        <a:t> </a:t>
                      </a:r>
                      <a:r>
                        <a:rPr>
                          <a:solidFill>
                            <a:srgbClr val="000000"/>
                          </a:solidFill>
                        </a:rPr>
                        <a:t>applications</a:t>
                      </a:r>
                      <a:r>
                        <a:rPr>
                          <a:solidFill>
                            <a:srgbClr val="000000"/>
                          </a:solidFill>
                          <a:latin typeface="Times New Roman"/>
                          <a:ea typeface="Times New Roman"/>
                          <a:cs typeface="Times New Roman"/>
                          <a:sym typeface="Times New Roman"/>
                        </a:rPr>
                        <a:t> </a:t>
                      </a:r>
                      <a:r>
                        <a:rPr>
                          <a:solidFill>
                            <a:srgbClr val="000000"/>
                          </a:solidFill>
                        </a:rPr>
                        <a:t>extending</a:t>
                      </a:r>
                      <a:r>
                        <a:rPr>
                          <a:solidFill>
                            <a:srgbClr val="000000"/>
                          </a:solidFill>
                          <a:latin typeface="Times New Roman"/>
                          <a:ea typeface="Times New Roman"/>
                          <a:cs typeface="Times New Roman"/>
                          <a:sym typeface="Times New Roman"/>
                        </a:rPr>
                        <a:t> </a:t>
                      </a:r>
                      <a:r>
                        <a:rPr>
                          <a:solidFill>
                            <a:srgbClr val="000000"/>
                          </a:solidFill>
                        </a:rPr>
                        <a:t>to</a:t>
                      </a:r>
                      <a:r>
                        <a:rPr>
                          <a:solidFill>
                            <a:srgbClr val="000000"/>
                          </a:solidFill>
                          <a:latin typeface="Times New Roman"/>
                          <a:ea typeface="Times New Roman"/>
                          <a:cs typeface="Times New Roman"/>
                          <a:sym typeface="Times New Roman"/>
                        </a:rPr>
                        <a:t> </a:t>
                      </a:r>
                      <a:r>
                        <a:t>dental</a:t>
                      </a:r>
                      <a:r>
                        <a:rPr>
                          <a:latin typeface="Times New Roman"/>
                          <a:ea typeface="Times New Roman"/>
                          <a:cs typeface="Times New Roman"/>
                          <a:sym typeface="Times New Roman"/>
                        </a:rPr>
                        <a:t> </a:t>
                      </a:r>
                      <a:r>
                        <a:t>education.</a:t>
                      </a:r>
                    </a:p>
                  </a:txBody>
                  <a:tcPr marL="45720" marR="45720" horzOverflow="overflow"/>
                </a:tc>
                <a:tc>
                  <a:txBody>
                    <a:bodyPr/>
                    <a:lstStyle/>
                    <a:p>
                      <a:pPr indent="12700" algn="l">
                        <a:spcBef>
                          <a:spcPts val="900"/>
                        </a:spcBef>
                        <a:defRPr sz="1200">
                          <a:latin typeface="Calibri"/>
                          <a:ea typeface="Calibri"/>
                          <a:cs typeface="Calibri"/>
                          <a:sym typeface="Calibri"/>
                        </a:defRPr>
                      </a:pPr>
                      <a:r>
                        <a:rPr dirty="0"/>
                        <a:t>Does</a:t>
                      </a:r>
                      <a:r>
                        <a:rPr dirty="0">
                          <a:latin typeface="Times New Roman"/>
                          <a:ea typeface="Times New Roman"/>
                          <a:cs typeface="Times New Roman"/>
                          <a:sym typeface="Times New Roman"/>
                        </a:rPr>
                        <a:t> </a:t>
                      </a:r>
                      <a:r>
                        <a:rPr dirty="0"/>
                        <a:t>not</a:t>
                      </a:r>
                      <a:r>
                        <a:rPr dirty="0">
                          <a:latin typeface="Times New Roman"/>
                          <a:ea typeface="Times New Roman"/>
                          <a:cs typeface="Times New Roman"/>
                          <a:sym typeface="Times New Roman"/>
                        </a:rPr>
                        <a:t> </a:t>
                      </a:r>
                      <a:r>
                        <a:rPr dirty="0"/>
                        <a:t>have</a:t>
                      </a:r>
                      <a:r>
                        <a:rPr dirty="0">
                          <a:latin typeface="Times New Roman"/>
                          <a:ea typeface="Times New Roman"/>
                          <a:cs typeface="Times New Roman"/>
                          <a:sym typeface="Times New Roman"/>
                        </a:rPr>
                        <a:t> </a:t>
                      </a:r>
                      <a:r>
                        <a:rPr dirty="0">
                          <a:solidFill>
                            <a:srgbClr val="181818"/>
                          </a:solidFill>
                        </a:rPr>
                        <a:t>quantitative</a:t>
                      </a:r>
                      <a:r>
                        <a:rPr dirty="0">
                          <a:solidFill>
                            <a:srgbClr val="181818"/>
                          </a:solidFill>
                          <a:latin typeface="Times New Roman"/>
                          <a:ea typeface="Times New Roman"/>
                          <a:cs typeface="Times New Roman"/>
                          <a:sym typeface="Times New Roman"/>
                        </a:rPr>
                        <a:t> </a:t>
                      </a:r>
                      <a:r>
                        <a:rPr dirty="0">
                          <a:solidFill>
                            <a:srgbClr val="181818"/>
                          </a:solidFill>
                        </a:rPr>
                        <a:t>longitudinal</a:t>
                      </a:r>
                    </a:p>
                    <a:p>
                      <a:pPr indent="12700" algn="just">
                        <a:lnSpc>
                          <a:spcPts val="1400"/>
                        </a:lnSpc>
                        <a:defRPr sz="1200">
                          <a:solidFill>
                            <a:srgbClr val="181818"/>
                          </a:solidFill>
                          <a:latin typeface="Calibri"/>
                          <a:ea typeface="Calibri"/>
                          <a:cs typeface="Calibri"/>
                          <a:sym typeface="Calibri"/>
                        </a:defRPr>
                      </a:pPr>
                      <a:r>
                        <a:rPr dirty="0"/>
                        <a:t>data,</a:t>
                      </a:r>
                      <a:r>
                        <a:rPr dirty="0">
                          <a:latin typeface="Times New Roman"/>
                          <a:ea typeface="Times New Roman"/>
                          <a:cs typeface="Times New Roman"/>
                          <a:sym typeface="Times New Roman"/>
                        </a:rPr>
                        <a:t> </a:t>
                      </a:r>
                      <a:r>
                        <a:rPr dirty="0">
                          <a:solidFill>
                            <a:srgbClr val="000000"/>
                          </a:solidFill>
                        </a:rPr>
                        <a:t>representative</a:t>
                      </a:r>
                      <a:r>
                        <a:rPr dirty="0">
                          <a:solidFill>
                            <a:srgbClr val="000000"/>
                          </a:solidFill>
                          <a:latin typeface="Times New Roman"/>
                          <a:ea typeface="Times New Roman"/>
                          <a:cs typeface="Times New Roman"/>
                          <a:sym typeface="Times New Roman"/>
                        </a:rPr>
                        <a:t> </a:t>
                      </a:r>
                      <a:r>
                        <a:rPr dirty="0"/>
                        <a:t>demographic</a:t>
                      </a:r>
                      <a:r>
                        <a:rPr dirty="0">
                          <a:latin typeface="Times New Roman"/>
                          <a:ea typeface="Times New Roman"/>
                          <a:cs typeface="Times New Roman"/>
                          <a:sym typeface="Times New Roman"/>
                        </a:rPr>
                        <a:t> </a:t>
                      </a:r>
                      <a:r>
                        <a:rPr dirty="0">
                          <a:solidFill>
                            <a:srgbClr val="000000"/>
                          </a:solidFill>
                        </a:rPr>
                        <a:t>sample</a:t>
                      </a:r>
                      <a:r>
                        <a:rPr dirty="0"/>
                        <a:t>,</a:t>
                      </a:r>
                      <a:r>
                        <a:rPr dirty="0">
                          <a:latin typeface="Times New Roman"/>
                          <a:ea typeface="Times New Roman"/>
                          <a:cs typeface="Times New Roman"/>
                          <a:sym typeface="Times New Roman"/>
                        </a:rPr>
                        <a:t> </a:t>
                      </a:r>
                      <a:r>
                        <a:rPr dirty="0">
                          <a:solidFill>
                            <a:srgbClr val="000000"/>
                          </a:solidFill>
                        </a:rPr>
                        <a:t>detailed</a:t>
                      </a:r>
                      <a:r>
                        <a:rPr dirty="0">
                          <a:solidFill>
                            <a:srgbClr val="000000"/>
                          </a:solidFill>
                          <a:latin typeface="Times New Roman"/>
                          <a:ea typeface="Times New Roman"/>
                          <a:cs typeface="Times New Roman"/>
                          <a:sym typeface="Times New Roman"/>
                        </a:rPr>
                        <a:t> </a:t>
                      </a:r>
                      <a:r>
                        <a:rPr dirty="0"/>
                        <a:t>critical</a:t>
                      </a:r>
                      <a:r>
                        <a:rPr dirty="0">
                          <a:latin typeface="Times New Roman"/>
                          <a:ea typeface="Times New Roman"/>
                          <a:cs typeface="Times New Roman"/>
                          <a:sym typeface="Times New Roman"/>
                        </a:rPr>
                        <a:t> </a:t>
                      </a:r>
                      <a:r>
                        <a:rPr dirty="0"/>
                        <a:t>thinking</a:t>
                      </a:r>
                      <a:r>
                        <a:rPr dirty="0">
                          <a:latin typeface="Times New Roman"/>
                          <a:ea typeface="Times New Roman"/>
                          <a:cs typeface="Times New Roman"/>
                          <a:sym typeface="Times New Roman"/>
                        </a:rPr>
                        <a:t> </a:t>
                      </a:r>
                      <a:r>
                        <a:rPr dirty="0"/>
                        <a:t>skill</a:t>
                      </a:r>
                      <a:r>
                        <a:rPr dirty="0">
                          <a:latin typeface="Times New Roman"/>
                          <a:ea typeface="Times New Roman"/>
                          <a:cs typeface="Times New Roman"/>
                          <a:sym typeface="Times New Roman"/>
                        </a:rPr>
                        <a:t> </a:t>
                      </a:r>
                      <a:r>
                        <a:rPr dirty="0">
                          <a:solidFill>
                            <a:srgbClr val="000000"/>
                          </a:solidFill>
                        </a:rPr>
                        <a:t>examination</a:t>
                      </a:r>
                      <a:r>
                        <a:rPr dirty="0"/>
                        <a:t>,</a:t>
                      </a:r>
                      <a:r>
                        <a:rPr dirty="0">
                          <a:latin typeface="Times New Roman"/>
                          <a:ea typeface="Times New Roman"/>
                          <a:cs typeface="Times New Roman"/>
                          <a:sym typeface="Times New Roman"/>
                        </a:rPr>
                        <a:t> </a:t>
                      </a:r>
                      <a:r>
                        <a:rPr dirty="0"/>
                        <a:t>multi-</a:t>
                      </a:r>
                      <a:r>
                        <a:rPr dirty="0">
                          <a:latin typeface="Times New Roman"/>
                          <a:ea typeface="Times New Roman"/>
                          <a:cs typeface="Times New Roman"/>
                          <a:sym typeface="Times New Roman"/>
                        </a:rPr>
                        <a:t> </a:t>
                      </a:r>
                      <a:r>
                        <a:rPr dirty="0"/>
                        <a:t>institutional</a:t>
                      </a:r>
                      <a:r>
                        <a:rPr dirty="0">
                          <a:latin typeface="Times New Roman"/>
                          <a:ea typeface="Times New Roman"/>
                          <a:cs typeface="Times New Roman"/>
                          <a:sym typeface="Times New Roman"/>
                        </a:rPr>
                        <a:t> </a:t>
                      </a:r>
                      <a:r>
                        <a:rPr dirty="0">
                          <a:solidFill>
                            <a:srgbClr val="000000"/>
                          </a:solidFill>
                        </a:rPr>
                        <a:t>comparison</a:t>
                      </a:r>
                      <a:r>
                        <a:rPr dirty="0"/>
                        <a:t>,</a:t>
                      </a:r>
                      <a:r>
                        <a:rPr dirty="0">
                          <a:latin typeface="Times New Roman"/>
                          <a:ea typeface="Times New Roman"/>
                          <a:cs typeface="Times New Roman"/>
                          <a:sym typeface="Times New Roman"/>
                        </a:rPr>
                        <a:t> </a:t>
                      </a:r>
                      <a:r>
                        <a:rPr dirty="0"/>
                        <a:t>student</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t>faculty</a:t>
                      </a:r>
                      <a:r>
                        <a:rPr dirty="0">
                          <a:latin typeface="Times New Roman"/>
                          <a:ea typeface="Times New Roman"/>
                          <a:cs typeface="Times New Roman"/>
                          <a:sym typeface="Times New Roman"/>
                        </a:rPr>
                        <a:t> </a:t>
                      </a:r>
                      <a:r>
                        <a:rPr dirty="0">
                          <a:solidFill>
                            <a:srgbClr val="000000"/>
                          </a:solidFill>
                        </a:rPr>
                        <a:t>views</a:t>
                      </a:r>
                      <a:r>
                        <a:rPr dirty="0"/>
                        <a:t>,</a:t>
                      </a:r>
                      <a:r>
                        <a:rPr dirty="0">
                          <a:latin typeface="Times New Roman"/>
                          <a:ea typeface="Times New Roman"/>
                          <a:cs typeface="Times New Roman"/>
                          <a:sym typeface="Times New Roman"/>
                        </a:rPr>
                        <a:t> </a:t>
                      </a:r>
                      <a:r>
                        <a:rPr dirty="0">
                          <a:solidFill>
                            <a:srgbClr val="000000"/>
                          </a:solidFill>
                        </a:rPr>
                        <a:t>incorporation</a:t>
                      </a:r>
                      <a:r>
                        <a:rPr dirty="0">
                          <a:solidFill>
                            <a:srgbClr val="000000"/>
                          </a:solidFill>
                          <a:latin typeface="Times New Roman"/>
                          <a:ea typeface="Times New Roman"/>
                          <a:cs typeface="Times New Roman"/>
                          <a:sym typeface="Times New Roman"/>
                        </a:rPr>
                        <a:t> </a:t>
                      </a:r>
                      <a:r>
                        <a:rPr dirty="0"/>
                        <a:t>with</a:t>
                      </a:r>
                      <a:r>
                        <a:rPr dirty="0">
                          <a:latin typeface="Times New Roman"/>
                          <a:ea typeface="Times New Roman"/>
                          <a:cs typeface="Times New Roman"/>
                          <a:sym typeface="Times New Roman"/>
                        </a:rPr>
                        <a:t> </a:t>
                      </a:r>
                      <a:r>
                        <a:rPr dirty="0"/>
                        <a:t>other</a:t>
                      </a:r>
                      <a:r>
                        <a:rPr dirty="0">
                          <a:latin typeface="Times New Roman"/>
                          <a:ea typeface="Times New Roman"/>
                          <a:cs typeface="Times New Roman"/>
                          <a:sym typeface="Times New Roman"/>
                        </a:rPr>
                        <a:t> </a:t>
                      </a:r>
                      <a:r>
                        <a:rPr dirty="0">
                          <a:solidFill>
                            <a:srgbClr val="000000"/>
                          </a:solidFill>
                        </a:rPr>
                        <a:t>key</a:t>
                      </a:r>
                      <a:r>
                        <a:rPr dirty="0">
                          <a:solidFill>
                            <a:srgbClr val="000000"/>
                          </a:solidFill>
                          <a:latin typeface="Times New Roman"/>
                          <a:ea typeface="Times New Roman"/>
                          <a:cs typeface="Times New Roman"/>
                          <a:sym typeface="Times New Roman"/>
                        </a:rPr>
                        <a:t> </a:t>
                      </a:r>
                      <a:r>
                        <a:rPr dirty="0"/>
                        <a:t>skills,</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t>direct</a:t>
                      </a:r>
                      <a:r>
                        <a:rPr dirty="0">
                          <a:latin typeface="Times New Roman"/>
                          <a:ea typeface="Times New Roman"/>
                          <a:cs typeface="Times New Roman"/>
                          <a:sym typeface="Times New Roman"/>
                        </a:rPr>
                        <a:t> </a:t>
                      </a:r>
                      <a:r>
                        <a:rPr dirty="0">
                          <a:solidFill>
                            <a:srgbClr val="000000"/>
                          </a:solidFill>
                        </a:rPr>
                        <a:t>effect</a:t>
                      </a:r>
                      <a:r>
                        <a:rPr dirty="0">
                          <a:solidFill>
                            <a:srgbClr val="000000"/>
                          </a:solidFill>
                          <a:latin typeface="Times New Roman"/>
                          <a:ea typeface="Times New Roman"/>
                          <a:cs typeface="Times New Roman"/>
                          <a:sym typeface="Times New Roman"/>
                        </a:rPr>
                        <a:t> </a:t>
                      </a:r>
                      <a:r>
                        <a:rPr dirty="0">
                          <a:solidFill>
                            <a:srgbClr val="000000"/>
                          </a:solidFill>
                        </a:rPr>
                        <a:t>on</a:t>
                      </a:r>
                      <a:r>
                        <a:rPr dirty="0">
                          <a:solidFill>
                            <a:srgbClr val="000000"/>
                          </a:solidFill>
                          <a:latin typeface="Times New Roman"/>
                          <a:ea typeface="Times New Roman"/>
                          <a:cs typeface="Times New Roman"/>
                          <a:sym typeface="Times New Roman"/>
                        </a:rPr>
                        <a:t> </a:t>
                      </a:r>
                      <a:r>
                        <a:rPr dirty="0">
                          <a:solidFill>
                            <a:srgbClr val="000000"/>
                          </a:solidFill>
                        </a:rPr>
                        <a:t>patient</a:t>
                      </a:r>
                      <a:r>
                        <a:rPr dirty="0">
                          <a:solidFill>
                            <a:srgbClr val="000000"/>
                          </a:solidFill>
                          <a:latin typeface="Times New Roman"/>
                          <a:ea typeface="Times New Roman"/>
                          <a:cs typeface="Times New Roman"/>
                          <a:sym typeface="Times New Roman"/>
                        </a:rPr>
                        <a:t> </a:t>
                      </a:r>
                      <a:r>
                        <a:rPr dirty="0">
                          <a:solidFill>
                            <a:srgbClr val="000000"/>
                          </a:solidFill>
                        </a:rPr>
                        <a:t>outcomes.</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sp>
        <p:nvSpPr>
          <p:cNvPr id="161"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64" name="Rectangle"/>
          <p:cNvGrpSpPr/>
          <p:nvPr/>
        </p:nvGrpSpPr>
        <p:grpSpPr>
          <a:xfrm>
            <a:off x="1295400" y="290297"/>
            <a:ext cx="6858000" cy="486206"/>
            <a:chOff x="0" y="0"/>
            <a:chExt cx="6858000" cy="486204"/>
          </a:xfrm>
        </p:grpSpPr>
        <p:sp>
          <p:nvSpPr>
            <p:cNvPr id="162"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63"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65" name="Table 1"/>
          <p:cNvGraphicFramePr/>
          <p:nvPr/>
        </p:nvGraphicFramePr>
        <p:xfrm>
          <a:off x="762000" y="1706180"/>
          <a:ext cx="7645575" cy="3438719"/>
        </p:xfrm>
        <a:graphic>
          <a:graphicData uri="http://schemas.openxmlformats.org/drawingml/2006/table">
            <a:tbl>
              <a:tblPr>
                <a:tableStyleId>{4C3C2611-4C71-4FC5-86AE-919BDF0F9419}</a:tableStyleId>
              </a:tblPr>
              <a:tblGrid>
                <a:gridCol w="618931">
                  <a:extLst>
                    <a:ext uri="{9D8B030D-6E8A-4147-A177-3AD203B41FA5}">
                      <a16:colId xmlns:a16="http://schemas.microsoft.com/office/drawing/2014/main" val="20000"/>
                    </a:ext>
                  </a:extLst>
                </a:gridCol>
                <a:gridCol w="2136710">
                  <a:extLst>
                    <a:ext uri="{9D8B030D-6E8A-4147-A177-3AD203B41FA5}">
                      <a16:colId xmlns:a16="http://schemas.microsoft.com/office/drawing/2014/main" val="20001"/>
                    </a:ext>
                  </a:extLst>
                </a:gridCol>
                <a:gridCol w="1520890">
                  <a:extLst>
                    <a:ext uri="{9D8B030D-6E8A-4147-A177-3AD203B41FA5}">
                      <a16:colId xmlns:a16="http://schemas.microsoft.com/office/drawing/2014/main" val="20002"/>
                    </a:ext>
                  </a:extLst>
                </a:gridCol>
                <a:gridCol w="1684977">
                  <a:extLst>
                    <a:ext uri="{9D8B030D-6E8A-4147-A177-3AD203B41FA5}">
                      <a16:colId xmlns:a16="http://schemas.microsoft.com/office/drawing/2014/main" val="20003"/>
                    </a:ext>
                  </a:extLst>
                </a:gridCol>
                <a:gridCol w="1684067">
                  <a:extLst>
                    <a:ext uri="{9D8B030D-6E8A-4147-A177-3AD203B41FA5}">
                      <a16:colId xmlns:a16="http://schemas.microsoft.com/office/drawing/2014/main" val="20004"/>
                    </a:ext>
                  </a:extLst>
                </a:gridCol>
              </a:tblGrid>
              <a:tr h="421199">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1737393">
                <a:tc>
                  <a:txBody>
                    <a:bodyPr/>
                    <a:lstStyle/>
                    <a:p>
                      <a:pPr>
                        <a:defRPr sz="1800"/>
                      </a:pPr>
                      <a:r>
                        <a:rPr sz="1400"/>
                        <a:t>3.</a:t>
                      </a:r>
                    </a:p>
                  </a:txBody>
                  <a:tcPr marL="45720" marR="45720" horzOverflow="overflow"/>
                </a:tc>
                <a:tc>
                  <a:txBody>
                    <a:bodyPr/>
                    <a:lstStyle/>
                    <a:p>
                      <a:pPr indent="12700" algn="l">
                        <a:lnSpc>
                          <a:spcPct val="110000"/>
                        </a:lnSpc>
                        <a:defRPr sz="1200">
                          <a:latin typeface="Calibri"/>
                          <a:ea typeface="Calibri"/>
                          <a:cs typeface="Calibri"/>
                          <a:sym typeface="Calibri"/>
                        </a:defRPr>
                      </a:pPr>
                      <a:r>
                        <a:rPr>
                          <a:latin typeface="Times New Roman"/>
                          <a:ea typeface="Times New Roman"/>
                          <a:cs typeface="Times New Roman"/>
                          <a:sym typeface="Times New Roman"/>
                        </a:rPr>
                        <a:t> </a:t>
                      </a:r>
                      <a:r>
                        <a:t>Exploring</a:t>
                      </a:r>
                      <a:r>
                        <a:rPr>
                          <a:latin typeface="Times New Roman"/>
                          <a:ea typeface="Times New Roman"/>
                          <a:cs typeface="Times New Roman"/>
                          <a:sym typeface="Times New Roman"/>
                        </a:rPr>
                        <a:t> </a:t>
                      </a:r>
                      <a:r>
                        <a:t>Strategies</a:t>
                      </a:r>
                      <a:r>
                        <a:rPr>
                          <a:latin typeface="Times New Roman"/>
                          <a:ea typeface="Times New Roman"/>
                          <a:cs typeface="Times New Roman"/>
                          <a:sym typeface="Times New Roman"/>
                        </a:rPr>
                        <a:t> </a:t>
                      </a:r>
                      <a:r>
                        <a:t>for</a:t>
                      </a:r>
                      <a:r>
                        <a:rPr>
                          <a:latin typeface="Times New Roman"/>
                          <a:ea typeface="Times New Roman"/>
                          <a:cs typeface="Times New Roman"/>
                          <a:sym typeface="Times New Roman"/>
                        </a:rPr>
                        <a:t> </a:t>
                      </a:r>
                      <a:r>
                        <a:t>Promoting</a:t>
                      </a:r>
                      <a:r>
                        <a:rPr>
                          <a:latin typeface="Times New Roman"/>
                          <a:ea typeface="Times New Roman"/>
                          <a:cs typeface="Times New Roman"/>
                          <a:sym typeface="Times New Roman"/>
                        </a:rPr>
                        <a:t> </a:t>
                      </a:r>
                      <a:r>
                        <a:t>Overseas</a:t>
                      </a:r>
                      <a:r>
                        <a:rPr>
                          <a:latin typeface="Times New Roman"/>
                          <a:ea typeface="Times New Roman"/>
                          <a:cs typeface="Times New Roman"/>
                          <a:sym typeface="Times New Roman"/>
                        </a:rPr>
                        <a:t> </a:t>
                      </a:r>
                      <a:r>
                        <a:t>Alumni</a:t>
                      </a:r>
                      <a:r>
                        <a:rPr>
                          <a:latin typeface="Times New Roman"/>
                          <a:ea typeface="Times New Roman"/>
                          <a:cs typeface="Times New Roman"/>
                          <a:sym typeface="Times New Roman"/>
                        </a:rPr>
                        <a:t> </a:t>
                      </a:r>
                      <a:r>
                        <a:t>Giving</a:t>
                      </a:r>
                      <a:r>
                        <a:rPr>
                          <a:latin typeface="Times New Roman"/>
                          <a:ea typeface="Times New Roman"/>
                          <a:cs typeface="Times New Roman"/>
                          <a:sym typeface="Times New Roman"/>
                        </a:rPr>
                        <a:t> </a:t>
                      </a:r>
                      <a:r>
                        <a:t>Activities</a:t>
                      </a:r>
                      <a:r>
                        <a:rPr>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t>colleges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Universities</a:t>
                      </a:r>
                      <a:r>
                        <a:rPr>
                          <a:latin typeface="Times New Roman"/>
                          <a:ea typeface="Times New Roman"/>
                          <a:cs typeface="Times New Roman"/>
                          <a:sym typeface="Times New Roman"/>
                        </a:rPr>
                        <a:t> </a:t>
                      </a:r>
                      <a:r>
                        <a:t>Based</a:t>
                      </a:r>
                      <a:r>
                        <a:rPr>
                          <a:latin typeface="Times New Roman"/>
                          <a:ea typeface="Times New Roman"/>
                          <a:cs typeface="Times New Roman"/>
                          <a:sym typeface="Times New Roman"/>
                        </a:rPr>
                        <a:t> </a:t>
                      </a:r>
                      <a:r>
                        <a:t>on</a:t>
                      </a:r>
                      <a:r>
                        <a:rPr>
                          <a:latin typeface="Times New Roman"/>
                          <a:ea typeface="Times New Roman"/>
                          <a:cs typeface="Times New Roman"/>
                          <a:sym typeface="Times New Roman"/>
                        </a:rPr>
                        <a:t> </a:t>
                      </a:r>
                      <a:r>
                        <a:t>Coupled</a:t>
                      </a:r>
                      <a:r>
                        <a:rPr>
                          <a:latin typeface="Times New Roman"/>
                          <a:ea typeface="Times New Roman"/>
                          <a:cs typeface="Times New Roman"/>
                          <a:sym typeface="Times New Roman"/>
                        </a:rPr>
                        <a:t> </a:t>
                      </a:r>
                      <a:r>
                        <a:t>Models</a:t>
                      </a:r>
                    </a:p>
                  </a:txBody>
                  <a:tcPr marL="45720" marR="45720" horzOverflow="overflow"/>
                </a:tc>
                <a:tc>
                  <a:txBody>
                    <a:bodyPr/>
                    <a:lstStyle/>
                    <a:p>
                      <a:pPr indent="12700" algn="l">
                        <a:spcBef>
                          <a:spcPts val="100"/>
                        </a:spcBef>
                        <a:defRPr sz="1200">
                          <a:latin typeface="Calibri"/>
                          <a:ea typeface="Calibri"/>
                          <a:cs typeface="Calibri"/>
                          <a:sym typeface="Calibri"/>
                        </a:defRPr>
                      </a:pPr>
                      <a:r>
                        <a:t>Wang</a:t>
                      </a:r>
                    </a:p>
                  </a:txBody>
                  <a:tcPr marL="45720" marR="45720" horzOverflow="overflow"/>
                </a:tc>
                <a:tc>
                  <a:txBody>
                    <a:bodyPr/>
                    <a:lstStyle/>
                    <a:p>
                      <a:pPr indent="12700" algn="l">
                        <a:lnSpc>
                          <a:spcPct val="110000"/>
                        </a:lnSpc>
                        <a:defRPr sz="1200">
                          <a:latin typeface="Calibri"/>
                          <a:ea typeface="Calibri"/>
                          <a:cs typeface="Calibri"/>
                          <a:sym typeface="Calibri"/>
                        </a:defRPr>
                      </a:pPr>
                      <a:r>
                        <a:t>The</a:t>
                      </a:r>
                      <a:r>
                        <a:rPr>
                          <a:latin typeface="Times New Roman"/>
                          <a:ea typeface="Times New Roman"/>
                          <a:cs typeface="Times New Roman"/>
                          <a:sym typeface="Times New Roman"/>
                        </a:rPr>
                        <a:t> </a:t>
                      </a:r>
                      <a:r>
                        <a:t>paper</a:t>
                      </a:r>
                      <a:r>
                        <a:rPr>
                          <a:latin typeface="Times New Roman"/>
                          <a:ea typeface="Times New Roman"/>
                          <a:cs typeface="Times New Roman"/>
                          <a:sym typeface="Times New Roman"/>
                        </a:rPr>
                        <a:t> </a:t>
                      </a:r>
                      <a:r>
                        <a:t>explores</a:t>
                      </a:r>
                      <a:r>
                        <a:rPr>
                          <a:latin typeface="Times New Roman"/>
                          <a:ea typeface="Times New Roman"/>
                          <a:cs typeface="Times New Roman"/>
                          <a:sym typeface="Times New Roman"/>
                        </a:rPr>
                        <a:t> </a:t>
                      </a:r>
                      <a:r>
                        <a:t>strategies</a:t>
                      </a:r>
                      <a:r>
                        <a:rPr>
                          <a:latin typeface="Times New Roman"/>
                          <a:ea typeface="Times New Roman"/>
                          <a:cs typeface="Times New Roman"/>
                          <a:sym typeface="Times New Roman"/>
                        </a:rPr>
                        <a:t> </a:t>
                      </a:r>
                      <a:r>
                        <a:t>to</a:t>
                      </a:r>
                      <a:r>
                        <a:rPr>
                          <a:latin typeface="Times New Roman"/>
                          <a:ea typeface="Times New Roman"/>
                          <a:cs typeface="Times New Roman"/>
                          <a:sym typeface="Times New Roman"/>
                        </a:rPr>
                        <a:t> </a:t>
                      </a:r>
                      <a:r>
                        <a:t>boost</a:t>
                      </a:r>
                      <a:r>
                        <a:rPr>
                          <a:latin typeface="Times New Roman"/>
                          <a:ea typeface="Times New Roman"/>
                          <a:cs typeface="Times New Roman"/>
                          <a:sym typeface="Times New Roman"/>
                        </a:rPr>
                        <a:t> </a:t>
                      </a:r>
                      <a:r>
                        <a:t>overseas</a:t>
                      </a:r>
                      <a:r>
                        <a:rPr>
                          <a:latin typeface="Times New Roman"/>
                          <a:ea typeface="Times New Roman"/>
                          <a:cs typeface="Times New Roman"/>
                          <a:sym typeface="Times New Roman"/>
                        </a:rPr>
                        <a:t> </a:t>
                      </a:r>
                      <a:r>
                        <a:t>alumni</a:t>
                      </a:r>
                      <a:r>
                        <a:rPr>
                          <a:latin typeface="Times New Roman"/>
                          <a:ea typeface="Times New Roman"/>
                          <a:cs typeface="Times New Roman"/>
                          <a:sym typeface="Times New Roman"/>
                        </a:rPr>
                        <a:t> </a:t>
                      </a:r>
                      <a:r>
                        <a:t>donations</a:t>
                      </a:r>
                      <a:r>
                        <a:rPr>
                          <a:latin typeface="Times New Roman"/>
                          <a:ea typeface="Times New Roman"/>
                          <a:cs typeface="Times New Roman"/>
                          <a:sym typeface="Times New Roman"/>
                        </a:rPr>
                        <a:t> </a:t>
                      </a:r>
                      <a:r>
                        <a:t>using</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coupled</a:t>
                      </a:r>
                      <a:r>
                        <a:rPr>
                          <a:latin typeface="Times New Roman"/>
                          <a:ea typeface="Times New Roman"/>
                          <a:cs typeface="Times New Roman"/>
                          <a:sym typeface="Times New Roman"/>
                        </a:rPr>
                        <a:t> </a:t>
                      </a:r>
                      <a:r>
                        <a:t>model,</a:t>
                      </a:r>
                      <a:r>
                        <a:rPr>
                          <a:latin typeface="Times New Roman"/>
                          <a:ea typeface="Times New Roman"/>
                          <a:cs typeface="Times New Roman"/>
                          <a:sym typeface="Times New Roman"/>
                        </a:rPr>
                        <a:t> </a:t>
                      </a:r>
                      <a:r>
                        <a:t>finding</a:t>
                      </a:r>
                      <a:r>
                        <a:rPr>
                          <a:latin typeface="Times New Roman"/>
                          <a:ea typeface="Times New Roman"/>
                          <a:cs typeface="Times New Roman"/>
                          <a:sym typeface="Times New Roman"/>
                        </a:rPr>
                        <a:t> </a:t>
                      </a:r>
                      <a:r>
                        <a:t>that</a:t>
                      </a:r>
                      <a:r>
                        <a:rPr>
                          <a:latin typeface="Times New Roman"/>
                          <a:ea typeface="Times New Roman"/>
                          <a:cs typeface="Times New Roman"/>
                          <a:sym typeface="Times New Roman"/>
                        </a:rPr>
                        <a:t> </a:t>
                      </a:r>
                      <a:r>
                        <a:t>tax</a:t>
                      </a:r>
                      <a:r>
                        <a:rPr>
                          <a:latin typeface="Times New Roman"/>
                          <a:ea typeface="Times New Roman"/>
                          <a:cs typeface="Times New Roman"/>
                          <a:sym typeface="Times New Roman"/>
                        </a:rPr>
                        <a:t> </a:t>
                      </a:r>
                      <a:r>
                        <a:t>incentives,</a:t>
                      </a:r>
                      <a:r>
                        <a:rPr>
                          <a:latin typeface="Times New Roman"/>
                          <a:ea typeface="Times New Roman"/>
                          <a:cs typeface="Times New Roman"/>
                          <a:sym typeface="Times New Roman"/>
                        </a:rPr>
                        <a:t> </a:t>
                      </a:r>
                      <a:r>
                        <a:t>networking</a:t>
                      </a:r>
                      <a:r>
                        <a:rPr>
                          <a:latin typeface="Times New Roman"/>
                          <a:ea typeface="Times New Roman"/>
                          <a:cs typeface="Times New Roman"/>
                          <a:sym typeface="Times New Roman"/>
                        </a:rPr>
                        <a:t> </a:t>
                      </a:r>
                      <a:r>
                        <a:t>resources,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reputational</a:t>
                      </a:r>
                      <a:r>
                        <a:rPr>
                          <a:latin typeface="Times New Roman"/>
                          <a:ea typeface="Times New Roman"/>
                          <a:cs typeface="Times New Roman"/>
                          <a:sym typeface="Times New Roman"/>
                        </a:rPr>
                        <a:t> </a:t>
                      </a:r>
                      <a:r>
                        <a:t>gains</a:t>
                      </a:r>
                      <a:r>
                        <a:rPr>
                          <a:latin typeface="Times New Roman"/>
                          <a:ea typeface="Times New Roman"/>
                          <a:cs typeface="Times New Roman"/>
                          <a:sym typeface="Times New Roman"/>
                        </a:rPr>
                        <a:t> </a:t>
                      </a:r>
                      <a:r>
                        <a:t>influence</a:t>
                      </a:r>
                      <a:r>
                        <a:rPr>
                          <a:latin typeface="Times New Roman"/>
                          <a:ea typeface="Times New Roman"/>
                          <a:cs typeface="Times New Roman"/>
                          <a:sym typeface="Times New Roman"/>
                        </a:rPr>
                        <a:t> </a:t>
                      </a:r>
                      <a:r>
                        <a:t>donations,</a:t>
                      </a:r>
                      <a:r>
                        <a:rPr>
                          <a:latin typeface="Times New Roman"/>
                          <a:ea typeface="Times New Roman"/>
                          <a:cs typeface="Times New Roman"/>
                          <a:sym typeface="Times New Roman"/>
                        </a:rPr>
                        <a:t> </a:t>
                      </a:r>
                      <a:r>
                        <a:t>with</a:t>
                      </a:r>
                      <a:r>
                        <a:rPr>
                          <a:latin typeface="Times New Roman"/>
                          <a:ea typeface="Times New Roman"/>
                          <a:cs typeface="Times New Roman"/>
                          <a:sym typeface="Times New Roman"/>
                        </a:rPr>
                        <a:t> </a:t>
                      </a:r>
                      <a:r>
                        <a:t>tax</a:t>
                      </a:r>
                      <a:r>
                        <a:rPr>
                          <a:latin typeface="Times New Roman"/>
                          <a:ea typeface="Times New Roman"/>
                          <a:cs typeface="Times New Roman"/>
                          <a:sym typeface="Times New Roman"/>
                        </a:rPr>
                        <a:t> </a:t>
                      </a:r>
                      <a:r>
                        <a:t>benefits</a:t>
                      </a:r>
                      <a:r>
                        <a:rPr>
                          <a:latin typeface="Times New Roman"/>
                          <a:ea typeface="Times New Roman"/>
                          <a:cs typeface="Times New Roman"/>
                          <a:sym typeface="Times New Roman"/>
                        </a:rPr>
                        <a:t> </a:t>
                      </a:r>
                      <a:r>
                        <a:t>being</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t>most</a:t>
                      </a:r>
                      <a:r>
                        <a:rPr>
                          <a:latin typeface="Times New Roman"/>
                          <a:ea typeface="Times New Roman"/>
                          <a:cs typeface="Times New Roman"/>
                          <a:sym typeface="Times New Roman"/>
                        </a:rPr>
                        <a:t> </a:t>
                      </a:r>
                      <a:r>
                        <a:t>effective.</a:t>
                      </a:r>
                    </a:p>
                  </a:txBody>
                  <a:tcPr marL="45720" marR="45720" horzOverflow="overflow"/>
                </a:tc>
                <a:tc>
                  <a:txBody>
                    <a:bodyPr/>
                    <a:lstStyle/>
                    <a:p>
                      <a:pPr indent="12700" algn="l">
                        <a:spcBef>
                          <a:spcPts val="100"/>
                        </a:spcBef>
                        <a:defRPr sz="1200">
                          <a:latin typeface="Calibri"/>
                          <a:ea typeface="Calibri"/>
                          <a:cs typeface="Calibri"/>
                          <a:sym typeface="Calibri"/>
                        </a:defRPr>
                      </a:pPr>
                      <a:r>
                        <a:rPr dirty="0"/>
                        <a:t> However,</a:t>
                      </a:r>
                      <a:r>
                        <a:rPr dirty="0">
                          <a:latin typeface="Times New Roman"/>
                          <a:ea typeface="Times New Roman"/>
                          <a:cs typeface="Times New Roman"/>
                          <a:sym typeface="Times New Roman"/>
                        </a:rPr>
                        <a:t> </a:t>
                      </a:r>
                      <a:r>
                        <a:rPr dirty="0"/>
                        <a:t>it</a:t>
                      </a:r>
                      <a:r>
                        <a:rPr dirty="0">
                          <a:latin typeface="Times New Roman"/>
                          <a:ea typeface="Times New Roman"/>
                          <a:cs typeface="Times New Roman"/>
                          <a:sym typeface="Times New Roman"/>
                        </a:rPr>
                        <a:t> </a:t>
                      </a:r>
                      <a:r>
                        <a:rPr dirty="0"/>
                        <a:t>lacks</a:t>
                      </a:r>
                      <a:r>
                        <a:rPr dirty="0">
                          <a:latin typeface="Times New Roman"/>
                          <a:ea typeface="Times New Roman"/>
                          <a:cs typeface="Times New Roman"/>
                          <a:sym typeface="Times New Roman"/>
                        </a:rPr>
                        <a:t> </a:t>
                      </a:r>
                      <a:r>
                        <a:rPr dirty="0"/>
                        <a:t>real-world</a:t>
                      </a:r>
                      <a:r>
                        <a:rPr dirty="0">
                          <a:latin typeface="Times New Roman"/>
                          <a:ea typeface="Times New Roman"/>
                          <a:cs typeface="Times New Roman"/>
                          <a:sym typeface="Times New Roman"/>
                        </a:rPr>
                        <a:t> </a:t>
                      </a:r>
                      <a:r>
                        <a:rPr dirty="0"/>
                        <a:t>validation,</a:t>
                      </a:r>
                      <a:r>
                        <a:rPr dirty="0">
                          <a:latin typeface="Times New Roman"/>
                          <a:ea typeface="Times New Roman"/>
                          <a:cs typeface="Times New Roman"/>
                          <a:sym typeface="Times New Roman"/>
                        </a:rPr>
                        <a:t> </a:t>
                      </a:r>
                      <a:r>
                        <a:rPr dirty="0"/>
                        <a:t>ignores</a:t>
                      </a:r>
                      <a:r>
                        <a:rPr dirty="0">
                          <a:latin typeface="Times New Roman"/>
                          <a:ea typeface="Times New Roman"/>
                          <a:cs typeface="Times New Roman"/>
                          <a:sym typeface="Times New Roman"/>
                        </a:rPr>
                        <a:t> </a:t>
                      </a:r>
                      <a:r>
                        <a:rPr dirty="0"/>
                        <a:t>psychological</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t>cultural</a:t>
                      </a:r>
                      <a:r>
                        <a:rPr dirty="0">
                          <a:latin typeface="Times New Roman"/>
                          <a:ea typeface="Times New Roman"/>
                          <a:cs typeface="Times New Roman"/>
                          <a:sym typeface="Times New Roman"/>
                        </a:rPr>
                        <a:t> </a:t>
                      </a:r>
                      <a:r>
                        <a:rPr dirty="0"/>
                        <a:t>donation</a:t>
                      </a:r>
                      <a:r>
                        <a:rPr dirty="0">
                          <a:latin typeface="Times New Roman"/>
                          <a:ea typeface="Times New Roman"/>
                          <a:cs typeface="Times New Roman"/>
                          <a:sym typeface="Times New Roman"/>
                        </a:rPr>
                        <a:t> </a:t>
                      </a:r>
                      <a:r>
                        <a:rPr dirty="0"/>
                        <a:t>drivers,</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t>assumes</a:t>
                      </a:r>
                      <a:r>
                        <a:rPr dirty="0">
                          <a:latin typeface="Times New Roman"/>
                          <a:ea typeface="Times New Roman"/>
                          <a:cs typeface="Times New Roman"/>
                          <a:sym typeface="Times New Roman"/>
                        </a:rPr>
                        <a:t> </a:t>
                      </a:r>
                      <a:r>
                        <a:rPr dirty="0"/>
                        <a:t>static</a:t>
                      </a:r>
                      <a:r>
                        <a:rPr dirty="0">
                          <a:latin typeface="Times New Roman"/>
                          <a:ea typeface="Times New Roman"/>
                          <a:cs typeface="Times New Roman"/>
                          <a:sym typeface="Times New Roman"/>
                        </a:rPr>
                        <a:t> </a:t>
                      </a:r>
                      <a:r>
                        <a:rPr dirty="0"/>
                        <a:t>alumni</a:t>
                      </a:r>
                      <a:r>
                        <a:rPr dirty="0">
                          <a:latin typeface="Times New Roman"/>
                          <a:ea typeface="Times New Roman"/>
                          <a:cs typeface="Times New Roman"/>
                          <a:sym typeface="Times New Roman"/>
                        </a:rPr>
                        <a:t> </a:t>
                      </a:r>
                      <a:r>
                        <a:rPr dirty="0"/>
                        <a:t>behaviors</a:t>
                      </a:r>
                      <a:r>
                        <a:rPr dirty="0">
                          <a:latin typeface="Times New Roman"/>
                          <a:ea typeface="Times New Roman"/>
                          <a:cs typeface="Times New Roman"/>
                          <a:sym typeface="Times New Roman"/>
                        </a:rPr>
                        <a:t> </a:t>
                      </a:r>
                      <a:r>
                        <a:rPr dirty="0"/>
                        <a:t>without</a:t>
                      </a:r>
                      <a:r>
                        <a:rPr dirty="0">
                          <a:latin typeface="Times New Roman"/>
                          <a:ea typeface="Times New Roman"/>
                          <a:cs typeface="Times New Roman"/>
                          <a:sym typeface="Times New Roman"/>
                        </a:rPr>
                        <a:t> </a:t>
                      </a:r>
                      <a:r>
                        <a:rPr dirty="0"/>
                        <a:t>considering</a:t>
                      </a:r>
                      <a:r>
                        <a:rPr dirty="0">
                          <a:latin typeface="Times New Roman"/>
                          <a:ea typeface="Times New Roman"/>
                          <a:cs typeface="Times New Roman"/>
                          <a:sym typeface="Times New Roman"/>
                        </a:rPr>
                        <a:t> </a:t>
                      </a:r>
                      <a:r>
                        <a:rPr dirty="0"/>
                        <a:t>regional</a:t>
                      </a:r>
                      <a:r>
                        <a:rPr dirty="0">
                          <a:latin typeface="Times New Roman"/>
                          <a:ea typeface="Times New Roman"/>
                          <a:cs typeface="Times New Roman"/>
                          <a:sym typeface="Times New Roman"/>
                        </a:rPr>
                        <a:t> </a:t>
                      </a:r>
                      <a:r>
                        <a:rPr dirty="0"/>
                        <a:t>differences</a:t>
                      </a:r>
                      <a:r>
                        <a:rPr dirty="0">
                          <a:latin typeface="Times New Roman"/>
                          <a:ea typeface="Times New Roman"/>
                          <a:cs typeface="Times New Roman"/>
                          <a:sym typeface="Times New Roman"/>
                        </a:rPr>
                        <a:t> </a:t>
                      </a:r>
                      <a:r>
                        <a:rPr dirty="0"/>
                        <a:t>or</a:t>
                      </a:r>
                      <a:r>
                        <a:rPr dirty="0">
                          <a:latin typeface="Times New Roman"/>
                          <a:ea typeface="Times New Roman"/>
                          <a:cs typeface="Times New Roman"/>
                          <a:sym typeface="Times New Roman"/>
                        </a:rPr>
                        <a:t> </a:t>
                      </a:r>
                      <a:r>
                        <a:rPr dirty="0"/>
                        <a:t>digital</a:t>
                      </a:r>
                      <a:r>
                        <a:rPr dirty="0">
                          <a:latin typeface="Times New Roman"/>
                          <a:ea typeface="Times New Roman"/>
                          <a:cs typeface="Times New Roman"/>
                          <a:sym typeface="Times New Roman"/>
                        </a:rPr>
                        <a:t> </a:t>
                      </a:r>
                      <a:r>
                        <a:rPr dirty="0"/>
                        <a:t>fundraising</a:t>
                      </a:r>
                      <a:r>
                        <a:rPr dirty="0">
                          <a:latin typeface="Times New Roman"/>
                          <a:ea typeface="Times New Roman"/>
                          <a:cs typeface="Times New Roman"/>
                          <a:sym typeface="Times New Roman"/>
                        </a:rPr>
                        <a:t> </a:t>
                      </a:r>
                      <a:r>
                        <a:rPr dirty="0"/>
                        <a:t>trends.</a:t>
                      </a:r>
                      <a:r>
                        <a:rPr dirty="0">
                          <a:latin typeface="Times New Roman"/>
                          <a:ea typeface="Times New Roman"/>
                          <a:cs typeface="Times New Roman"/>
                          <a:sym typeface="Times New Roman"/>
                        </a:rPr>
                        <a:t> </a:t>
                      </a:r>
                      <a:r>
                        <a:rPr dirty="0"/>
                        <a:t>Future</a:t>
                      </a:r>
                      <a:r>
                        <a:rPr dirty="0">
                          <a:latin typeface="Times New Roman"/>
                          <a:ea typeface="Times New Roman"/>
                          <a:cs typeface="Times New Roman"/>
                          <a:sym typeface="Times New Roman"/>
                        </a:rPr>
                        <a:t> </a:t>
                      </a:r>
                      <a:r>
                        <a:rPr dirty="0"/>
                        <a:t>research</a:t>
                      </a:r>
                      <a:r>
                        <a:rPr dirty="0">
                          <a:latin typeface="Times New Roman"/>
                          <a:ea typeface="Times New Roman"/>
                          <a:cs typeface="Times New Roman"/>
                          <a:sym typeface="Times New Roman"/>
                        </a:rPr>
                        <a:t> </a:t>
                      </a:r>
                      <a:r>
                        <a:rPr dirty="0"/>
                        <a:t>should</a:t>
                      </a:r>
                      <a:r>
                        <a:rPr dirty="0">
                          <a:latin typeface="Times New Roman"/>
                          <a:ea typeface="Times New Roman"/>
                          <a:cs typeface="Times New Roman"/>
                          <a:sym typeface="Times New Roman"/>
                        </a:rPr>
                        <a:t> </a:t>
                      </a:r>
                      <a:r>
                        <a:rPr dirty="0"/>
                        <a:t>incorporate</a:t>
                      </a:r>
                      <a:r>
                        <a:rPr dirty="0">
                          <a:latin typeface="Times New Roman"/>
                          <a:ea typeface="Times New Roman"/>
                          <a:cs typeface="Times New Roman"/>
                          <a:sym typeface="Times New Roman"/>
                        </a:rPr>
                        <a:t> </a:t>
                      </a:r>
                      <a:r>
                        <a:rPr dirty="0"/>
                        <a:t>empirical</a:t>
                      </a:r>
                      <a:r>
                        <a:rPr dirty="0">
                          <a:latin typeface="Times New Roman"/>
                          <a:ea typeface="Times New Roman"/>
                          <a:cs typeface="Times New Roman"/>
                          <a:sym typeface="Times New Roman"/>
                        </a:rPr>
                        <a:t> </a:t>
                      </a:r>
                      <a:r>
                        <a:rPr dirty="0"/>
                        <a:t>data,</a:t>
                      </a:r>
                      <a:r>
                        <a:rPr dirty="0">
                          <a:latin typeface="Times New Roman"/>
                          <a:ea typeface="Times New Roman"/>
                          <a:cs typeface="Times New Roman"/>
                          <a:sym typeface="Times New Roman"/>
                        </a:rPr>
                        <a:t> </a:t>
                      </a:r>
                      <a:r>
                        <a:rPr dirty="0"/>
                        <a:t>dynamic</a:t>
                      </a:r>
                      <a:r>
                        <a:rPr dirty="0">
                          <a:latin typeface="Times New Roman"/>
                          <a:ea typeface="Times New Roman"/>
                          <a:cs typeface="Times New Roman"/>
                          <a:sym typeface="Times New Roman"/>
                        </a:rPr>
                        <a:t> </a:t>
                      </a:r>
                      <a:r>
                        <a:rPr dirty="0"/>
                        <a:t>modeling,</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t>modern</a:t>
                      </a:r>
                      <a:r>
                        <a:rPr dirty="0">
                          <a:latin typeface="Times New Roman"/>
                          <a:ea typeface="Times New Roman"/>
                          <a:cs typeface="Times New Roman"/>
                          <a:sym typeface="Times New Roman"/>
                        </a:rPr>
                        <a:t> </a:t>
                      </a:r>
                      <a:r>
                        <a:rPr dirty="0"/>
                        <a:t>fundraising</a:t>
                      </a:r>
                      <a:r>
                        <a:rPr dirty="0">
                          <a:latin typeface="Times New Roman"/>
                          <a:ea typeface="Times New Roman"/>
                          <a:cs typeface="Times New Roman"/>
                          <a:sym typeface="Times New Roman"/>
                        </a:rPr>
                        <a:t> </a:t>
                      </a:r>
                      <a:r>
                        <a:rPr dirty="0"/>
                        <a:t>methods</a:t>
                      </a:r>
                      <a:r>
                        <a:rPr dirty="0">
                          <a:latin typeface="Times New Roman"/>
                          <a:ea typeface="Times New Roman"/>
                          <a:cs typeface="Times New Roman"/>
                          <a:sym typeface="Times New Roman"/>
                        </a:rPr>
                        <a:t> </a:t>
                      </a:r>
                      <a:r>
                        <a:rPr dirty="0"/>
                        <a:t>for</a:t>
                      </a:r>
                      <a:r>
                        <a:rPr dirty="0">
                          <a:latin typeface="Times New Roman"/>
                          <a:ea typeface="Times New Roman"/>
                          <a:cs typeface="Times New Roman"/>
                          <a:sym typeface="Times New Roman"/>
                        </a:rPr>
                        <a:t> </a:t>
                      </a:r>
                      <a:r>
                        <a:rPr dirty="0"/>
                        <a:t>a</a:t>
                      </a:r>
                      <a:r>
                        <a:rPr dirty="0">
                          <a:latin typeface="Times New Roman"/>
                          <a:ea typeface="Times New Roman"/>
                          <a:cs typeface="Times New Roman"/>
                          <a:sym typeface="Times New Roman"/>
                        </a:rPr>
                        <a:t> </a:t>
                      </a:r>
                      <a:r>
                        <a:rPr dirty="0"/>
                        <a:t>more</a:t>
                      </a:r>
                      <a:r>
                        <a:rPr dirty="0">
                          <a:latin typeface="Times New Roman"/>
                          <a:ea typeface="Times New Roman"/>
                          <a:cs typeface="Times New Roman"/>
                          <a:sym typeface="Times New Roman"/>
                        </a:rPr>
                        <a:t> </a:t>
                      </a:r>
                      <a:r>
                        <a:rPr dirty="0"/>
                        <a:t>comprehensive</a:t>
                      </a:r>
                      <a:r>
                        <a:rPr dirty="0">
                          <a:latin typeface="Times New Roman"/>
                          <a:ea typeface="Times New Roman"/>
                          <a:cs typeface="Times New Roman"/>
                          <a:sym typeface="Times New Roman"/>
                        </a:rPr>
                        <a:t> </a:t>
                      </a:r>
                      <a:r>
                        <a:rPr dirty="0"/>
                        <a:t>understanding.</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
        <p:nvSpPr>
          <p:cNvPr id="168"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71" name="Rectangle"/>
          <p:cNvGrpSpPr/>
          <p:nvPr/>
        </p:nvGrpSpPr>
        <p:grpSpPr>
          <a:xfrm>
            <a:off x="1295400" y="290297"/>
            <a:ext cx="6858000" cy="486206"/>
            <a:chOff x="0" y="0"/>
            <a:chExt cx="6858000" cy="486204"/>
          </a:xfrm>
        </p:grpSpPr>
        <p:sp>
          <p:nvSpPr>
            <p:cNvPr id="169"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70"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72" name="Table 1"/>
          <p:cNvGraphicFramePr/>
          <p:nvPr/>
        </p:nvGraphicFramePr>
        <p:xfrm>
          <a:off x="762000" y="1706180"/>
          <a:ext cx="7645575" cy="2110998"/>
        </p:xfrm>
        <a:graphic>
          <a:graphicData uri="http://schemas.openxmlformats.org/drawingml/2006/table">
            <a:tbl>
              <a:tblPr>
                <a:tableStyleId>{4C3C2611-4C71-4FC5-86AE-919BDF0F9419}</a:tableStyleId>
              </a:tblPr>
              <a:tblGrid>
                <a:gridCol w="618931">
                  <a:extLst>
                    <a:ext uri="{9D8B030D-6E8A-4147-A177-3AD203B41FA5}">
                      <a16:colId xmlns:a16="http://schemas.microsoft.com/office/drawing/2014/main" val="20000"/>
                    </a:ext>
                  </a:extLst>
                </a:gridCol>
                <a:gridCol w="2136710">
                  <a:extLst>
                    <a:ext uri="{9D8B030D-6E8A-4147-A177-3AD203B41FA5}">
                      <a16:colId xmlns:a16="http://schemas.microsoft.com/office/drawing/2014/main" val="20001"/>
                    </a:ext>
                  </a:extLst>
                </a:gridCol>
                <a:gridCol w="1520890">
                  <a:extLst>
                    <a:ext uri="{9D8B030D-6E8A-4147-A177-3AD203B41FA5}">
                      <a16:colId xmlns:a16="http://schemas.microsoft.com/office/drawing/2014/main" val="20002"/>
                    </a:ext>
                  </a:extLst>
                </a:gridCol>
                <a:gridCol w="1684977">
                  <a:extLst>
                    <a:ext uri="{9D8B030D-6E8A-4147-A177-3AD203B41FA5}">
                      <a16:colId xmlns:a16="http://schemas.microsoft.com/office/drawing/2014/main" val="20003"/>
                    </a:ext>
                  </a:extLst>
                </a:gridCol>
                <a:gridCol w="1684067">
                  <a:extLst>
                    <a:ext uri="{9D8B030D-6E8A-4147-A177-3AD203B41FA5}">
                      <a16:colId xmlns:a16="http://schemas.microsoft.com/office/drawing/2014/main" val="20004"/>
                    </a:ext>
                  </a:extLst>
                </a:gridCol>
              </a:tblGrid>
              <a:tr h="421199">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1453928">
                <a:tc>
                  <a:txBody>
                    <a:bodyPr/>
                    <a:lstStyle/>
                    <a:p>
                      <a:pPr>
                        <a:defRPr sz="1800"/>
                      </a:pPr>
                      <a:r>
                        <a:rPr sz="1400"/>
                        <a:t>4.</a:t>
                      </a:r>
                    </a:p>
                  </a:txBody>
                  <a:tcPr marL="45720" marR="45720" horzOverflow="overflow"/>
                </a:tc>
                <a:tc>
                  <a:txBody>
                    <a:bodyPr/>
                    <a:lstStyle/>
                    <a:p>
                      <a:pPr indent="12700" algn="l">
                        <a:lnSpc>
                          <a:spcPct val="110000"/>
                        </a:lnSpc>
                        <a:defRPr sz="1200">
                          <a:latin typeface="Calibri"/>
                          <a:ea typeface="Calibri"/>
                          <a:cs typeface="Calibri"/>
                          <a:sym typeface="Calibri"/>
                        </a:defRPr>
                      </a:pPr>
                      <a:r>
                        <a:t>Visualization</a:t>
                      </a:r>
                      <a:r>
                        <a:rPr>
                          <a:latin typeface="Times New Roman"/>
                          <a:ea typeface="Times New Roman"/>
                          <a:cs typeface="Times New Roman"/>
                          <a:sym typeface="Times New Roman"/>
                        </a:rPr>
                        <a:t> </a:t>
                      </a:r>
                      <a:r>
                        <a:t>as</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Tool</a:t>
                      </a:r>
                      <a:r>
                        <a:rPr>
                          <a:latin typeface="Times New Roman"/>
                          <a:ea typeface="Times New Roman"/>
                          <a:cs typeface="Times New Roman"/>
                          <a:sym typeface="Times New Roman"/>
                        </a:rPr>
                        <a:t> </a:t>
                      </a:r>
                      <a:r>
                        <a:t>to</a:t>
                      </a:r>
                      <a:r>
                        <a:rPr>
                          <a:latin typeface="Times New Roman"/>
                          <a:ea typeface="Times New Roman"/>
                          <a:cs typeface="Times New Roman"/>
                          <a:sym typeface="Times New Roman"/>
                        </a:rPr>
                        <a:t> </a:t>
                      </a:r>
                      <a:r>
                        <a:t>Understand</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t>Experience</a:t>
                      </a:r>
                      <a:r>
                        <a:rPr>
                          <a:latin typeface="Times New Roman"/>
                          <a:ea typeface="Times New Roman"/>
                          <a:cs typeface="Times New Roman"/>
                          <a:sym typeface="Times New Roman"/>
                        </a:rPr>
                        <a:t> </a:t>
                      </a:r>
                      <a:r>
                        <a:t>of</a:t>
                      </a:r>
                      <a:r>
                        <a:rPr>
                          <a:latin typeface="Times New Roman"/>
                          <a:ea typeface="Times New Roman"/>
                          <a:cs typeface="Times New Roman"/>
                          <a:sym typeface="Times New Roman"/>
                        </a:rPr>
                        <a:t> </a:t>
                      </a:r>
                      <a:r>
                        <a:t>College</a:t>
                      </a:r>
                      <a:r>
                        <a:rPr>
                          <a:latin typeface="Times New Roman"/>
                          <a:ea typeface="Times New Roman"/>
                          <a:cs typeface="Times New Roman"/>
                          <a:sym typeface="Times New Roman"/>
                        </a:rPr>
                        <a:t> </a:t>
                      </a:r>
                      <a:r>
                        <a:t>Students</a:t>
                      </a:r>
                      <a:r>
                        <a:rPr>
                          <a:latin typeface="Times New Roman"/>
                          <a:ea typeface="Times New Roman"/>
                          <a:cs typeface="Times New Roman"/>
                          <a:sym typeface="Times New Roman"/>
                        </a:rPr>
                        <a:t> </a:t>
                      </a:r>
                      <a:r>
                        <a:t>with</a:t>
                      </a:r>
                      <a:r>
                        <a:rPr>
                          <a:latin typeface="Times New Roman"/>
                          <a:ea typeface="Times New Roman"/>
                          <a:cs typeface="Times New Roman"/>
                          <a:sym typeface="Times New Roman"/>
                        </a:rPr>
                        <a:t> </a:t>
                      </a:r>
                      <a:r>
                        <a:t>Autism</a:t>
                      </a:r>
                    </a:p>
                  </a:txBody>
                  <a:tcPr marL="45720" marR="45720" horzOverflow="overflow"/>
                </a:tc>
                <a:tc>
                  <a:txBody>
                    <a:bodyPr/>
                    <a:lstStyle/>
                    <a:p>
                      <a:pPr indent="12700" algn="l">
                        <a:spcBef>
                          <a:spcPts val="100"/>
                        </a:spcBef>
                        <a:defRPr sz="1200">
                          <a:latin typeface="Calibri"/>
                          <a:ea typeface="Calibri"/>
                          <a:cs typeface="Calibri"/>
                          <a:sym typeface="Calibri"/>
                        </a:defRPr>
                      </a:pPr>
                      <a:r>
                        <a:rPr>
                          <a:latin typeface="Times New Roman"/>
                          <a:ea typeface="Times New Roman"/>
                          <a:cs typeface="Times New Roman"/>
                          <a:sym typeface="Times New Roman"/>
                        </a:rPr>
                        <a:t>McC</a:t>
                      </a:r>
                      <a:r>
                        <a:t>ulloch</a:t>
                      </a:r>
                      <a:r>
                        <a:rPr>
                          <a:latin typeface="Times New Roman"/>
                          <a:ea typeface="Times New Roman"/>
                          <a:cs typeface="Times New Roman"/>
                          <a:sym typeface="Times New Roman"/>
                        </a:rPr>
                        <a:t>  </a:t>
                      </a:r>
                      <a:r>
                        <a:t>et.al</a:t>
                      </a:r>
                    </a:p>
                  </a:txBody>
                  <a:tcPr marL="45720" marR="45720" horzOverflow="overflow"/>
                </a:tc>
                <a:tc>
                  <a:txBody>
                    <a:bodyPr/>
                    <a:lstStyle/>
                    <a:p>
                      <a:pPr indent="12700" algn="l">
                        <a:lnSpc>
                          <a:spcPct val="110000"/>
                        </a:lnSpc>
                        <a:defRPr sz="1200">
                          <a:latin typeface="Calibri"/>
                          <a:ea typeface="Calibri"/>
                          <a:cs typeface="Calibri"/>
                          <a:sym typeface="Calibri"/>
                        </a:defRPr>
                      </a:pPr>
                      <a:r>
                        <a:t> The</a:t>
                      </a:r>
                      <a:r>
                        <a:rPr>
                          <a:latin typeface="Times New Roman"/>
                          <a:ea typeface="Times New Roman"/>
                          <a:cs typeface="Times New Roman"/>
                          <a:sym typeface="Times New Roman"/>
                        </a:rPr>
                        <a:t> </a:t>
                      </a:r>
                      <a:r>
                        <a:t>study</a:t>
                      </a:r>
                      <a:r>
                        <a:rPr>
                          <a:latin typeface="Times New Roman"/>
                          <a:ea typeface="Times New Roman"/>
                          <a:cs typeface="Times New Roman"/>
                          <a:sym typeface="Times New Roman"/>
                        </a:rPr>
                        <a:t> </a:t>
                      </a:r>
                      <a:r>
                        <a:t>explores</a:t>
                      </a:r>
                      <a:r>
                        <a:rPr>
                          <a:latin typeface="Times New Roman"/>
                          <a:ea typeface="Times New Roman"/>
                          <a:cs typeface="Times New Roman"/>
                          <a:sym typeface="Times New Roman"/>
                        </a:rPr>
                        <a:t> </a:t>
                      </a:r>
                      <a:r>
                        <a:rPr b="1"/>
                        <a:t>visualization</a:t>
                      </a:r>
                      <a:r>
                        <a:rPr b="1">
                          <a:latin typeface="Times New Roman"/>
                          <a:ea typeface="Times New Roman"/>
                          <a:cs typeface="Times New Roman"/>
                          <a:sym typeface="Times New Roman"/>
                        </a:rPr>
                        <a:t> </a:t>
                      </a:r>
                      <a:r>
                        <a:rPr b="1"/>
                        <a:t>techniques</a:t>
                      </a:r>
                      <a:r>
                        <a:rPr b="1">
                          <a:latin typeface="Times New Roman"/>
                          <a:ea typeface="Times New Roman"/>
                          <a:cs typeface="Times New Roman"/>
                          <a:sym typeface="Times New Roman"/>
                        </a:rPr>
                        <a:t> </a:t>
                      </a:r>
                      <a:r>
                        <a:t>to</a:t>
                      </a:r>
                      <a:r>
                        <a:rPr>
                          <a:latin typeface="Times New Roman"/>
                          <a:ea typeface="Times New Roman"/>
                          <a:cs typeface="Times New Roman"/>
                          <a:sym typeface="Times New Roman"/>
                        </a:rPr>
                        <a:t> </a:t>
                      </a:r>
                      <a:r>
                        <a:t>understand</a:t>
                      </a:r>
                      <a:r>
                        <a:rPr>
                          <a:latin typeface="Times New Roman"/>
                          <a:ea typeface="Times New Roman"/>
                          <a:cs typeface="Times New Roman"/>
                          <a:sym typeface="Times New Roman"/>
                        </a:rPr>
                        <a:t> </a:t>
                      </a:r>
                      <a:r>
                        <a:t>challenges</a:t>
                      </a:r>
                      <a:r>
                        <a:rPr>
                          <a:latin typeface="Times New Roman"/>
                          <a:ea typeface="Times New Roman"/>
                          <a:cs typeface="Times New Roman"/>
                          <a:sym typeface="Times New Roman"/>
                        </a:rPr>
                        <a:t> </a:t>
                      </a:r>
                      <a:r>
                        <a:t>faced</a:t>
                      </a:r>
                      <a:r>
                        <a:rPr>
                          <a:latin typeface="Times New Roman"/>
                          <a:ea typeface="Times New Roman"/>
                          <a:cs typeface="Times New Roman"/>
                          <a:sym typeface="Times New Roman"/>
                        </a:rPr>
                        <a:t> </a:t>
                      </a:r>
                      <a:r>
                        <a:t>by</a:t>
                      </a:r>
                      <a:r>
                        <a:rPr>
                          <a:latin typeface="Times New Roman"/>
                          <a:ea typeface="Times New Roman"/>
                          <a:cs typeface="Times New Roman"/>
                          <a:sym typeface="Times New Roman"/>
                        </a:rPr>
                        <a:t> </a:t>
                      </a:r>
                      <a:r>
                        <a:rPr b="1"/>
                        <a:t>college</a:t>
                      </a:r>
                      <a:r>
                        <a:rPr b="1">
                          <a:latin typeface="Times New Roman"/>
                          <a:ea typeface="Times New Roman"/>
                          <a:cs typeface="Times New Roman"/>
                          <a:sym typeface="Times New Roman"/>
                        </a:rPr>
                        <a:t> </a:t>
                      </a:r>
                      <a:r>
                        <a:rPr b="1"/>
                        <a:t>students</a:t>
                      </a:r>
                      <a:r>
                        <a:rPr b="1">
                          <a:latin typeface="Times New Roman"/>
                          <a:ea typeface="Times New Roman"/>
                          <a:cs typeface="Times New Roman"/>
                          <a:sym typeface="Times New Roman"/>
                        </a:rPr>
                        <a:t> </a:t>
                      </a:r>
                      <a:r>
                        <a:rPr b="1"/>
                        <a:t>with</a:t>
                      </a:r>
                      <a:r>
                        <a:rPr b="1">
                          <a:latin typeface="Times New Roman"/>
                          <a:ea typeface="Times New Roman"/>
                          <a:cs typeface="Times New Roman"/>
                          <a:sym typeface="Times New Roman"/>
                        </a:rPr>
                        <a:t> </a:t>
                      </a:r>
                      <a:r>
                        <a:rPr b="1"/>
                        <a:t>autism</a:t>
                      </a:r>
                      <a:r>
                        <a:t>,</a:t>
                      </a:r>
                      <a:r>
                        <a:rPr>
                          <a:latin typeface="Times New Roman"/>
                          <a:ea typeface="Times New Roman"/>
                          <a:cs typeface="Times New Roman"/>
                          <a:sym typeface="Times New Roman"/>
                        </a:rPr>
                        <a:t> </a:t>
                      </a:r>
                      <a:r>
                        <a:t>emphasizing</a:t>
                      </a:r>
                      <a:r>
                        <a:rPr>
                          <a:latin typeface="Times New Roman"/>
                          <a:ea typeface="Times New Roman"/>
                          <a:cs typeface="Times New Roman"/>
                          <a:sym typeface="Times New Roman"/>
                        </a:rPr>
                        <a:t> </a:t>
                      </a:r>
                      <a:r>
                        <a:t>their</a:t>
                      </a:r>
                      <a:r>
                        <a:rPr>
                          <a:latin typeface="Times New Roman"/>
                          <a:ea typeface="Times New Roman"/>
                          <a:cs typeface="Times New Roman"/>
                          <a:sym typeface="Times New Roman"/>
                        </a:rPr>
                        <a:t> </a:t>
                      </a:r>
                      <a:r>
                        <a:t>role</a:t>
                      </a:r>
                      <a:r>
                        <a:rPr>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t>improving</a:t>
                      </a:r>
                      <a:r>
                        <a:rPr>
                          <a:latin typeface="Times New Roman"/>
                          <a:ea typeface="Times New Roman"/>
                          <a:cs typeface="Times New Roman"/>
                          <a:sym typeface="Times New Roman"/>
                        </a:rPr>
                        <a:t> </a:t>
                      </a:r>
                      <a:r>
                        <a:t>support</a:t>
                      </a:r>
                      <a:r>
                        <a:rPr>
                          <a:latin typeface="Times New Roman"/>
                          <a:ea typeface="Times New Roman"/>
                          <a:cs typeface="Times New Roman"/>
                          <a:sym typeface="Times New Roman"/>
                        </a:rPr>
                        <a:t> </a:t>
                      </a:r>
                      <a:r>
                        <a:t>systems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accessibility.</a:t>
                      </a:r>
                    </a:p>
                  </a:txBody>
                  <a:tcPr marL="45720" marR="45720" horzOverflow="overflow"/>
                </a:tc>
                <a:tc>
                  <a:txBody>
                    <a:bodyPr/>
                    <a:lstStyle/>
                    <a:p>
                      <a:pPr indent="12700" algn="l">
                        <a:defRPr sz="1200">
                          <a:latin typeface="Calibri"/>
                          <a:ea typeface="Calibri"/>
                          <a:cs typeface="Calibri"/>
                          <a:sym typeface="Calibri"/>
                        </a:defRPr>
                      </a:pPr>
                      <a:r>
                        <a:rPr dirty="0"/>
                        <a:t>However,</a:t>
                      </a:r>
                      <a:r>
                        <a:rPr dirty="0">
                          <a:latin typeface="Times New Roman"/>
                          <a:ea typeface="Times New Roman"/>
                          <a:cs typeface="Times New Roman"/>
                          <a:sym typeface="Times New Roman"/>
                        </a:rPr>
                        <a:t> </a:t>
                      </a:r>
                      <a:r>
                        <a:rPr dirty="0"/>
                        <a:t>it</a:t>
                      </a:r>
                      <a:r>
                        <a:rPr dirty="0">
                          <a:latin typeface="Times New Roman"/>
                          <a:ea typeface="Times New Roman"/>
                          <a:cs typeface="Times New Roman"/>
                          <a:sym typeface="Times New Roman"/>
                        </a:rPr>
                        <a:t> </a:t>
                      </a:r>
                      <a:r>
                        <a:rPr dirty="0"/>
                        <a:t>lacks</a:t>
                      </a:r>
                      <a:r>
                        <a:rPr dirty="0">
                          <a:latin typeface="Times New Roman"/>
                          <a:ea typeface="Times New Roman"/>
                          <a:cs typeface="Times New Roman"/>
                          <a:sym typeface="Times New Roman"/>
                        </a:rPr>
                        <a:t> </a:t>
                      </a:r>
                      <a:r>
                        <a:rPr dirty="0"/>
                        <a:t>student</a:t>
                      </a:r>
                      <a:r>
                        <a:rPr dirty="0">
                          <a:latin typeface="Times New Roman"/>
                          <a:ea typeface="Times New Roman"/>
                          <a:cs typeface="Times New Roman"/>
                          <a:sym typeface="Times New Roman"/>
                        </a:rPr>
                        <a:t> </a:t>
                      </a:r>
                      <a:r>
                        <a:rPr dirty="0"/>
                        <a:t>input,</a:t>
                      </a:r>
                      <a:r>
                        <a:rPr dirty="0">
                          <a:latin typeface="Times New Roman"/>
                          <a:ea typeface="Times New Roman"/>
                          <a:cs typeface="Times New Roman"/>
                          <a:sym typeface="Times New Roman"/>
                        </a:rPr>
                        <a:t> </a:t>
                      </a:r>
                      <a:r>
                        <a:rPr dirty="0"/>
                        <a:t>long-term</a:t>
                      </a:r>
                      <a:r>
                        <a:rPr dirty="0">
                          <a:latin typeface="Times New Roman"/>
                          <a:ea typeface="Times New Roman"/>
                          <a:cs typeface="Times New Roman"/>
                          <a:sym typeface="Times New Roman"/>
                        </a:rPr>
                        <a:t> </a:t>
                      </a:r>
                      <a:r>
                        <a:rPr dirty="0"/>
                        <a:t>impact</a:t>
                      </a:r>
                      <a:r>
                        <a:rPr dirty="0">
                          <a:latin typeface="Times New Roman"/>
                          <a:ea typeface="Times New Roman"/>
                          <a:cs typeface="Times New Roman"/>
                          <a:sym typeface="Times New Roman"/>
                        </a:rPr>
                        <a:t> </a:t>
                      </a:r>
                      <a:r>
                        <a:rPr dirty="0"/>
                        <a:t>analysis,</a:t>
                      </a:r>
                      <a:r>
                        <a:rPr dirty="0">
                          <a:latin typeface="Times New Roman"/>
                          <a:ea typeface="Times New Roman"/>
                          <a:cs typeface="Times New Roman"/>
                          <a:sym typeface="Times New Roman"/>
                        </a:rPr>
                        <a:t> </a:t>
                      </a:r>
                      <a:r>
                        <a:rPr dirty="0"/>
                        <a:t>scalability</a:t>
                      </a:r>
                      <a:r>
                        <a:rPr b="1" dirty="0">
                          <a:latin typeface="Times New Roman"/>
                          <a:ea typeface="Times New Roman"/>
                          <a:cs typeface="Times New Roman"/>
                          <a:sym typeface="Times New Roman"/>
                        </a:rPr>
                        <a:t> </a:t>
                      </a:r>
                      <a:r>
                        <a:rPr dirty="0"/>
                        <a:t>insights,</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t>real-</a:t>
                      </a:r>
                      <a:r>
                        <a:rPr dirty="0">
                          <a:latin typeface="Times New Roman"/>
                          <a:ea typeface="Times New Roman"/>
                          <a:cs typeface="Times New Roman"/>
                          <a:sym typeface="Times New Roman"/>
                        </a:rPr>
                        <a:t> </a:t>
                      </a:r>
                      <a:r>
                        <a:rPr dirty="0"/>
                        <a:t>world</a:t>
                      </a:r>
                      <a:r>
                        <a:rPr dirty="0">
                          <a:latin typeface="Times New Roman"/>
                          <a:ea typeface="Times New Roman"/>
                          <a:cs typeface="Times New Roman"/>
                          <a:sym typeface="Times New Roman"/>
                        </a:rPr>
                        <a:t> </a:t>
                      </a:r>
                      <a:r>
                        <a:rPr dirty="0"/>
                        <a:t>implementation</a:t>
                      </a:r>
                      <a:r>
                        <a:rPr dirty="0">
                          <a:latin typeface="Times New Roman"/>
                          <a:ea typeface="Times New Roman"/>
                          <a:cs typeface="Times New Roman"/>
                          <a:sym typeface="Times New Roman"/>
                        </a:rPr>
                        <a:t> </a:t>
                      </a:r>
                      <a:r>
                        <a:rPr dirty="0"/>
                        <a:t>details,</a:t>
                      </a:r>
                      <a:r>
                        <a:rPr dirty="0">
                          <a:latin typeface="Times New Roman"/>
                          <a:ea typeface="Times New Roman"/>
                          <a:cs typeface="Times New Roman"/>
                          <a:sym typeface="Times New Roman"/>
                        </a:rPr>
                        <a:t> </a:t>
                      </a:r>
                      <a:r>
                        <a:rPr dirty="0"/>
                        <a:t>limiting</a:t>
                      </a:r>
                      <a:r>
                        <a:rPr dirty="0">
                          <a:latin typeface="Times New Roman"/>
                          <a:ea typeface="Times New Roman"/>
                          <a:cs typeface="Times New Roman"/>
                          <a:sym typeface="Times New Roman"/>
                        </a:rPr>
                        <a:t> </a:t>
                      </a:r>
                      <a:r>
                        <a:rPr dirty="0"/>
                        <a:t>its</a:t>
                      </a:r>
                      <a:r>
                        <a:rPr dirty="0">
                          <a:latin typeface="Times New Roman"/>
                          <a:ea typeface="Times New Roman"/>
                          <a:cs typeface="Times New Roman"/>
                          <a:sym typeface="Times New Roman"/>
                        </a:rPr>
                        <a:t> </a:t>
                      </a:r>
                      <a:r>
                        <a:rPr dirty="0"/>
                        <a:t>generalizability</a:t>
                      </a:r>
                      <a:r>
                        <a:rPr dirty="0">
                          <a:latin typeface="Times New Roman"/>
                          <a:ea typeface="Times New Roman"/>
                          <a:cs typeface="Times New Roman"/>
                          <a:sym typeface="Times New Roman"/>
                        </a:rPr>
                        <a:t> </a:t>
                      </a:r>
                      <a:r>
                        <a:rPr dirty="0"/>
                        <a:t>and</a:t>
                      </a:r>
                      <a:r>
                        <a:rPr dirty="0">
                          <a:latin typeface="Times New Roman"/>
                          <a:ea typeface="Times New Roman"/>
                          <a:cs typeface="Times New Roman"/>
                          <a:sym typeface="Times New Roman"/>
                        </a:rPr>
                        <a:t> </a:t>
                      </a:r>
                      <a:r>
                        <a:rPr dirty="0"/>
                        <a:t>practical</a:t>
                      </a:r>
                      <a:r>
                        <a:rPr dirty="0">
                          <a:latin typeface="Times New Roman"/>
                          <a:ea typeface="Times New Roman"/>
                          <a:cs typeface="Times New Roman"/>
                          <a:sym typeface="Times New Roman"/>
                        </a:rPr>
                        <a:t> </a:t>
                      </a:r>
                      <a:r>
                        <a:rPr dirty="0"/>
                        <a:t>application.</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grpSp>
        <p:nvGrpSpPr>
          <p:cNvPr id="177" name="Rectangle"/>
          <p:cNvGrpSpPr/>
          <p:nvPr/>
        </p:nvGrpSpPr>
        <p:grpSpPr>
          <a:xfrm>
            <a:off x="1119440" y="525411"/>
            <a:ext cx="7288135" cy="523216"/>
            <a:chOff x="-430135" y="-18505"/>
            <a:chExt cx="7288135" cy="523214"/>
          </a:xfrm>
        </p:grpSpPr>
        <p:sp>
          <p:nvSpPr>
            <p:cNvPr id="175"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76" name="PROBLEM STATEMENT"/>
            <p:cNvSpPr txBox="1"/>
            <p:nvPr/>
          </p:nvSpPr>
          <p:spPr>
            <a:xfrm>
              <a:off x="-430135" y="-18505"/>
              <a:ext cx="6848476" cy="52321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lang="en-US" dirty="0"/>
                <a:t>OVERALL RESEARCH GAPS</a:t>
              </a:r>
              <a:endParaRPr dirty="0"/>
            </a:p>
          </p:txBody>
        </p:sp>
      </p:grpSp>
      <p:sp>
        <p:nvSpPr>
          <p:cNvPr id="178" name="TextBox 3"/>
          <p:cNvSpPr txBox="1"/>
          <p:nvPr/>
        </p:nvSpPr>
        <p:spPr>
          <a:xfrm>
            <a:off x="747132" y="1784195"/>
            <a:ext cx="7660444" cy="17543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lvl1pPr algn="just">
              <a:defRPr sz="1800">
                <a:latin typeface="Segoe UI"/>
                <a:ea typeface="Segoe UI"/>
                <a:cs typeface="Segoe UI"/>
                <a:sym typeface="Segoe UI"/>
              </a:defRPr>
            </a:lvl1pPr>
          </a:lstStyle>
          <a:p>
            <a:r>
              <a:rPr dirty="0"/>
              <a:t>There is no centralized, interactive platform for students to engage with alumni for career advice, mentorship, and professional networking. Existing systems are static, outdated, and not scalable.</a:t>
            </a:r>
            <a:r>
              <a:rPr lang="en-US" dirty="0"/>
              <a:t> </a:t>
            </a:r>
            <a:r>
              <a:rPr dirty="0"/>
              <a:t>There is no centralized, interactive platform for students to engage with alumni for career advice, mentorship, and professional networking. Existing systems are static, outdated, and not scalable.</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1543D-C7A7-40A1-81B6-B2A1394C7816}"/>
              </a:ext>
            </a:extLst>
          </p:cNvPr>
          <p:cNvSpPr>
            <a:spLocks noGrp="1"/>
          </p:cNvSpPr>
          <p:nvPr>
            <p:ph type="title"/>
          </p:nvPr>
        </p:nvSpPr>
        <p:spPr/>
        <p:txBody>
          <a:bodyPr/>
          <a:lstStyle/>
          <a:p>
            <a:r>
              <a:rPr lang="en-US" dirty="0"/>
              <a:t>SOLVING THESE RESEARCH GAPS</a:t>
            </a:r>
            <a:endParaRPr lang="en-IN" dirty="0"/>
          </a:p>
        </p:txBody>
      </p:sp>
      <p:sp>
        <p:nvSpPr>
          <p:cNvPr id="3" name="Rectangle 2">
            <a:extLst>
              <a:ext uri="{FF2B5EF4-FFF2-40B4-BE49-F238E27FC236}">
                <a16:creationId xmlns:a16="http://schemas.microsoft.com/office/drawing/2014/main" id="{2AE1F201-7890-4AE4-9A79-5D5006406C08}"/>
              </a:ext>
            </a:extLst>
          </p:cNvPr>
          <p:cNvSpPr/>
          <p:nvPr/>
        </p:nvSpPr>
        <p:spPr>
          <a:xfrm>
            <a:off x="457200" y="1694984"/>
            <a:ext cx="8229600" cy="3785652"/>
          </a:xfrm>
          <a:prstGeom prst="rect">
            <a:avLst/>
          </a:prstGeom>
        </p:spPr>
        <p:txBody>
          <a:bodyPr wrap="square">
            <a:spAutoFit/>
          </a:bodyPr>
          <a:lstStyle/>
          <a:p>
            <a:r>
              <a:rPr lang="en-US" sz="2000" dirty="0"/>
              <a:t>Our Alumni-User Interaction System fills in the gaps that have been identified in the existing body of research by providing a centralized, interactive environment through which students and alumni can meaningfully interact for career guidance, mentorship, and professional connections. In contrast to static, outmoded, and unscalable systems that currently exist, our system is dynamic, flexible, and deployed within real-world settings. By collecting information over time and collating feedback from alumni and students through different backgrounds, we can examine what actually aids learning, career advancement, and engagement. The system adapts with improvements in technology and local requirements, so it is feasible to undertake long-term research, academic enhancement, and greater alumni assistance.</a:t>
            </a:r>
            <a:endParaRPr lang="en-IN" sz="2000" dirty="0"/>
          </a:p>
        </p:txBody>
      </p:sp>
    </p:spTree>
    <p:extLst>
      <p:ext uri="{BB962C8B-B14F-4D97-AF65-F5344CB8AC3E}">
        <p14:creationId xmlns:p14="http://schemas.microsoft.com/office/powerpoint/2010/main" val="13232718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9DF52-61DA-470A-B26B-4A291949B564}"/>
              </a:ext>
            </a:extLst>
          </p:cNvPr>
          <p:cNvSpPr>
            <a:spLocks noGrp="1"/>
          </p:cNvSpPr>
          <p:nvPr>
            <p:ph type="title"/>
          </p:nvPr>
        </p:nvSpPr>
        <p:spPr>
          <a:xfrm>
            <a:off x="524106" y="2430965"/>
            <a:ext cx="8162693" cy="864219"/>
          </a:xfrm>
        </p:spPr>
        <p:txBody>
          <a:bodyPr>
            <a:normAutofit fontScale="90000"/>
          </a:bodyPr>
          <a:lstStyle/>
          <a:p>
            <a:pPr algn="l"/>
            <a:r>
              <a:rPr lang="en-US" dirty="0"/>
              <a:t>                               NOVELTY</a:t>
            </a:r>
            <a:br>
              <a:rPr lang="en-US" dirty="0"/>
            </a:br>
            <a:br>
              <a:rPr lang="en-US" dirty="0"/>
            </a:br>
            <a:br>
              <a:rPr lang="en-US" dirty="0"/>
            </a:br>
            <a:r>
              <a:rPr lang="en-US" sz="2600" dirty="0"/>
              <a:t>T</a:t>
            </a:r>
            <a:r>
              <a:rPr lang="en-IN" sz="2600" dirty="0"/>
              <a:t>ill now there is no such interface/portals made in other colleges to connect Alumni’s with the current students and teachers. This in turn is a quite new idea that can boost the growth of both the current students, the college and the Alumni’s in their respective lives as mentioned above. It can bridge a gap between the Alumni’s and current students thereby helping the current students to express their issues pertaining to academics, placements and other student issues freely to the Alumni’s for help.  </a:t>
            </a:r>
            <a:br>
              <a:rPr lang="en-US" dirty="0"/>
            </a:br>
            <a:endParaRPr lang="en-IN" dirty="0"/>
          </a:p>
        </p:txBody>
      </p:sp>
    </p:spTree>
    <p:extLst>
      <p:ext uri="{BB962C8B-B14F-4D97-AF65-F5344CB8AC3E}">
        <p14:creationId xmlns:p14="http://schemas.microsoft.com/office/powerpoint/2010/main" val="411430917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Rectangle">
            <a:extLst>
              <a:ext uri="{FF2B5EF4-FFF2-40B4-BE49-F238E27FC236}">
                <a16:creationId xmlns:a16="http://schemas.microsoft.com/office/drawing/2014/main" id="{6F3A67BC-98B8-4613-866A-2816D6F1B511}"/>
              </a:ext>
            </a:extLst>
          </p:cNvPr>
          <p:cNvGrpSpPr/>
          <p:nvPr/>
        </p:nvGrpSpPr>
        <p:grpSpPr>
          <a:xfrm>
            <a:off x="1267119" y="318578"/>
            <a:ext cx="6858000" cy="486206"/>
            <a:chOff x="0" y="0"/>
            <a:chExt cx="6858000" cy="486204"/>
          </a:xfrm>
        </p:grpSpPr>
        <p:sp>
          <p:nvSpPr>
            <p:cNvPr id="4" name="Rectangle">
              <a:extLst>
                <a:ext uri="{FF2B5EF4-FFF2-40B4-BE49-F238E27FC236}">
                  <a16:creationId xmlns:a16="http://schemas.microsoft.com/office/drawing/2014/main" id="{25FDD4B9-8E02-4DF6-9FEC-4FC5706D24E7}"/>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5" name="METHODOLOGY">
              <a:extLst>
                <a:ext uri="{FF2B5EF4-FFF2-40B4-BE49-F238E27FC236}">
                  <a16:creationId xmlns:a16="http://schemas.microsoft.com/office/drawing/2014/main" id="{E6CED572-819C-40E0-94C8-72CCBB76C898}"/>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dirty="0"/>
                <a:t>METHODOLOGY</a:t>
              </a:r>
            </a:p>
          </p:txBody>
        </p:sp>
      </p:grpSp>
      <p:sp>
        <p:nvSpPr>
          <p:cNvPr id="6" name="TextBox 5">
            <a:extLst>
              <a:ext uri="{FF2B5EF4-FFF2-40B4-BE49-F238E27FC236}">
                <a16:creationId xmlns:a16="http://schemas.microsoft.com/office/drawing/2014/main" id="{7B09A966-AB84-47FD-ACBD-EC0F6859592A}"/>
              </a:ext>
            </a:extLst>
          </p:cNvPr>
          <p:cNvSpPr txBox="1"/>
          <p:nvPr/>
        </p:nvSpPr>
        <p:spPr>
          <a:xfrm>
            <a:off x="518474" y="1456080"/>
            <a:ext cx="8107052" cy="43627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100" b="1" i="0" u="none" strike="noStrike" cap="none" spc="0" normalizeH="0" baseline="0" dirty="0">
                <a:ln>
                  <a:noFill/>
                </a:ln>
                <a:solidFill>
                  <a:srgbClr val="000000"/>
                </a:solidFill>
                <a:effectLst/>
                <a:uFillTx/>
                <a:latin typeface="+mn-lt"/>
                <a:ea typeface="+mn-ea"/>
                <a:cs typeface="+mn-cs"/>
                <a:sym typeface="Arial"/>
              </a:rPr>
              <a:t>Agile:</a:t>
            </a:r>
          </a:p>
          <a:p>
            <a:pPr>
              <a:lnSpc>
                <a:spcPct val="150000"/>
              </a:lnSpc>
            </a:pPr>
            <a:r>
              <a:rPr lang="en-US" sz="1900" dirty="0">
                <a:latin typeface="Times New Roman"/>
                <a:cs typeface="Times New Roman"/>
              </a:rPr>
              <a:t>We have chosen the Agile </a:t>
            </a:r>
            <a:r>
              <a:rPr lang="en-US" sz="1900" dirty="0">
                <a:latin typeface="Georgia"/>
                <a:cs typeface="Times New Roman"/>
              </a:rPr>
              <a:t>methodology (Kanban) for the development of this project.</a:t>
            </a:r>
            <a:endParaRPr lang="en-US" sz="1900" dirty="0"/>
          </a:p>
          <a:p>
            <a:pPr>
              <a:lnSpc>
                <a:spcPct val="150000"/>
              </a:lnSpc>
            </a:pPr>
            <a:r>
              <a:rPr lang="en-US" sz="1900" dirty="0">
                <a:latin typeface="Helvetica"/>
                <a:cs typeface="Times New Roman"/>
              </a:rPr>
              <a:t>Justification:</a:t>
            </a:r>
          </a:p>
          <a:p>
            <a:pPr marL="342900" indent="-342900">
              <a:lnSpc>
                <a:spcPct val="150000"/>
              </a:lnSpc>
            </a:pPr>
            <a:r>
              <a:rPr lang="en-US" sz="1900" dirty="0">
                <a:latin typeface="Times New Roman"/>
                <a:cs typeface="Times New Roman"/>
              </a:rPr>
              <a:t>1. Visual Workflow Management: Helps in tracking progress through different task stages.</a:t>
            </a:r>
          </a:p>
          <a:p>
            <a:pPr marL="342900" indent="-342900">
              <a:lnSpc>
                <a:spcPct val="150000"/>
              </a:lnSpc>
            </a:pPr>
            <a:r>
              <a:rPr lang="en-US" sz="1900" dirty="0">
                <a:latin typeface="Times New Roman"/>
                <a:cs typeface="Times New Roman"/>
              </a:rPr>
              <a:t>2. Continuous Delivery: Supports iterative development with real-time updates.</a:t>
            </a:r>
          </a:p>
          <a:p>
            <a:pPr marL="342900" indent="-342900">
              <a:lnSpc>
                <a:spcPct val="150000"/>
              </a:lnSpc>
            </a:pPr>
            <a:r>
              <a:rPr lang="en-US" sz="1900" dirty="0">
                <a:latin typeface="Times New Roman"/>
                <a:cs typeface="Times New Roman"/>
              </a:rPr>
              <a:t>3. Flexible &amp; Adaptable: Easy to incorporate feedback and evolving requirements.</a:t>
            </a:r>
          </a:p>
          <a:p>
            <a:pPr marL="342900" indent="-342900">
              <a:lnSpc>
                <a:spcPct val="150000"/>
              </a:lnSpc>
            </a:pPr>
            <a:r>
              <a:rPr lang="en-US" sz="1900" dirty="0">
                <a:latin typeface="Times New Roman"/>
                <a:cs typeface="Times New Roman"/>
              </a:rPr>
              <a:t>4. Less Restrictive: No fixed sprints, making it suitable for ongoing project improvements.</a:t>
            </a:r>
            <a:r>
              <a:rPr kumimoji="0" lang="en-US" sz="1900" b="1" i="0" u="none" strike="noStrike" cap="none" spc="0" normalizeH="0" baseline="0" dirty="0">
                <a:ln>
                  <a:noFill/>
                </a:ln>
                <a:solidFill>
                  <a:srgbClr val="000000"/>
                </a:solidFill>
                <a:effectLst/>
                <a:uFillTx/>
                <a:latin typeface="+mn-lt"/>
                <a:ea typeface="+mn-ea"/>
                <a:cs typeface="+mn-cs"/>
                <a:sym typeface="Arial"/>
              </a:rPr>
              <a:t> </a:t>
            </a:r>
            <a:endParaRPr kumimoji="0" lang="en-IN" sz="1900" b="1" i="0" u="none" strike="noStrike" cap="none" spc="0" normalizeH="0" baseline="0" dirty="0">
              <a:ln>
                <a:noFill/>
              </a:ln>
              <a:solidFill>
                <a:srgbClr val="000000"/>
              </a:solidFill>
              <a:effectLst/>
              <a:uFillTx/>
              <a:latin typeface="+mn-lt"/>
              <a:ea typeface="+mn-ea"/>
              <a:cs typeface="+mn-cs"/>
              <a:sym typeface="Arial"/>
            </a:endParaRPr>
          </a:p>
        </p:txBody>
      </p:sp>
    </p:spTree>
    <p:extLst>
      <p:ext uri="{BB962C8B-B14F-4D97-AF65-F5344CB8AC3E}">
        <p14:creationId xmlns:p14="http://schemas.microsoft.com/office/powerpoint/2010/main" val="152203237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443AA-F3EC-4B87-983E-D5F63BC9AE07}"/>
              </a:ext>
            </a:extLst>
          </p:cNvPr>
          <p:cNvSpPr>
            <a:spLocks noGrp="1"/>
          </p:cNvSpPr>
          <p:nvPr>
            <p:ph type="title"/>
          </p:nvPr>
        </p:nvSpPr>
        <p:spPr>
          <a:xfrm>
            <a:off x="-2408549" y="808106"/>
            <a:ext cx="8229600" cy="1508126"/>
          </a:xfrm>
        </p:spPr>
        <p:txBody>
          <a:bodyPr/>
          <a:lstStyle/>
          <a:p>
            <a:r>
              <a:rPr lang="en-US" dirty="0"/>
              <a:t>User Story:</a:t>
            </a:r>
            <a:endParaRPr lang="en-IN" dirty="0"/>
          </a:p>
        </p:txBody>
      </p:sp>
      <p:sp>
        <p:nvSpPr>
          <p:cNvPr id="3" name="Rectangle 2">
            <a:extLst>
              <a:ext uri="{FF2B5EF4-FFF2-40B4-BE49-F238E27FC236}">
                <a16:creationId xmlns:a16="http://schemas.microsoft.com/office/drawing/2014/main" id="{F5653763-6559-4576-A4AD-B93D67C6DB4D}"/>
              </a:ext>
            </a:extLst>
          </p:cNvPr>
          <p:cNvSpPr/>
          <p:nvPr/>
        </p:nvSpPr>
        <p:spPr>
          <a:xfrm>
            <a:off x="527900" y="2146955"/>
            <a:ext cx="8229599" cy="338554"/>
          </a:xfrm>
          <a:prstGeom prst="rect">
            <a:avLst/>
          </a:prstGeom>
        </p:spPr>
        <p:txBody>
          <a:bodyPr wrap="square">
            <a:spAutoFit/>
          </a:bodyPr>
          <a:lstStyle/>
          <a:p>
            <a:endParaRPr lang="en-IN" sz="1600" dirty="0"/>
          </a:p>
        </p:txBody>
      </p:sp>
      <p:sp>
        <p:nvSpPr>
          <p:cNvPr id="5" name="Rectangle 4">
            <a:extLst>
              <a:ext uri="{FF2B5EF4-FFF2-40B4-BE49-F238E27FC236}">
                <a16:creationId xmlns:a16="http://schemas.microsoft.com/office/drawing/2014/main" id="{5C8C84F5-3B06-46F0-B768-918C2BC18599}"/>
              </a:ext>
            </a:extLst>
          </p:cNvPr>
          <p:cNvSpPr/>
          <p:nvPr/>
        </p:nvSpPr>
        <p:spPr>
          <a:xfrm>
            <a:off x="492549" y="1841140"/>
            <a:ext cx="8300299" cy="3970318"/>
          </a:xfrm>
          <a:prstGeom prst="rect">
            <a:avLst/>
          </a:prstGeom>
        </p:spPr>
        <p:txBody>
          <a:bodyPr wrap="square">
            <a:spAutoFit/>
          </a:bodyPr>
          <a:lstStyle/>
          <a:p>
            <a:r>
              <a:rPr lang="en-IN" sz="1800" dirty="0"/>
              <a:t>The alumni networking site allows students, faculty, and alumni to connect, collaborate, and expand their professional networks. Users register with their college email or LinkedIn, build comprehensive profiles, and establish event and mentorship preferences. Students and faculty can find and connect with alumni through a swipe-based matching system based on common backgrounds, career aspirations, or geographic locations. Alumni create availability for networking and mentoring, while administrators mediate connections and control privacy settings. Users are allowed to exchange direct messages, send out connection requests, and view recommendations for events based on their interest in their professional fields. Students and club owners can also browse through alumni in their respective clubs and invite them for a speech or mentoring. College administrators can monitor alumni information for placement, networking, and institutional partnerships, providing a complete and efficient career development platform for all stakeholders.</a:t>
            </a:r>
          </a:p>
        </p:txBody>
      </p:sp>
      <p:grpSp>
        <p:nvGrpSpPr>
          <p:cNvPr id="6" name="Rectangle">
            <a:extLst>
              <a:ext uri="{FF2B5EF4-FFF2-40B4-BE49-F238E27FC236}">
                <a16:creationId xmlns:a16="http://schemas.microsoft.com/office/drawing/2014/main" id="{BCFB9113-A8E6-4906-8622-F9BC29C24F04}"/>
              </a:ext>
            </a:extLst>
          </p:cNvPr>
          <p:cNvGrpSpPr/>
          <p:nvPr/>
        </p:nvGrpSpPr>
        <p:grpSpPr>
          <a:xfrm>
            <a:off x="1267119" y="318578"/>
            <a:ext cx="6858000" cy="486206"/>
            <a:chOff x="0" y="0"/>
            <a:chExt cx="6858000" cy="486204"/>
          </a:xfrm>
        </p:grpSpPr>
        <p:sp>
          <p:nvSpPr>
            <p:cNvPr id="7" name="Rectangle">
              <a:extLst>
                <a:ext uri="{FF2B5EF4-FFF2-40B4-BE49-F238E27FC236}">
                  <a16:creationId xmlns:a16="http://schemas.microsoft.com/office/drawing/2014/main" id="{12B7D71A-E97A-4C0A-9E39-29702C3BB708}"/>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8" name="METHODOLOGY">
              <a:extLst>
                <a:ext uri="{FF2B5EF4-FFF2-40B4-BE49-F238E27FC236}">
                  <a16:creationId xmlns:a16="http://schemas.microsoft.com/office/drawing/2014/main" id="{948B508E-AFC0-4F9B-B95E-1E269AE55409}"/>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dirty="0"/>
                <a:t>METHODOLOGY</a:t>
              </a:r>
            </a:p>
          </p:txBody>
        </p:sp>
      </p:grpSp>
    </p:spTree>
    <p:extLst>
      <p:ext uri="{BB962C8B-B14F-4D97-AF65-F5344CB8AC3E}">
        <p14:creationId xmlns:p14="http://schemas.microsoft.com/office/powerpoint/2010/main" val="2004038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grpSp>
        <p:nvGrpSpPr>
          <p:cNvPr id="183" name="Rectangle"/>
          <p:cNvGrpSpPr/>
          <p:nvPr/>
        </p:nvGrpSpPr>
        <p:grpSpPr>
          <a:xfrm>
            <a:off x="1295400" y="290297"/>
            <a:ext cx="6858000" cy="486206"/>
            <a:chOff x="0" y="0"/>
            <a:chExt cx="6858000" cy="486204"/>
          </a:xfrm>
        </p:grpSpPr>
        <p:sp>
          <p:nvSpPr>
            <p:cNvPr id="18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82"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dirty="0"/>
                <a:t>METHODOLOGY</a:t>
              </a:r>
            </a:p>
          </p:txBody>
        </p:sp>
      </p:grpSp>
      <p:sp>
        <p:nvSpPr>
          <p:cNvPr id="184" name="TextBox 3"/>
          <p:cNvSpPr txBox="1"/>
          <p:nvPr/>
        </p:nvSpPr>
        <p:spPr>
          <a:xfrm>
            <a:off x="725864" y="1182679"/>
            <a:ext cx="7795967" cy="61093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p>
            <a:pPr algn="just">
              <a:defRPr sz="1800">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r>
              <a:rPr dirty="0"/>
              <a:t>System Requirements:</a:t>
            </a:r>
          </a:p>
          <a:p>
            <a:pPr algn="just">
              <a:buSzPct val="100000"/>
              <a:buFont typeface="Arial"/>
              <a:buChar char="•"/>
              <a:defRPr sz="1800" b="1">
                <a:latin typeface="Times New Roman"/>
                <a:ea typeface="Times New Roman"/>
                <a:cs typeface="Times New Roman"/>
                <a:sym typeface="Times New Roman"/>
              </a:defRPr>
            </a:pPr>
            <a:r>
              <a:rPr dirty="0"/>
              <a:t>Functional</a:t>
            </a:r>
            <a:r>
              <a:rPr b="0" dirty="0"/>
              <a:t>:</a:t>
            </a:r>
            <a:endParaRPr lang="en-US" b="0" dirty="0"/>
          </a:p>
          <a:p>
            <a:pPr algn="just">
              <a:buSzPct val="100000"/>
              <a:buFont typeface="Arial"/>
              <a:buChar char="•"/>
              <a:defRPr sz="1800" b="1">
                <a:latin typeface="Times New Roman"/>
                <a:ea typeface="Times New Roman"/>
                <a:cs typeface="Times New Roman"/>
                <a:sym typeface="Times New Roman"/>
              </a:defRPr>
            </a:pPr>
            <a:endParaRPr lang="en-IN" dirty="0"/>
          </a:p>
          <a:p>
            <a:pPr fontAlgn="base"/>
            <a:r>
              <a:rPr lang="en-US" sz="1700" b="1" dirty="0"/>
              <a:t>1. User Authentication &amp; Registration</a:t>
            </a:r>
            <a:r>
              <a:rPr lang="en-US" sz="1700" dirty="0"/>
              <a:t> </a:t>
            </a:r>
          </a:p>
          <a:p>
            <a:pPr fontAlgn="base"/>
            <a:r>
              <a:rPr lang="en-US" sz="1700" dirty="0"/>
              <a:t>a. Users and alumni can register using email and password. </a:t>
            </a:r>
          </a:p>
          <a:p>
            <a:pPr fontAlgn="base"/>
            <a:r>
              <a:rPr lang="en-US" sz="1700" dirty="0"/>
              <a:t>b. Passwords must be encrypted. </a:t>
            </a:r>
          </a:p>
          <a:p>
            <a:pPr fontAlgn="base"/>
            <a:r>
              <a:rPr lang="en-US" sz="1700" dirty="0"/>
              <a:t>c. Role-based access control (Users vs. Alumni).</a:t>
            </a:r>
          </a:p>
          <a:p>
            <a:pPr fontAlgn="base"/>
            <a:r>
              <a:rPr lang="en-US" sz="1700" dirty="0"/>
              <a:t> </a:t>
            </a:r>
          </a:p>
          <a:p>
            <a:pPr fontAlgn="base"/>
            <a:r>
              <a:rPr lang="en-US" sz="1700" b="1" dirty="0"/>
              <a:t>2. Profile Management</a:t>
            </a:r>
            <a:r>
              <a:rPr lang="en-US" sz="1700" dirty="0"/>
              <a:t> </a:t>
            </a:r>
          </a:p>
          <a:p>
            <a:pPr fontAlgn="base"/>
            <a:r>
              <a:rPr lang="en-US" sz="1700" dirty="0"/>
              <a:t>a. Users can edit their profile details (name, college info, interests). </a:t>
            </a:r>
          </a:p>
          <a:p>
            <a:pPr fontAlgn="base"/>
            <a:r>
              <a:rPr lang="en-US" sz="1700" dirty="0"/>
              <a:t>b. Alumni can update job title, hobbies, and professional details.</a:t>
            </a:r>
          </a:p>
          <a:p>
            <a:pPr fontAlgn="base"/>
            <a:r>
              <a:rPr lang="en-US" sz="1700" dirty="0"/>
              <a:t> </a:t>
            </a:r>
          </a:p>
          <a:p>
            <a:pPr fontAlgn="base"/>
            <a:r>
              <a:rPr lang="en-US" sz="1700" b="1" dirty="0"/>
              <a:t>3. Alumni Discovery (Tinder-Style Swiping &amp; Search)</a:t>
            </a:r>
            <a:r>
              <a:rPr lang="en-US" sz="1700" dirty="0"/>
              <a:t> </a:t>
            </a:r>
          </a:p>
          <a:p>
            <a:pPr fontAlgn="base"/>
            <a:r>
              <a:rPr lang="en-US" sz="1700" dirty="0"/>
              <a:t>a. Users can swipe left/right to explore alumni profiles. </a:t>
            </a:r>
          </a:p>
          <a:p>
            <a:pPr fontAlgn="base"/>
            <a:r>
              <a:rPr lang="en-US" sz="1700" dirty="0"/>
              <a:t>b. Swiping right allows users to view detailed profiles and send messages. </a:t>
            </a:r>
          </a:p>
          <a:p>
            <a:pPr fontAlgn="base"/>
            <a:r>
              <a:rPr lang="en-US" sz="1700" dirty="0"/>
              <a:t>c. Search functionality enables users to find alumni by name. </a:t>
            </a:r>
          </a:p>
          <a:p>
            <a:pPr fontAlgn="base"/>
            <a:br>
              <a:rPr dirty="0"/>
            </a:br>
            <a:br>
              <a:rPr dirty="0"/>
            </a:br>
            <a:br>
              <a:rPr dirty="0"/>
            </a:br>
            <a:br>
              <a:rPr dirty="0"/>
            </a:br>
            <a:br>
              <a:rPr dirty="0"/>
            </a:br>
            <a:br>
              <a:rPr dirty="0"/>
            </a:br>
            <a:endParaRPr dirty="0"/>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4B02-6881-4B52-9AF4-03220E6E139A}"/>
              </a:ext>
            </a:extLst>
          </p:cNvPr>
          <p:cNvSpPr>
            <a:spLocks noGrp="1"/>
          </p:cNvSpPr>
          <p:nvPr>
            <p:ph type="title"/>
          </p:nvPr>
        </p:nvSpPr>
        <p:spPr>
          <a:xfrm>
            <a:off x="457200" y="1404593"/>
            <a:ext cx="8229600" cy="4769963"/>
          </a:xfrm>
        </p:spPr>
        <p:txBody>
          <a:bodyPr>
            <a:normAutofit/>
          </a:bodyPr>
          <a:lstStyle/>
          <a:p>
            <a:pPr algn="l" fontAlgn="base"/>
            <a:r>
              <a:rPr lang="en-US" sz="1700" b="1" dirty="0"/>
              <a:t>4. Messaging &amp; Inbox System</a:t>
            </a:r>
            <a:r>
              <a:rPr lang="en-US" sz="1700" dirty="0"/>
              <a:t> </a:t>
            </a:r>
            <a:br>
              <a:rPr lang="en-US" sz="1700" dirty="0"/>
            </a:br>
            <a:r>
              <a:rPr lang="en-US" sz="1700" dirty="0"/>
              <a:t>a. Users can send and receive real-time messages. </a:t>
            </a:r>
            <a:br>
              <a:rPr lang="en-US" sz="1700" dirty="0"/>
            </a:br>
            <a:r>
              <a:rPr lang="en-US" sz="1700" dirty="0"/>
              <a:t>b. Messages are stored securely and accessible in an inbox. </a:t>
            </a:r>
            <a:br>
              <a:rPr lang="en-US" sz="1700" dirty="0"/>
            </a:br>
            <a:r>
              <a:rPr lang="en-US" sz="1700" dirty="0"/>
              <a:t>c. Alumni can reply only to matched users. </a:t>
            </a:r>
            <a:br>
              <a:rPr lang="en-US" sz="1700" dirty="0"/>
            </a:br>
            <a:br>
              <a:rPr lang="en-US" sz="1700" dirty="0"/>
            </a:br>
            <a:r>
              <a:rPr lang="en-US" sz="1700" b="1" dirty="0"/>
              <a:t>5. Event Announcements &amp; Help Page</a:t>
            </a:r>
            <a:r>
              <a:rPr lang="en-US" sz="1700" dirty="0"/>
              <a:t> </a:t>
            </a:r>
            <a:br>
              <a:rPr lang="en-US" sz="1700" dirty="0"/>
            </a:br>
            <a:r>
              <a:rPr lang="en-US" sz="1700" dirty="0"/>
              <a:t>a. Users can create event announcements that appear on alumni dashboards. </a:t>
            </a:r>
            <a:br>
              <a:rPr lang="en-US" sz="1700" dirty="0"/>
            </a:br>
            <a:r>
              <a:rPr lang="en-US" sz="1700" dirty="0"/>
              <a:t>b. Alumni can access a help page with special contacts for assistance. </a:t>
            </a:r>
            <a:br>
              <a:rPr lang="en-US" sz="1700" dirty="0"/>
            </a:br>
            <a:br>
              <a:rPr lang="en-US" sz="1700" dirty="0"/>
            </a:br>
            <a:r>
              <a:rPr lang="en-US" sz="1700" b="1" dirty="0"/>
              <a:t>6. Security Features</a:t>
            </a:r>
            <a:r>
              <a:rPr lang="en-US" sz="1700" dirty="0"/>
              <a:t> </a:t>
            </a:r>
            <a:br>
              <a:rPr lang="en-US" sz="1700" dirty="0"/>
            </a:br>
            <a:r>
              <a:rPr lang="en-US" sz="1700" dirty="0"/>
              <a:t>a. Unauthorized access to profiles is restricted. </a:t>
            </a:r>
            <a:br>
              <a:rPr lang="en-US" sz="1700" dirty="0"/>
            </a:br>
            <a:r>
              <a:rPr lang="en-US" sz="1700" dirty="0"/>
              <a:t>b. Data encryption ensures security. </a:t>
            </a:r>
            <a:br>
              <a:rPr lang="en-US" dirty="0"/>
            </a:br>
            <a:endParaRPr lang="en-IN" dirty="0"/>
          </a:p>
        </p:txBody>
      </p:sp>
      <p:grpSp>
        <p:nvGrpSpPr>
          <p:cNvPr id="3" name="Rectangle">
            <a:extLst>
              <a:ext uri="{FF2B5EF4-FFF2-40B4-BE49-F238E27FC236}">
                <a16:creationId xmlns:a16="http://schemas.microsoft.com/office/drawing/2014/main" id="{C5BB2A6F-6FB8-41BE-9272-F01493681AD8}"/>
              </a:ext>
            </a:extLst>
          </p:cNvPr>
          <p:cNvGrpSpPr/>
          <p:nvPr/>
        </p:nvGrpSpPr>
        <p:grpSpPr>
          <a:xfrm>
            <a:off x="1143000" y="337431"/>
            <a:ext cx="6858000" cy="486206"/>
            <a:chOff x="0" y="0"/>
            <a:chExt cx="6858000" cy="486204"/>
          </a:xfrm>
        </p:grpSpPr>
        <p:sp>
          <p:nvSpPr>
            <p:cNvPr id="4" name="Rectangle">
              <a:extLst>
                <a:ext uri="{FF2B5EF4-FFF2-40B4-BE49-F238E27FC236}">
                  <a16:creationId xmlns:a16="http://schemas.microsoft.com/office/drawing/2014/main" id="{E5D37548-AEB0-4752-A2CA-C1A60E843D26}"/>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5" name="METHODOLOGY">
              <a:extLst>
                <a:ext uri="{FF2B5EF4-FFF2-40B4-BE49-F238E27FC236}">
                  <a16:creationId xmlns:a16="http://schemas.microsoft.com/office/drawing/2014/main" id="{04B56B5D-6DCF-4080-AFEB-AA26B45472B3}"/>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dirty="0"/>
                <a:t>METHODOLOGY</a:t>
              </a:r>
            </a:p>
          </p:txBody>
        </p:sp>
      </p:grpSp>
      <p:grpSp>
        <p:nvGrpSpPr>
          <p:cNvPr id="6" name="Rectangle">
            <a:extLst>
              <a:ext uri="{FF2B5EF4-FFF2-40B4-BE49-F238E27FC236}">
                <a16:creationId xmlns:a16="http://schemas.microsoft.com/office/drawing/2014/main" id="{7D8140E0-9F85-48E4-9CA9-A1BD246014DA}"/>
              </a:ext>
            </a:extLst>
          </p:cNvPr>
          <p:cNvGrpSpPr/>
          <p:nvPr/>
        </p:nvGrpSpPr>
        <p:grpSpPr>
          <a:xfrm>
            <a:off x="1295400" y="290297"/>
            <a:ext cx="6858000" cy="486206"/>
            <a:chOff x="0" y="0"/>
            <a:chExt cx="6858000" cy="486204"/>
          </a:xfrm>
        </p:grpSpPr>
        <p:sp>
          <p:nvSpPr>
            <p:cNvPr id="7" name="Rectangle">
              <a:extLst>
                <a:ext uri="{FF2B5EF4-FFF2-40B4-BE49-F238E27FC236}">
                  <a16:creationId xmlns:a16="http://schemas.microsoft.com/office/drawing/2014/main" id="{7C0D3B5D-4978-417F-BA74-CC63551435F3}"/>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8" name="METHODOLOGY">
              <a:extLst>
                <a:ext uri="{FF2B5EF4-FFF2-40B4-BE49-F238E27FC236}">
                  <a16:creationId xmlns:a16="http://schemas.microsoft.com/office/drawing/2014/main" id="{B79EBE09-C19D-4AE5-BD33-46E92EB38CC4}"/>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dirty="0"/>
                <a:t>METHODOLOGY</a:t>
              </a:r>
            </a:p>
          </p:txBody>
        </p:sp>
      </p:grpSp>
    </p:spTree>
    <p:extLst>
      <p:ext uri="{BB962C8B-B14F-4D97-AF65-F5344CB8AC3E}">
        <p14:creationId xmlns:p14="http://schemas.microsoft.com/office/powerpoint/2010/main" val="7332650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Rectangle">
            <a:extLst>
              <a:ext uri="{FF2B5EF4-FFF2-40B4-BE49-F238E27FC236}">
                <a16:creationId xmlns:a16="http://schemas.microsoft.com/office/drawing/2014/main" id="{B496930F-494D-442F-8F80-7D9BCC611D74}"/>
              </a:ext>
            </a:extLst>
          </p:cNvPr>
          <p:cNvGrpSpPr/>
          <p:nvPr/>
        </p:nvGrpSpPr>
        <p:grpSpPr>
          <a:xfrm>
            <a:off x="918328" y="422272"/>
            <a:ext cx="6858000" cy="486206"/>
            <a:chOff x="0" y="0"/>
            <a:chExt cx="6858000" cy="486204"/>
          </a:xfrm>
        </p:grpSpPr>
        <p:sp>
          <p:nvSpPr>
            <p:cNvPr id="4" name="Rectangle">
              <a:extLst>
                <a:ext uri="{FF2B5EF4-FFF2-40B4-BE49-F238E27FC236}">
                  <a16:creationId xmlns:a16="http://schemas.microsoft.com/office/drawing/2014/main" id="{90C4EB6E-F986-447E-872E-B2D88853F3CD}"/>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5" name="METHODOLOGY">
              <a:extLst>
                <a:ext uri="{FF2B5EF4-FFF2-40B4-BE49-F238E27FC236}">
                  <a16:creationId xmlns:a16="http://schemas.microsoft.com/office/drawing/2014/main" id="{5AC69F86-E87A-4FE3-8B91-F5C53A38FB45}"/>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dirty="0"/>
                <a:t>METHODOLOGY</a:t>
              </a:r>
            </a:p>
          </p:txBody>
        </p:sp>
      </p:grpSp>
      <p:sp>
        <p:nvSpPr>
          <p:cNvPr id="6" name="Rectangle 5">
            <a:extLst>
              <a:ext uri="{FF2B5EF4-FFF2-40B4-BE49-F238E27FC236}">
                <a16:creationId xmlns:a16="http://schemas.microsoft.com/office/drawing/2014/main" id="{461856A3-4C08-428B-A376-2F1E66C0FB58}"/>
              </a:ext>
            </a:extLst>
          </p:cNvPr>
          <p:cNvSpPr/>
          <p:nvPr/>
        </p:nvSpPr>
        <p:spPr>
          <a:xfrm>
            <a:off x="692869" y="1182768"/>
            <a:ext cx="7942084" cy="369332"/>
          </a:xfrm>
          <a:prstGeom prst="rect">
            <a:avLst/>
          </a:prstGeom>
        </p:spPr>
        <p:txBody>
          <a:bodyPr wrap="square">
            <a:spAutoFit/>
          </a:bodyPr>
          <a:lstStyle/>
          <a:p>
            <a:pPr algn="just">
              <a:buSzPct val="100000"/>
              <a:buFont typeface="Arial"/>
              <a:buChar char="•"/>
              <a:defRPr sz="1800" b="1">
                <a:latin typeface="Times New Roman"/>
                <a:ea typeface="Times New Roman"/>
                <a:cs typeface="Times New Roman"/>
                <a:sym typeface="Times New Roman"/>
              </a:defRPr>
            </a:pPr>
            <a:r>
              <a:rPr lang="en-IN" dirty="0"/>
              <a:t>Non Functional Requirements:</a:t>
            </a:r>
          </a:p>
        </p:txBody>
      </p:sp>
      <p:sp>
        <p:nvSpPr>
          <p:cNvPr id="7" name="Rectangle 6">
            <a:extLst>
              <a:ext uri="{FF2B5EF4-FFF2-40B4-BE49-F238E27FC236}">
                <a16:creationId xmlns:a16="http://schemas.microsoft.com/office/drawing/2014/main" id="{31589A19-3226-421F-AC68-272994F93878}"/>
              </a:ext>
            </a:extLst>
          </p:cNvPr>
          <p:cNvSpPr/>
          <p:nvPr/>
        </p:nvSpPr>
        <p:spPr>
          <a:xfrm>
            <a:off x="768284" y="1474159"/>
            <a:ext cx="8125905" cy="4801314"/>
          </a:xfrm>
          <a:prstGeom prst="rect">
            <a:avLst/>
          </a:prstGeom>
        </p:spPr>
        <p:txBody>
          <a:bodyPr wrap="square">
            <a:spAutoFit/>
          </a:bodyPr>
          <a:lstStyle/>
          <a:p>
            <a:pPr fontAlgn="base"/>
            <a:r>
              <a:rPr lang="en-US" dirty="0">
                <a:latin typeface="Aptos Display"/>
              </a:rPr>
              <a:t>(</a:t>
            </a:r>
            <a:r>
              <a:rPr lang="en-US" sz="1700" dirty="0">
                <a:latin typeface="Aptos Display"/>
              </a:rPr>
              <a:t>Describe how the system should perform) </a:t>
            </a:r>
          </a:p>
          <a:p>
            <a:pPr fontAlgn="base">
              <a:buFont typeface="+mj-lt"/>
              <a:buAutoNum type="arabicPeriod"/>
            </a:pPr>
            <a:r>
              <a:rPr lang="en-US" sz="1700" b="1" dirty="0">
                <a:latin typeface="Aptos Display"/>
              </a:rPr>
              <a:t>Performance</a:t>
            </a:r>
            <a:r>
              <a:rPr lang="en-US" sz="1700" dirty="0">
                <a:latin typeface="Aptos Display"/>
              </a:rPr>
              <a:t> </a:t>
            </a:r>
          </a:p>
          <a:p>
            <a:pPr fontAlgn="base"/>
            <a:r>
              <a:rPr lang="en-US" sz="1700" dirty="0">
                <a:latin typeface="Aptos Display"/>
              </a:rPr>
              <a:t>The portal should load within </a:t>
            </a:r>
            <a:r>
              <a:rPr lang="en-US" sz="1700" b="1" dirty="0">
                <a:latin typeface="Aptos Display"/>
              </a:rPr>
              <a:t>2 seconds</a:t>
            </a:r>
            <a:r>
              <a:rPr lang="en-US" sz="1700" dirty="0">
                <a:latin typeface="Aptos Display"/>
              </a:rPr>
              <a:t> on average. </a:t>
            </a:r>
          </a:p>
          <a:p>
            <a:pPr fontAlgn="base"/>
            <a:endParaRPr lang="en-US" sz="1700" dirty="0">
              <a:latin typeface="Aptos Display"/>
            </a:endParaRPr>
          </a:p>
          <a:p>
            <a:pPr fontAlgn="base">
              <a:buFont typeface="+mj-lt"/>
              <a:buAutoNum type="arabicPeriod" startAt="2"/>
            </a:pPr>
            <a:r>
              <a:rPr lang="en-US" sz="1700" b="1" dirty="0">
                <a:latin typeface="Aptos Display"/>
              </a:rPr>
              <a:t>Scalability</a:t>
            </a:r>
            <a:r>
              <a:rPr lang="en-US" sz="1700" dirty="0">
                <a:latin typeface="Aptos Display"/>
              </a:rPr>
              <a:t> </a:t>
            </a:r>
          </a:p>
          <a:p>
            <a:pPr fontAlgn="base"/>
            <a:r>
              <a:rPr lang="en-US" sz="1700" dirty="0">
                <a:latin typeface="Aptos Display"/>
              </a:rPr>
              <a:t>The system should handle </a:t>
            </a:r>
            <a:r>
              <a:rPr lang="en-US" sz="1700" b="1" dirty="0">
                <a:latin typeface="Aptos Display"/>
              </a:rPr>
              <a:t>high traffic</a:t>
            </a:r>
            <a:r>
              <a:rPr lang="en-US" sz="1700" dirty="0">
                <a:latin typeface="Aptos Display"/>
              </a:rPr>
              <a:t> efficiently during peak usage.</a:t>
            </a:r>
          </a:p>
          <a:p>
            <a:pPr fontAlgn="base"/>
            <a:r>
              <a:rPr lang="en-US" sz="1700" dirty="0">
                <a:latin typeface="Aptos Display"/>
              </a:rPr>
              <a:t> </a:t>
            </a:r>
          </a:p>
          <a:p>
            <a:pPr fontAlgn="base">
              <a:buFont typeface="+mj-lt"/>
              <a:buAutoNum type="arabicPeriod" startAt="3"/>
            </a:pPr>
            <a:r>
              <a:rPr lang="en-US" sz="1700" b="1" dirty="0">
                <a:latin typeface="Aptos Display"/>
              </a:rPr>
              <a:t>Usability &amp; User Experience</a:t>
            </a:r>
            <a:r>
              <a:rPr lang="en-US" sz="1700" dirty="0">
                <a:latin typeface="Aptos Display"/>
              </a:rPr>
              <a:t> </a:t>
            </a:r>
          </a:p>
          <a:p>
            <a:pPr fontAlgn="base"/>
            <a:r>
              <a:rPr lang="en-US" sz="1700" dirty="0">
                <a:latin typeface="Aptos Display"/>
              </a:rPr>
              <a:t>Swiping and search features should be intuitive and responsive. </a:t>
            </a:r>
          </a:p>
          <a:p>
            <a:pPr fontAlgn="base"/>
            <a:endParaRPr lang="en-US" sz="1700" dirty="0">
              <a:latin typeface="Aptos Display"/>
            </a:endParaRPr>
          </a:p>
          <a:p>
            <a:pPr fontAlgn="base">
              <a:buFont typeface="+mj-lt"/>
              <a:buAutoNum type="arabicPeriod" startAt="4"/>
            </a:pPr>
            <a:r>
              <a:rPr lang="en-US" sz="1700" b="1" dirty="0">
                <a:latin typeface="Aptos Display"/>
              </a:rPr>
              <a:t>Availability &amp; Reliability</a:t>
            </a:r>
            <a:r>
              <a:rPr lang="en-US" sz="1700" dirty="0">
                <a:latin typeface="Aptos Display"/>
              </a:rPr>
              <a:t> </a:t>
            </a:r>
          </a:p>
          <a:p>
            <a:pPr fontAlgn="base"/>
            <a:r>
              <a:rPr lang="en-US" sz="1700" dirty="0">
                <a:latin typeface="Aptos Display"/>
              </a:rPr>
              <a:t>The system should be available </a:t>
            </a:r>
            <a:r>
              <a:rPr lang="en-US" sz="1700" b="1" dirty="0">
                <a:latin typeface="Aptos Display"/>
              </a:rPr>
              <a:t>24/7</a:t>
            </a:r>
            <a:r>
              <a:rPr lang="en-US" sz="1700" dirty="0">
                <a:latin typeface="Aptos Display"/>
              </a:rPr>
              <a:t> with minimal downtime. </a:t>
            </a:r>
          </a:p>
          <a:p>
            <a:pPr fontAlgn="base">
              <a:buFont typeface="+mj-lt"/>
              <a:buAutoNum type="arabicPeriod"/>
            </a:pPr>
            <a:endParaRPr lang="en-US" sz="1700" dirty="0">
              <a:latin typeface="Aptos Display"/>
            </a:endParaRPr>
          </a:p>
          <a:p>
            <a:pPr fontAlgn="base">
              <a:buFont typeface="+mj-lt"/>
              <a:buAutoNum type="arabicPeriod" startAt="5"/>
            </a:pPr>
            <a:r>
              <a:rPr lang="en-US" sz="1700" b="1" dirty="0">
                <a:latin typeface="Aptos Display"/>
              </a:rPr>
              <a:t>Security &amp; Compliance</a:t>
            </a:r>
            <a:r>
              <a:rPr lang="en-US" sz="1700" dirty="0">
                <a:latin typeface="Aptos Display"/>
              </a:rPr>
              <a:t> </a:t>
            </a:r>
          </a:p>
          <a:p>
            <a:pPr fontAlgn="base"/>
            <a:r>
              <a:rPr lang="en-US" sz="1700" dirty="0">
                <a:latin typeface="Aptos Display"/>
              </a:rPr>
              <a:t>Data encryption and secure authentication must be implemented. </a:t>
            </a:r>
          </a:p>
          <a:p>
            <a:pPr fontAlgn="base"/>
            <a:endParaRPr lang="en-US" sz="1700" dirty="0">
              <a:latin typeface="Aptos Display"/>
            </a:endParaRPr>
          </a:p>
          <a:p>
            <a:pPr fontAlgn="base">
              <a:buFont typeface="+mj-lt"/>
              <a:buAutoNum type="arabicPeriod" startAt="6"/>
            </a:pPr>
            <a:r>
              <a:rPr lang="en-US" sz="1700" b="1" dirty="0">
                <a:latin typeface="Aptos Display"/>
              </a:rPr>
              <a:t>Maintainability &amp; Extensibility</a:t>
            </a:r>
            <a:r>
              <a:rPr lang="en-US" sz="1700" dirty="0">
                <a:latin typeface="Aptos Display"/>
              </a:rPr>
              <a:t> </a:t>
            </a:r>
          </a:p>
          <a:p>
            <a:pPr fontAlgn="base"/>
            <a:r>
              <a:rPr lang="en-US" sz="1700" dirty="0">
                <a:latin typeface="Aptos Display"/>
              </a:rPr>
              <a:t>The system should allow easy updates and future feature additions.</a:t>
            </a:r>
            <a:r>
              <a:rPr lang="en-US" dirty="0">
                <a:latin typeface="Aptos Display"/>
              </a:rPr>
              <a:t> </a:t>
            </a:r>
          </a:p>
        </p:txBody>
      </p:sp>
    </p:spTree>
    <p:extLst>
      <p:ext uri="{BB962C8B-B14F-4D97-AF65-F5344CB8AC3E}">
        <p14:creationId xmlns:p14="http://schemas.microsoft.com/office/powerpoint/2010/main" val="11440429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grpSp>
        <p:nvGrpSpPr>
          <p:cNvPr id="189" name="Rectangle"/>
          <p:cNvGrpSpPr/>
          <p:nvPr/>
        </p:nvGrpSpPr>
        <p:grpSpPr>
          <a:xfrm>
            <a:off x="1295400" y="290297"/>
            <a:ext cx="6858000" cy="486206"/>
            <a:chOff x="0" y="0"/>
            <a:chExt cx="6858000" cy="486204"/>
          </a:xfrm>
        </p:grpSpPr>
        <p:sp>
          <p:nvSpPr>
            <p:cNvPr id="187"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88"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METHODOLOGY</a:t>
              </a:r>
            </a:p>
          </p:txBody>
        </p:sp>
      </p:grpSp>
      <p:sp>
        <p:nvSpPr>
          <p:cNvPr id="190" name="TextBox 3"/>
          <p:cNvSpPr txBox="1"/>
          <p:nvPr/>
        </p:nvSpPr>
        <p:spPr>
          <a:xfrm>
            <a:off x="746449" y="1408922"/>
            <a:ext cx="7661127" cy="6463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lang="en-US" dirty="0"/>
              <a:t>System Architecture:</a:t>
            </a:r>
            <a:endParaRPr dirty="0"/>
          </a:p>
          <a:p>
            <a:pPr algn="just">
              <a:defRPr sz="1800" b="1">
                <a:latin typeface="Times New Roman"/>
                <a:ea typeface="Times New Roman"/>
                <a:cs typeface="Times New Roman"/>
                <a:sym typeface="Times New Roman"/>
              </a:defRPr>
            </a:pPr>
            <a:endParaRPr dirty="0"/>
          </a:p>
        </p:txBody>
      </p:sp>
      <p:pic>
        <p:nvPicPr>
          <p:cNvPr id="3" name="Picture 2">
            <a:extLst>
              <a:ext uri="{FF2B5EF4-FFF2-40B4-BE49-F238E27FC236}">
                <a16:creationId xmlns:a16="http://schemas.microsoft.com/office/drawing/2014/main" id="{949BE16C-E6AB-428C-964A-81B96B42C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000" y="2253006"/>
            <a:ext cx="8308420" cy="2549746"/>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grpSp>
        <p:nvGrpSpPr>
          <p:cNvPr id="195" name="Rectangle"/>
          <p:cNvGrpSpPr/>
          <p:nvPr/>
        </p:nvGrpSpPr>
        <p:grpSpPr>
          <a:xfrm>
            <a:off x="1295400" y="302997"/>
            <a:ext cx="6858000" cy="486206"/>
            <a:chOff x="0" y="0"/>
            <a:chExt cx="6858000" cy="486204"/>
          </a:xfrm>
        </p:grpSpPr>
        <p:sp>
          <p:nvSpPr>
            <p:cNvPr id="193"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94"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METHODOLOGY</a:t>
              </a:r>
            </a:p>
          </p:txBody>
        </p:sp>
      </p:grpSp>
      <p:sp>
        <p:nvSpPr>
          <p:cNvPr id="196" name="TextBox 3"/>
          <p:cNvSpPr txBox="1"/>
          <p:nvPr/>
        </p:nvSpPr>
        <p:spPr>
          <a:xfrm>
            <a:off x="893836" y="1125828"/>
            <a:ext cx="7661127" cy="6463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lang="en-US" dirty="0"/>
              <a:t>UML</a:t>
            </a:r>
            <a:r>
              <a:rPr dirty="0"/>
              <a:t> Diagram:</a:t>
            </a:r>
          </a:p>
          <a:p>
            <a:pPr algn="just">
              <a:defRPr sz="1800" b="1">
                <a:latin typeface="Times New Roman"/>
                <a:ea typeface="Times New Roman"/>
                <a:cs typeface="Times New Roman"/>
                <a:sym typeface="Times New Roman"/>
              </a:defRPr>
            </a:pPr>
            <a:endParaRPr dirty="0"/>
          </a:p>
        </p:txBody>
      </p:sp>
      <p:pic>
        <p:nvPicPr>
          <p:cNvPr id="3" name="Picture 2">
            <a:extLst>
              <a:ext uri="{FF2B5EF4-FFF2-40B4-BE49-F238E27FC236}">
                <a16:creationId xmlns:a16="http://schemas.microsoft.com/office/drawing/2014/main" id="{8E4CE166-E484-4996-88BF-F7129452E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867" y="1480008"/>
            <a:ext cx="8075732" cy="4644186"/>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Slide Number"/>
          <p:cNvSpPr txBox="1">
            <a:spLocks noGrp="1"/>
          </p:cNvSpPr>
          <p:nvPr>
            <p:ph type="sldNum" sz="quarter" idx="2"/>
          </p:nvPr>
        </p:nvSpPr>
        <p:spPr>
          <a:xfrm>
            <a:off x="8321890" y="381000"/>
            <a:ext cx="288710"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grpSp>
        <p:nvGrpSpPr>
          <p:cNvPr id="201" name="Rectangle"/>
          <p:cNvGrpSpPr/>
          <p:nvPr/>
        </p:nvGrpSpPr>
        <p:grpSpPr>
          <a:xfrm>
            <a:off x="1295400" y="290297"/>
            <a:ext cx="6858000" cy="486206"/>
            <a:chOff x="0" y="0"/>
            <a:chExt cx="6858000" cy="486204"/>
          </a:xfrm>
        </p:grpSpPr>
        <p:sp>
          <p:nvSpPr>
            <p:cNvPr id="199"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00"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METHODOLOGY</a:t>
              </a:r>
            </a:p>
          </p:txBody>
        </p:sp>
      </p:grpSp>
      <p:sp>
        <p:nvSpPr>
          <p:cNvPr id="202" name="TextBox 3"/>
          <p:cNvSpPr txBox="1"/>
          <p:nvPr/>
        </p:nvSpPr>
        <p:spPr>
          <a:xfrm>
            <a:off x="898499" y="1306316"/>
            <a:ext cx="7567746" cy="8309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p>
            <a:pPr algn="just">
              <a:defRPr sz="1800" b="1">
                <a:latin typeface="Times New Roman"/>
                <a:ea typeface="Times New Roman"/>
                <a:cs typeface="Times New Roman"/>
                <a:sym typeface="Times New Roman"/>
              </a:defRPr>
            </a:pPr>
            <a:r>
              <a:rPr lang="en-US" sz="2800" dirty="0"/>
              <a:t>Test Plan</a:t>
            </a:r>
            <a:r>
              <a:rPr sz="2800" dirty="0"/>
              <a:t>:</a:t>
            </a:r>
            <a:endParaRPr lang="en-US" sz="2800" dirty="0"/>
          </a:p>
          <a:p>
            <a:pPr algn="just">
              <a:defRPr sz="1800" b="1">
                <a:latin typeface="Times New Roman"/>
                <a:ea typeface="Times New Roman"/>
                <a:cs typeface="Times New Roman"/>
                <a:sym typeface="Times New Roman"/>
              </a:defRPr>
            </a:pPr>
            <a:endParaRPr dirty="0"/>
          </a:p>
        </p:txBody>
      </p:sp>
      <p:sp>
        <p:nvSpPr>
          <p:cNvPr id="2" name="Rectangle 1">
            <a:extLst>
              <a:ext uri="{FF2B5EF4-FFF2-40B4-BE49-F238E27FC236}">
                <a16:creationId xmlns:a16="http://schemas.microsoft.com/office/drawing/2014/main" id="{2890DED6-C8A2-4592-9D6A-8D6C7152C7D0}"/>
              </a:ext>
            </a:extLst>
          </p:cNvPr>
          <p:cNvSpPr/>
          <p:nvPr/>
        </p:nvSpPr>
        <p:spPr>
          <a:xfrm>
            <a:off x="621776" y="1828495"/>
            <a:ext cx="8205247" cy="4462760"/>
          </a:xfrm>
          <a:prstGeom prst="rect">
            <a:avLst/>
          </a:prstGeom>
        </p:spPr>
        <p:txBody>
          <a:bodyPr wrap="square">
            <a:spAutoFit/>
          </a:bodyPr>
          <a:lstStyle/>
          <a:p>
            <a:r>
              <a:rPr lang="en-US" sz="2400" b="1" dirty="0"/>
              <a:t>Workflow Division: </a:t>
            </a:r>
            <a:br>
              <a:rPr lang="en-US" sz="2000" b="1" dirty="0"/>
            </a:br>
            <a:r>
              <a:rPr lang="en-US" sz="2000" b="1" dirty="0"/>
              <a:t>a) Division of tasks: </a:t>
            </a:r>
            <a:br>
              <a:rPr lang="en-US" sz="2000" dirty="0"/>
            </a:br>
            <a:r>
              <a:rPr lang="en-US" sz="2000" dirty="0"/>
              <a:t>1) Kanban Master</a:t>
            </a:r>
            <a:br>
              <a:rPr lang="en-US" sz="2000" dirty="0"/>
            </a:br>
            <a:r>
              <a:rPr lang="en-US" sz="2000" dirty="0"/>
              <a:t>2) Team member</a:t>
            </a:r>
            <a:br>
              <a:rPr lang="en-US" sz="2000" dirty="0"/>
            </a:br>
            <a:r>
              <a:rPr lang="en-US" sz="2000" dirty="0"/>
              <a:t>3) Stakeholders</a:t>
            </a:r>
            <a:br>
              <a:rPr lang="en-US" sz="2000" dirty="0"/>
            </a:br>
            <a:r>
              <a:rPr lang="en-US" sz="2000" dirty="0"/>
              <a:t>4) Product owner</a:t>
            </a:r>
            <a:br>
              <a:rPr lang="en-US" sz="2000" dirty="0"/>
            </a:br>
            <a:br>
              <a:rPr lang="en-US" sz="2000" dirty="0"/>
            </a:br>
            <a:r>
              <a:rPr lang="en-US" sz="2000" b="1" dirty="0"/>
              <a:t>b) Modules: </a:t>
            </a:r>
            <a:br>
              <a:rPr lang="en-US" sz="2000" dirty="0"/>
            </a:br>
            <a:r>
              <a:rPr lang="en-US" sz="2000" dirty="0"/>
              <a:t>1) Creation of Database (in 1</a:t>
            </a:r>
            <a:r>
              <a:rPr lang="en-US" sz="2000" baseline="30000" dirty="0"/>
              <a:t>st</a:t>
            </a:r>
            <a:r>
              <a:rPr lang="en-US" sz="2000" dirty="0"/>
              <a:t> 2-3 weeks)</a:t>
            </a:r>
            <a:br>
              <a:rPr lang="en-US" sz="2000" dirty="0"/>
            </a:br>
            <a:r>
              <a:rPr lang="en-US" sz="2000" dirty="0"/>
              <a:t>2) Backend creation (in third and fourth week)</a:t>
            </a:r>
            <a:br>
              <a:rPr lang="en-US" sz="2000" dirty="0"/>
            </a:br>
            <a:r>
              <a:rPr lang="en-US" sz="2000" dirty="0"/>
              <a:t>3) Frontend creation (in fifth week)</a:t>
            </a:r>
            <a:br>
              <a:rPr lang="en-US" sz="2000" dirty="0"/>
            </a:br>
            <a:r>
              <a:rPr lang="en-US" sz="2000" dirty="0"/>
              <a:t>4) Creation of Kanban Board (in fifth-sixth week) </a:t>
            </a:r>
            <a:br>
              <a:rPr lang="en-US" sz="2000" dirty="0"/>
            </a:br>
            <a:br>
              <a:rPr lang="en-US" sz="2000" dirty="0"/>
            </a:br>
            <a:endParaRPr lang="en-IN" sz="2000"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7CADC-FEBD-4CFC-81E0-B2FA5DF9FDCE}"/>
              </a:ext>
            </a:extLst>
          </p:cNvPr>
          <p:cNvSpPr>
            <a:spLocks noGrp="1"/>
          </p:cNvSpPr>
          <p:nvPr>
            <p:ph type="title"/>
          </p:nvPr>
        </p:nvSpPr>
        <p:spPr/>
        <p:txBody>
          <a:bodyPr/>
          <a:lstStyle/>
          <a:p>
            <a:r>
              <a:rPr lang="en-US" dirty="0"/>
              <a:t>METHODOLOGY</a:t>
            </a:r>
            <a:endParaRPr lang="en-IN" dirty="0"/>
          </a:p>
        </p:txBody>
      </p:sp>
      <p:sp>
        <p:nvSpPr>
          <p:cNvPr id="4" name="TextBox 3">
            <a:extLst>
              <a:ext uri="{FF2B5EF4-FFF2-40B4-BE49-F238E27FC236}">
                <a16:creationId xmlns:a16="http://schemas.microsoft.com/office/drawing/2014/main" id="{28B74D17-9017-41F9-B9DA-4AE998905335}"/>
              </a:ext>
            </a:extLst>
          </p:cNvPr>
          <p:cNvSpPr txBox="1"/>
          <p:nvPr/>
        </p:nvSpPr>
        <p:spPr>
          <a:xfrm>
            <a:off x="898498" y="1092816"/>
            <a:ext cx="7567746" cy="8309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p>
            <a:pPr algn="just">
              <a:defRPr sz="1800" b="1">
                <a:latin typeface="Times New Roman"/>
                <a:ea typeface="Times New Roman"/>
                <a:cs typeface="Times New Roman"/>
                <a:sym typeface="Times New Roman"/>
              </a:defRPr>
            </a:pPr>
            <a:r>
              <a:rPr lang="en-US" sz="2800" dirty="0"/>
              <a:t>Test Plan</a:t>
            </a:r>
            <a:r>
              <a:rPr sz="2800" dirty="0"/>
              <a:t>:</a:t>
            </a:r>
            <a:endParaRPr lang="en-US" sz="2800" dirty="0"/>
          </a:p>
          <a:p>
            <a:pPr algn="just">
              <a:defRPr sz="1800" b="1">
                <a:latin typeface="Times New Roman"/>
                <a:ea typeface="Times New Roman"/>
                <a:cs typeface="Times New Roman"/>
                <a:sym typeface="Times New Roman"/>
              </a:defRPr>
            </a:pPr>
            <a:endParaRPr dirty="0"/>
          </a:p>
        </p:txBody>
      </p:sp>
      <p:sp>
        <p:nvSpPr>
          <p:cNvPr id="5" name="Rectangle 4">
            <a:extLst>
              <a:ext uri="{FF2B5EF4-FFF2-40B4-BE49-F238E27FC236}">
                <a16:creationId xmlns:a16="http://schemas.microsoft.com/office/drawing/2014/main" id="{9FCFF505-6032-46F4-9B5F-13BA06E30AE7}"/>
              </a:ext>
            </a:extLst>
          </p:cNvPr>
          <p:cNvSpPr/>
          <p:nvPr/>
        </p:nvSpPr>
        <p:spPr>
          <a:xfrm>
            <a:off x="457200" y="1561160"/>
            <a:ext cx="8369823" cy="2369880"/>
          </a:xfrm>
          <a:prstGeom prst="rect">
            <a:avLst/>
          </a:prstGeom>
        </p:spPr>
        <p:txBody>
          <a:bodyPr wrap="square">
            <a:spAutoFit/>
          </a:bodyPr>
          <a:lstStyle/>
          <a:p>
            <a:r>
              <a:rPr lang="en-US" sz="1800" b="1" dirty="0"/>
              <a:t>Justification: </a:t>
            </a:r>
            <a:r>
              <a:rPr lang="en-US" sz="1800" dirty="0"/>
              <a:t>There will be a constant switch of roles of Kanban Master and Team member between </a:t>
            </a:r>
            <a:r>
              <a:rPr lang="en-US" sz="1800" dirty="0" err="1"/>
              <a:t>Likhit</a:t>
            </a:r>
            <a:r>
              <a:rPr lang="en-US" sz="1800" dirty="0"/>
              <a:t> and Harsha. But for the first 2-3 weeks of creation of database, </a:t>
            </a:r>
            <a:r>
              <a:rPr lang="en-US" sz="1800" dirty="0" err="1"/>
              <a:t>Likhit</a:t>
            </a:r>
            <a:r>
              <a:rPr lang="en-US" sz="1800" dirty="0"/>
              <a:t> is going to be the Kanban Master while Harsha will be the Team member. In general, </a:t>
            </a:r>
            <a:r>
              <a:rPr lang="en-US" sz="1800" dirty="0" err="1"/>
              <a:t>Likhit</a:t>
            </a:r>
            <a:r>
              <a:rPr lang="en-US" sz="1800" dirty="0"/>
              <a:t> is competent in Database and Backend creation while Harsha is good in Frontend and Kanban Board creation. Hence via this we are going to segregate the roles amongst ourselves. </a:t>
            </a:r>
            <a:br>
              <a:rPr lang="en-US" sz="1800" dirty="0"/>
            </a:br>
            <a:br>
              <a:rPr lang="en-US" sz="2000" dirty="0"/>
            </a:br>
            <a:endParaRPr lang="en-IN" sz="2000" dirty="0"/>
          </a:p>
        </p:txBody>
      </p:sp>
      <p:sp>
        <p:nvSpPr>
          <p:cNvPr id="6" name="Rectangle 5">
            <a:extLst>
              <a:ext uri="{FF2B5EF4-FFF2-40B4-BE49-F238E27FC236}">
                <a16:creationId xmlns:a16="http://schemas.microsoft.com/office/drawing/2014/main" id="{5D47EB9E-6D9B-4844-8630-18E3903FB390}"/>
              </a:ext>
            </a:extLst>
          </p:cNvPr>
          <p:cNvSpPr/>
          <p:nvPr/>
        </p:nvSpPr>
        <p:spPr>
          <a:xfrm>
            <a:off x="457199" y="3392895"/>
            <a:ext cx="8369823" cy="243143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Light" panose="020F0302020204030204"/>
                <a:ea typeface="+mj-ea"/>
                <a:cs typeface="+mj-cs"/>
              </a:rPr>
              <a:t>Product Owners: </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t>1) Pooja Madam</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t>2) Rashmi Madam</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1" i="0" u="none" strike="noStrike" kern="1200" cap="none" spc="0" normalizeH="0" baseline="0" noProof="0" dirty="0">
                <a:ln>
                  <a:noFill/>
                </a:ln>
                <a:solidFill>
                  <a:prstClr val="black"/>
                </a:solidFill>
                <a:effectLst/>
                <a:uLnTx/>
                <a:uFillTx/>
                <a:latin typeface="Calibri Light" panose="020F0302020204030204"/>
                <a:ea typeface="+mj-ea"/>
                <a:cs typeface="+mj-cs"/>
              </a:rPr>
              <a:t>Stakeholders: </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t>1) Students of the college, 2) Faculty members of the college, 3) Club owners, 4) Alumni’s of the college, 5) Higher authorities (4 of the authorities have special access to view the contact number of Alumni’s which others don’t have access to).</a:t>
            </a:r>
            <a:endParaRPr kumimoji="0" lang="en-IN" sz="19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62635641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grpSp>
        <p:nvGrpSpPr>
          <p:cNvPr id="207" name="Rectangle"/>
          <p:cNvGrpSpPr/>
          <p:nvPr/>
        </p:nvGrpSpPr>
        <p:grpSpPr>
          <a:xfrm>
            <a:off x="1295400" y="271793"/>
            <a:ext cx="6858000" cy="523216"/>
            <a:chOff x="0" y="-18504"/>
            <a:chExt cx="6858000" cy="523214"/>
          </a:xfrm>
        </p:grpSpPr>
        <p:sp>
          <p:nvSpPr>
            <p:cNvPr id="205"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06" name="METHODOLOGY"/>
            <p:cNvSpPr txBox="1"/>
            <p:nvPr/>
          </p:nvSpPr>
          <p:spPr>
            <a:xfrm>
              <a:off x="4762" y="-18504"/>
              <a:ext cx="6848476" cy="52321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lang="en-US" dirty="0"/>
                <a:t>RESULT</a:t>
              </a:r>
              <a:endParaRPr dirty="0"/>
            </a:p>
          </p:txBody>
        </p:sp>
      </p:grpSp>
      <p:sp>
        <p:nvSpPr>
          <p:cNvPr id="208" name="TextBox 3"/>
          <p:cNvSpPr txBox="1"/>
          <p:nvPr/>
        </p:nvSpPr>
        <p:spPr>
          <a:xfrm>
            <a:off x="847961" y="1483566"/>
            <a:ext cx="7661128" cy="40822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sz="2300" dirty="0"/>
              <a:t>Bug Report:</a:t>
            </a:r>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p:txBody>
      </p:sp>
      <p:sp>
        <p:nvSpPr>
          <p:cNvPr id="3" name="Rectangle 2">
            <a:extLst>
              <a:ext uri="{FF2B5EF4-FFF2-40B4-BE49-F238E27FC236}">
                <a16:creationId xmlns:a16="http://schemas.microsoft.com/office/drawing/2014/main" id="{B45AB3FD-5145-4530-8E6B-DB6B021AD92F}"/>
              </a:ext>
            </a:extLst>
          </p:cNvPr>
          <p:cNvSpPr/>
          <p:nvPr/>
        </p:nvSpPr>
        <p:spPr>
          <a:xfrm>
            <a:off x="634911" y="2093519"/>
            <a:ext cx="7975689" cy="2862322"/>
          </a:xfrm>
          <a:prstGeom prst="rect">
            <a:avLst/>
          </a:prstGeom>
        </p:spPr>
        <p:txBody>
          <a:bodyPr wrap="square">
            <a:spAutoFit/>
          </a:bodyPr>
          <a:lstStyle/>
          <a:p>
            <a:r>
              <a:rPr lang="en-IN" sz="2000" dirty="0"/>
              <a:t>Common Types of Bugs in our Project: </a:t>
            </a:r>
          </a:p>
          <a:p>
            <a:pPr marL="342900" indent="-342900">
              <a:buAutoNum type="arabicPeriod"/>
            </a:pPr>
            <a:r>
              <a:rPr lang="en-IN" sz="2000" dirty="0"/>
              <a:t>UI Bugs: Profile images not appearing, images too large.</a:t>
            </a:r>
          </a:p>
          <a:p>
            <a:pPr marL="342900" indent="-342900">
              <a:buAutoNum type="arabicPeriod"/>
            </a:pPr>
            <a:r>
              <a:rPr lang="en-IN" sz="2000" dirty="0"/>
              <a:t>Data Bugs: Messages failing to display due to missing or malformed data.</a:t>
            </a:r>
          </a:p>
          <a:p>
            <a:pPr marL="342900" indent="-342900">
              <a:buAutoNum type="arabicPeriod"/>
            </a:pPr>
            <a:r>
              <a:rPr lang="en-IN" sz="2000" dirty="0"/>
              <a:t>Routing Bugs: Navigating a profile doesn't work properly </a:t>
            </a:r>
          </a:p>
          <a:p>
            <a:pPr marL="342900" indent="-342900">
              <a:buAutoNum type="arabicPeriod"/>
            </a:pPr>
            <a:r>
              <a:rPr lang="en-IN" sz="2000" dirty="0"/>
              <a:t>State Bugs: Messages failing to be stored across page reloads (since there's no backend DB) </a:t>
            </a:r>
          </a:p>
          <a:p>
            <a:pPr marL="342900" indent="-342900">
              <a:buAutoNum type="arabicPeriod"/>
            </a:pPr>
            <a:r>
              <a:rPr lang="en-IN" sz="2000" dirty="0"/>
              <a:t>UX Bugs: "Loading." text gets stuck even when data silently fails.</a:t>
            </a:r>
          </a:p>
          <a:p>
            <a:r>
              <a:rPr lang="en-US" sz="2000" dirty="0"/>
              <a:t>6. User-interface gets affected when we work on Alumni-interface</a:t>
            </a:r>
            <a:endParaRPr lang="en-IN" sz="2000" dirty="0"/>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grpSp>
        <p:nvGrpSpPr>
          <p:cNvPr id="213" name="Rectangle"/>
          <p:cNvGrpSpPr/>
          <p:nvPr/>
        </p:nvGrpSpPr>
        <p:grpSpPr>
          <a:xfrm>
            <a:off x="1295400" y="271793"/>
            <a:ext cx="6858000" cy="523216"/>
            <a:chOff x="0" y="-18504"/>
            <a:chExt cx="6858000" cy="523214"/>
          </a:xfrm>
        </p:grpSpPr>
        <p:sp>
          <p:nvSpPr>
            <p:cNvPr id="21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12" name="METHODOLOGY"/>
            <p:cNvSpPr txBox="1"/>
            <p:nvPr/>
          </p:nvSpPr>
          <p:spPr>
            <a:xfrm>
              <a:off x="4762" y="-18504"/>
              <a:ext cx="6848476" cy="52321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rPr lang="en-US" dirty="0"/>
                <a:t>RESULT</a:t>
              </a:r>
              <a:endParaRPr dirty="0"/>
            </a:p>
          </p:txBody>
        </p:sp>
      </p:grpSp>
      <p:sp>
        <p:nvSpPr>
          <p:cNvPr id="214" name="TextBox 3"/>
          <p:cNvSpPr txBox="1"/>
          <p:nvPr/>
        </p:nvSpPr>
        <p:spPr>
          <a:xfrm>
            <a:off x="847961" y="1483566"/>
            <a:ext cx="7661128" cy="48013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lang="en-US" dirty="0"/>
              <a:t>SAMPLE DEMO</a:t>
            </a:r>
            <a:r>
              <a:rPr dirty="0"/>
              <a:t>:</a:t>
            </a:r>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r>
              <a:rPr lang="en-US" dirty="0"/>
              <a:t>User-interface: </a:t>
            </a:r>
          </a:p>
          <a:p>
            <a:pPr algn="just">
              <a:defRPr sz="1800" b="1">
                <a:latin typeface="Times New Roman"/>
                <a:ea typeface="Times New Roman"/>
                <a:cs typeface="Times New Roman"/>
                <a:sym typeface="Times New Roman"/>
              </a:defRPr>
            </a:pPr>
            <a:endParaRPr lang="en-US" dirty="0"/>
          </a:p>
          <a:p>
            <a:pPr algn="just">
              <a:defRPr sz="1800" b="1">
                <a:latin typeface="Times New Roman"/>
                <a:ea typeface="Times New Roman"/>
                <a:cs typeface="Times New Roman"/>
                <a:sym typeface="Times New Roman"/>
              </a:defRPr>
            </a:pPr>
            <a:r>
              <a:rPr lang="en-US" dirty="0"/>
              <a:t>Demo-1:</a:t>
            </a: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p:txBody>
      </p:sp>
      <p:pic>
        <p:nvPicPr>
          <p:cNvPr id="3" name="Picture 2">
            <a:extLst>
              <a:ext uri="{FF2B5EF4-FFF2-40B4-BE49-F238E27FC236}">
                <a16:creationId xmlns:a16="http://schemas.microsoft.com/office/drawing/2014/main" id="{63BE397A-244A-4E40-B2D4-7C053DD558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5600" y="2493615"/>
            <a:ext cx="6300439" cy="3084446"/>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lide Number"/>
          <p:cNvSpPr txBox="1">
            <a:spLocks noGrp="1"/>
          </p:cNvSpPr>
          <p:nvPr>
            <p:ph type="sldNum" sz="quarter" idx="2"/>
          </p:nvPr>
        </p:nvSpPr>
        <p:spPr>
          <a:xfrm>
            <a:off x="8308694" y="381000"/>
            <a:ext cx="301907"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grpSp>
        <p:nvGrpSpPr>
          <p:cNvPr id="219" name="Rectangle"/>
          <p:cNvGrpSpPr/>
          <p:nvPr/>
        </p:nvGrpSpPr>
        <p:grpSpPr>
          <a:xfrm>
            <a:off x="1295400" y="290297"/>
            <a:ext cx="6858000" cy="486206"/>
            <a:chOff x="0" y="0"/>
            <a:chExt cx="6858000" cy="486204"/>
          </a:xfrm>
        </p:grpSpPr>
        <p:sp>
          <p:nvSpPr>
            <p:cNvPr id="217"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18"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RESULTS</a:t>
              </a:r>
            </a:p>
          </p:txBody>
        </p:sp>
      </p:grpSp>
      <p:sp>
        <p:nvSpPr>
          <p:cNvPr id="220" name="TextBox 8"/>
          <p:cNvSpPr txBox="1"/>
          <p:nvPr/>
        </p:nvSpPr>
        <p:spPr>
          <a:xfrm>
            <a:off x="666202" y="5299788"/>
            <a:ext cx="3905799" cy="307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21" name="TextBox 9"/>
          <p:cNvSpPr txBox="1"/>
          <p:nvPr/>
        </p:nvSpPr>
        <p:spPr>
          <a:xfrm>
            <a:off x="4757918" y="5299788"/>
            <a:ext cx="3719880" cy="307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 name="TextBox 1">
            <a:extLst>
              <a:ext uri="{FF2B5EF4-FFF2-40B4-BE49-F238E27FC236}">
                <a16:creationId xmlns:a16="http://schemas.microsoft.com/office/drawing/2014/main" id="{DADB7350-1E0E-4BAD-A570-F1C2E0DDA077}"/>
              </a:ext>
            </a:extLst>
          </p:cNvPr>
          <p:cNvSpPr txBox="1"/>
          <p:nvPr/>
        </p:nvSpPr>
        <p:spPr>
          <a:xfrm>
            <a:off x="936702" y="1583473"/>
            <a:ext cx="2252547" cy="3539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700" b="1" dirty="0"/>
              <a:t>Demo-2: </a:t>
            </a:r>
            <a:endParaRPr kumimoji="0" lang="en-IN" sz="1700" b="1" i="0" u="none" strike="noStrike" cap="none" spc="0" normalizeH="0" baseline="0" dirty="0">
              <a:ln>
                <a:noFill/>
              </a:ln>
              <a:solidFill>
                <a:srgbClr val="000000"/>
              </a:solidFill>
              <a:effectLst/>
              <a:uFillTx/>
              <a:latin typeface="+mn-lt"/>
              <a:ea typeface="+mn-ea"/>
              <a:cs typeface="+mn-cs"/>
              <a:sym typeface="Arial"/>
            </a:endParaRPr>
          </a:p>
        </p:txBody>
      </p:sp>
      <p:pic>
        <p:nvPicPr>
          <p:cNvPr id="6" name="Picture 5">
            <a:extLst>
              <a:ext uri="{FF2B5EF4-FFF2-40B4-BE49-F238E27FC236}">
                <a16:creationId xmlns:a16="http://schemas.microsoft.com/office/drawing/2014/main" id="{8D1568A2-77A0-466B-965D-5B1885B79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500" y="1597975"/>
            <a:ext cx="3905799" cy="4475754"/>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0AD4-2349-41EC-8829-203D389C86BA}"/>
              </a:ext>
            </a:extLst>
          </p:cNvPr>
          <p:cNvSpPr>
            <a:spLocks noGrp="1"/>
          </p:cNvSpPr>
          <p:nvPr>
            <p:ph type="title"/>
          </p:nvPr>
        </p:nvSpPr>
        <p:spPr/>
        <p:txBody>
          <a:bodyPr/>
          <a:lstStyle/>
          <a:p>
            <a:r>
              <a:rPr lang="en-US" dirty="0"/>
              <a:t>RESULTS</a:t>
            </a:r>
            <a:endParaRPr lang="en-IN" dirty="0"/>
          </a:p>
        </p:txBody>
      </p:sp>
      <p:sp>
        <p:nvSpPr>
          <p:cNvPr id="3" name="TextBox 2">
            <a:extLst>
              <a:ext uri="{FF2B5EF4-FFF2-40B4-BE49-F238E27FC236}">
                <a16:creationId xmlns:a16="http://schemas.microsoft.com/office/drawing/2014/main" id="{A44082C5-8F9C-4A50-8AEA-D55FADA5BB56}"/>
              </a:ext>
            </a:extLst>
          </p:cNvPr>
          <p:cNvSpPr txBox="1"/>
          <p:nvPr/>
        </p:nvSpPr>
        <p:spPr>
          <a:xfrm>
            <a:off x="947854" y="1200095"/>
            <a:ext cx="2620536"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Demo-3</a:t>
            </a:r>
            <a:r>
              <a:rPr kumimoji="0" lang="en-US" sz="1400" b="0" i="0" u="none" strike="noStrike" cap="none" spc="0" normalizeH="0" baseline="0" dirty="0">
                <a:ln>
                  <a:noFill/>
                </a:ln>
                <a:solidFill>
                  <a:srgbClr val="000000"/>
                </a:solidFill>
                <a:effectLst/>
                <a:uFillTx/>
                <a:latin typeface="+mn-lt"/>
                <a:ea typeface="+mn-ea"/>
                <a:cs typeface="+mn-cs"/>
                <a:sym typeface="Arial"/>
              </a:rPr>
              <a:t>: </a:t>
            </a:r>
            <a:endParaRPr kumimoji="0" lang="en-IN" sz="1400" b="0" i="0" u="none" strike="noStrike" cap="none" spc="0" normalizeH="0" baseline="0" dirty="0">
              <a:ln>
                <a:noFill/>
              </a:ln>
              <a:solidFill>
                <a:srgbClr val="000000"/>
              </a:solidFill>
              <a:effectLst/>
              <a:uFillTx/>
              <a:latin typeface="+mn-lt"/>
              <a:ea typeface="+mn-ea"/>
              <a:cs typeface="+mn-cs"/>
              <a:sym typeface="Arial"/>
            </a:endParaRPr>
          </a:p>
        </p:txBody>
      </p:sp>
      <p:sp>
        <p:nvSpPr>
          <p:cNvPr id="4" name="TextBox 3">
            <a:extLst>
              <a:ext uri="{FF2B5EF4-FFF2-40B4-BE49-F238E27FC236}">
                <a16:creationId xmlns:a16="http://schemas.microsoft.com/office/drawing/2014/main" id="{5E6FE96B-A8FC-489E-ADDE-02F728ABDD14}"/>
              </a:ext>
            </a:extLst>
          </p:cNvPr>
          <p:cNvSpPr txBox="1"/>
          <p:nvPr/>
        </p:nvSpPr>
        <p:spPr>
          <a:xfrm>
            <a:off x="635619" y="2018371"/>
            <a:ext cx="1471961"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Else:</a:t>
            </a:r>
            <a:endParaRPr kumimoji="0" lang="en-IN" sz="2000" b="0" i="0" u="none" strike="noStrike" cap="none" spc="0" normalizeH="0" baseline="0" dirty="0">
              <a:ln>
                <a:noFill/>
              </a:ln>
              <a:solidFill>
                <a:srgbClr val="000000"/>
              </a:solidFill>
              <a:effectLst/>
              <a:uFillTx/>
              <a:latin typeface="+mn-lt"/>
              <a:ea typeface="+mn-ea"/>
              <a:cs typeface="+mn-cs"/>
              <a:sym typeface="Arial"/>
            </a:endParaRPr>
          </a:p>
        </p:txBody>
      </p:sp>
      <p:pic>
        <p:nvPicPr>
          <p:cNvPr id="6" name="Picture 5">
            <a:extLst>
              <a:ext uri="{FF2B5EF4-FFF2-40B4-BE49-F238E27FC236}">
                <a16:creationId xmlns:a16="http://schemas.microsoft.com/office/drawing/2014/main" id="{D9893635-8CB4-4FF0-95F5-C63F440DA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561" y="2101124"/>
            <a:ext cx="5742878" cy="3823548"/>
          </a:xfrm>
          <a:prstGeom prst="rect">
            <a:avLst/>
          </a:prstGeom>
        </p:spPr>
      </p:pic>
    </p:spTree>
    <p:extLst>
      <p:ext uri="{BB962C8B-B14F-4D97-AF65-F5344CB8AC3E}">
        <p14:creationId xmlns:p14="http://schemas.microsoft.com/office/powerpoint/2010/main" val="27391926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grpSp>
        <p:nvGrpSpPr>
          <p:cNvPr id="226" name="Rectangle"/>
          <p:cNvGrpSpPr/>
          <p:nvPr/>
        </p:nvGrpSpPr>
        <p:grpSpPr>
          <a:xfrm>
            <a:off x="1295400" y="290297"/>
            <a:ext cx="6858000" cy="486206"/>
            <a:chOff x="0" y="0"/>
            <a:chExt cx="6858000" cy="486204"/>
          </a:xfrm>
        </p:grpSpPr>
        <p:sp>
          <p:nvSpPr>
            <p:cNvPr id="224"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25"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RESULTS</a:t>
              </a:r>
            </a:p>
          </p:txBody>
        </p:sp>
      </p:grpSp>
      <p:sp>
        <p:nvSpPr>
          <p:cNvPr id="228" name="TextBox 10"/>
          <p:cNvSpPr txBox="1"/>
          <p:nvPr/>
        </p:nvSpPr>
        <p:spPr>
          <a:xfrm>
            <a:off x="4375867" y="5735216"/>
            <a:ext cx="3615385" cy="307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 name="TextBox 1">
            <a:extLst>
              <a:ext uri="{FF2B5EF4-FFF2-40B4-BE49-F238E27FC236}">
                <a16:creationId xmlns:a16="http://schemas.microsoft.com/office/drawing/2014/main" id="{4E5FFF89-7B49-4E13-9113-95F6EAC89305}"/>
              </a:ext>
            </a:extLst>
          </p:cNvPr>
          <p:cNvSpPr txBox="1"/>
          <p:nvPr/>
        </p:nvSpPr>
        <p:spPr>
          <a:xfrm>
            <a:off x="1182029" y="1293541"/>
            <a:ext cx="2118732"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mn-lt"/>
                <a:ea typeface="+mn-ea"/>
                <a:cs typeface="+mn-cs"/>
                <a:sym typeface="Arial"/>
              </a:rPr>
              <a:t>Demo 4:</a:t>
            </a:r>
            <a:endParaRPr kumimoji="0" lang="en-IN" sz="2000" b="1" i="0" u="none" strike="noStrike" cap="none" spc="0" normalizeH="0" baseline="0" dirty="0">
              <a:ln>
                <a:noFill/>
              </a:ln>
              <a:solidFill>
                <a:srgbClr val="000000"/>
              </a:solidFill>
              <a:effectLst/>
              <a:uFillTx/>
              <a:latin typeface="+mn-lt"/>
              <a:ea typeface="+mn-ea"/>
              <a:cs typeface="+mn-cs"/>
              <a:sym typeface="Arial"/>
            </a:endParaRPr>
          </a:p>
        </p:txBody>
      </p:sp>
      <p:pic>
        <p:nvPicPr>
          <p:cNvPr id="5" name="Picture 4">
            <a:extLst>
              <a:ext uri="{FF2B5EF4-FFF2-40B4-BE49-F238E27FC236}">
                <a16:creationId xmlns:a16="http://schemas.microsoft.com/office/drawing/2014/main" id="{9DB045FB-6303-43AD-96CD-376A2F4C4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563" y="2056797"/>
            <a:ext cx="7803084" cy="3678419"/>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39EAB-23FA-42D8-A684-28ACD3A6A4F2}"/>
              </a:ext>
            </a:extLst>
          </p:cNvPr>
          <p:cNvSpPr>
            <a:spLocks noGrp="1"/>
          </p:cNvSpPr>
          <p:nvPr>
            <p:ph type="title"/>
          </p:nvPr>
        </p:nvSpPr>
        <p:spPr/>
        <p:txBody>
          <a:bodyPr/>
          <a:lstStyle/>
          <a:p>
            <a:r>
              <a:rPr lang="en-US" dirty="0"/>
              <a:t>RESULTS</a:t>
            </a:r>
            <a:endParaRPr lang="en-IN" dirty="0"/>
          </a:p>
        </p:txBody>
      </p:sp>
      <p:sp>
        <p:nvSpPr>
          <p:cNvPr id="3" name="TextBox 2">
            <a:extLst>
              <a:ext uri="{FF2B5EF4-FFF2-40B4-BE49-F238E27FC236}">
                <a16:creationId xmlns:a16="http://schemas.microsoft.com/office/drawing/2014/main" id="{9DDB3442-6571-48A3-83B9-4790B2A900E8}"/>
              </a:ext>
            </a:extLst>
          </p:cNvPr>
          <p:cNvSpPr txBox="1"/>
          <p:nvPr/>
        </p:nvSpPr>
        <p:spPr>
          <a:xfrm>
            <a:off x="1182029" y="1505415"/>
            <a:ext cx="2732049"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Demo 5:</a:t>
            </a:r>
            <a:endParaRPr kumimoji="0" lang="en-IN" sz="2000" b="0" i="0" u="none" strike="noStrike" cap="none" spc="0" normalizeH="0" baseline="0" dirty="0">
              <a:ln>
                <a:noFill/>
              </a:ln>
              <a:solidFill>
                <a:srgbClr val="000000"/>
              </a:solidFill>
              <a:effectLst/>
              <a:uFillTx/>
              <a:latin typeface="+mn-lt"/>
              <a:ea typeface="+mn-ea"/>
              <a:cs typeface="+mn-cs"/>
              <a:sym typeface="Arial"/>
            </a:endParaRPr>
          </a:p>
        </p:txBody>
      </p:sp>
      <p:pic>
        <p:nvPicPr>
          <p:cNvPr id="6" name="Picture 5">
            <a:extLst>
              <a:ext uri="{FF2B5EF4-FFF2-40B4-BE49-F238E27FC236}">
                <a16:creationId xmlns:a16="http://schemas.microsoft.com/office/drawing/2014/main" id="{11D3B97A-60CE-4E2C-951D-073D30C9C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607" y="2085277"/>
            <a:ext cx="7288786" cy="3904205"/>
          </a:xfrm>
          <a:prstGeom prst="rect">
            <a:avLst/>
          </a:prstGeom>
        </p:spPr>
      </p:pic>
    </p:spTree>
    <p:extLst>
      <p:ext uri="{BB962C8B-B14F-4D97-AF65-F5344CB8AC3E}">
        <p14:creationId xmlns:p14="http://schemas.microsoft.com/office/powerpoint/2010/main" val="332401840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26</a:t>
            </a:fld>
            <a:endParaRPr/>
          </a:p>
        </p:txBody>
      </p:sp>
      <p:grpSp>
        <p:nvGrpSpPr>
          <p:cNvPr id="233" name="Rectangle"/>
          <p:cNvGrpSpPr/>
          <p:nvPr/>
        </p:nvGrpSpPr>
        <p:grpSpPr>
          <a:xfrm>
            <a:off x="1295400" y="290297"/>
            <a:ext cx="6858000" cy="486206"/>
            <a:chOff x="0" y="0"/>
            <a:chExt cx="6858000" cy="486204"/>
          </a:xfrm>
        </p:grpSpPr>
        <p:sp>
          <p:nvSpPr>
            <p:cNvPr id="23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32"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RESULTS</a:t>
              </a:r>
            </a:p>
          </p:txBody>
        </p:sp>
      </p:grpSp>
      <p:sp>
        <p:nvSpPr>
          <p:cNvPr id="234" name="TextBox 8"/>
          <p:cNvSpPr txBox="1"/>
          <p:nvPr/>
        </p:nvSpPr>
        <p:spPr>
          <a:xfrm>
            <a:off x="1295400" y="5735215"/>
            <a:ext cx="2530882" cy="307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35" name="TextBox 10"/>
          <p:cNvSpPr txBox="1"/>
          <p:nvPr/>
        </p:nvSpPr>
        <p:spPr>
          <a:xfrm>
            <a:off x="4281798" y="5727372"/>
            <a:ext cx="3615385" cy="307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3" name="TextBox 2">
            <a:extLst>
              <a:ext uri="{FF2B5EF4-FFF2-40B4-BE49-F238E27FC236}">
                <a16:creationId xmlns:a16="http://schemas.microsoft.com/office/drawing/2014/main" id="{C96EF4CB-3650-48C8-B185-34F1E87573EB}"/>
              </a:ext>
            </a:extLst>
          </p:cNvPr>
          <p:cNvSpPr txBox="1"/>
          <p:nvPr/>
        </p:nvSpPr>
        <p:spPr>
          <a:xfrm>
            <a:off x="970156" y="1338146"/>
            <a:ext cx="2754351"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Demo 6: </a:t>
            </a:r>
            <a:endParaRPr kumimoji="0" lang="en-IN" sz="2000" b="0" i="0" u="none" strike="noStrike" cap="none" spc="0" normalizeH="0" baseline="0" dirty="0">
              <a:ln>
                <a:noFill/>
              </a:ln>
              <a:solidFill>
                <a:srgbClr val="000000"/>
              </a:solidFill>
              <a:effectLst/>
              <a:uFillTx/>
              <a:latin typeface="+mn-lt"/>
              <a:ea typeface="+mn-ea"/>
              <a:cs typeface="+mn-cs"/>
              <a:sym typeface="Arial"/>
            </a:endParaRPr>
          </a:p>
        </p:txBody>
      </p:sp>
      <p:pic>
        <p:nvPicPr>
          <p:cNvPr id="5" name="Picture 4">
            <a:extLst>
              <a:ext uri="{FF2B5EF4-FFF2-40B4-BE49-F238E27FC236}">
                <a16:creationId xmlns:a16="http://schemas.microsoft.com/office/drawing/2014/main" id="{4598DB0E-6BE7-49A7-9B07-75058192B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357582"/>
            <a:ext cx="7848600" cy="2762168"/>
          </a:xfrm>
          <a:prstGeom prst="rect">
            <a:avLst/>
          </a:prstGeom>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grpSp>
        <p:nvGrpSpPr>
          <p:cNvPr id="246" name="Rectangle"/>
          <p:cNvGrpSpPr/>
          <p:nvPr/>
        </p:nvGrpSpPr>
        <p:grpSpPr>
          <a:xfrm>
            <a:off x="1295400" y="290297"/>
            <a:ext cx="6858000" cy="486206"/>
            <a:chOff x="0" y="0"/>
            <a:chExt cx="6858000" cy="486204"/>
          </a:xfrm>
        </p:grpSpPr>
        <p:sp>
          <p:nvSpPr>
            <p:cNvPr id="244"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45"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RESULTS</a:t>
              </a:r>
            </a:p>
          </p:txBody>
        </p:sp>
      </p:grpSp>
      <p:sp>
        <p:nvSpPr>
          <p:cNvPr id="247" name="TextBox 3"/>
          <p:cNvSpPr txBox="1"/>
          <p:nvPr/>
        </p:nvSpPr>
        <p:spPr>
          <a:xfrm>
            <a:off x="798519" y="1595078"/>
            <a:ext cx="7661128" cy="36163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sz="2300" dirty="0"/>
              <a:t>Sprint Planning:</a:t>
            </a:r>
          </a:p>
          <a:p>
            <a:r>
              <a:rPr lang="en-IN" sz="1800" b="1" dirty="0"/>
              <a:t>Sprint 1: </a:t>
            </a:r>
            <a:r>
              <a:rPr lang="en-IN" sz="1800" dirty="0"/>
              <a:t>Collection of Requirements, User Story, Identifying Stakeholders etc and Collection and Analysis of Literature Survey </a:t>
            </a:r>
          </a:p>
          <a:p>
            <a:r>
              <a:rPr lang="en-IN" sz="1800" b="1" dirty="0"/>
              <a:t>Sprint 2:</a:t>
            </a:r>
            <a:r>
              <a:rPr lang="en-IN" sz="1800" dirty="0"/>
              <a:t> Backend development (Node.js, API testing) </a:t>
            </a:r>
          </a:p>
          <a:p>
            <a:r>
              <a:rPr lang="en-IN" sz="1800" b="1" dirty="0"/>
              <a:t>Sprint 3:</a:t>
            </a:r>
            <a:r>
              <a:rPr lang="en-IN" sz="1800" dirty="0"/>
              <a:t> Frontend development (React.js) </a:t>
            </a:r>
          </a:p>
          <a:p>
            <a:r>
              <a:rPr lang="en-IN" sz="1800" b="1" dirty="0"/>
              <a:t>Sprint 4:</a:t>
            </a:r>
            <a:r>
              <a:rPr lang="en-IN" sz="1800" dirty="0"/>
              <a:t> Integration and testing and Deployment and final review</a:t>
            </a:r>
          </a:p>
          <a:p>
            <a:pPr>
              <a:buSzPct val="100000"/>
              <a:buFont typeface="Arial"/>
              <a:buChar char="•"/>
              <a:defRPr sz="1800">
                <a:latin typeface="Times New Roman"/>
                <a:ea typeface="Times New Roman"/>
                <a:cs typeface="Times New Roman"/>
                <a:sym typeface="Times New Roman"/>
              </a:defRPr>
            </a:pPr>
            <a:endParaRPr b="0" dirty="0"/>
          </a:p>
          <a:p>
            <a:pPr>
              <a:defRPr sz="1800" b="1">
                <a:latin typeface="Times New Roman"/>
                <a:ea typeface="Times New Roman"/>
                <a:cs typeface="Times New Roman"/>
                <a:sym typeface="Times New Roman"/>
              </a:defRPr>
            </a:pPr>
            <a:r>
              <a:rPr sz="2000" dirty="0"/>
              <a:t>Definition of Done:</a:t>
            </a:r>
          </a:p>
          <a:p>
            <a:pPr marL="381000" indent="-285750" algn="just">
              <a:buSzPct val="100000"/>
              <a:buFont typeface="Arial"/>
              <a:buChar char="•"/>
              <a:defRPr sz="1800">
                <a:latin typeface="Times New Roman"/>
                <a:ea typeface="Times New Roman"/>
                <a:cs typeface="Times New Roman"/>
                <a:sym typeface="Times New Roman"/>
              </a:defRPr>
            </a:pPr>
            <a:r>
              <a:rPr lang="en-US" sz="2000" dirty="0"/>
              <a:t>U</a:t>
            </a:r>
            <a:r>
              <a:rPr lang="en-IN" sz="2000" dirty="0"/>
              <a:t>ser Story and Functional and Non Functional Requirements</a:t>
            </a:r>
          </a:p>
          <a:p>
            <a:pPr marL="381000" indent="-285750" algn="just">
              <a:buSzPct val="100000"/>
              <a:buFont typeface="Arial"/>
              <a:buChar char="•"/>
              <a:defRPr sz="1800">
                <a:latin typeface="Times New Roman"/>
                <a:ea typeface="Times New Roman"/>
                <a:cs typeface="Times New Roman"/>
                <a:sym typeface="Times New Roman"/>
              </a:defRPr>
            </a:pPr>
            <a:r>
              <a:rPr lang="en-US" sz="2000" dirty="0"/>
              <a:t>Backend development</a:t>
            </a:r>
            <a:endParaRPr sz="2000" dirty="0"/>
          </a:p>
          <a:p>
            <a:pPr marL="381000" indent="-285750" algn="just">
              <a:buSzPct val="100000"/>
              <a:buFont typeface="Arial"/>
              <a:buChar char="•"/>
              <a:defRPr sz="1800">
                <a:latin typeface="Times New Roman"/>
                <a:ea typeface="Times New Roman"/>
                <a:cs typeface="Times New Roman"/>
                <a:sym typeface="Times New Roman"/>
              </a:defRPr>
            </a:pPr>
            <a:r>
              <a:rPr lang="en-US" sz="2000" dirty="0"/>
              <a:t>Frontend development</a:t>
            </a:r>
            <a:endParaRPr sz="2000" dirty="0"/>
          </a:p>
          <a:p>
            <a:pPr>
              <a:defRPr sz="1800">
                <a:latin typeface="Times New Roman"/>
                <a:ea typeface="Times New Roman"/>
                <a:cs typeface="Times New Roman"/>
                <a:sym typeface="Times New Roman"/>
              </a:defRPr>
            </a:pPr>
            <a:endParaRPr dirty="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grpSp>
        <p:nvGrpSpPr>
          <p:cNvPr id="252" name="Rectangle"/>
          <p:cNvGrpSpPr/>
          <p:nvPr/>
        </p:nvGrpSpPr>
        <p:grpSpPr>
          <a:xfrm>
            <a:off x="1295400" y="290297"/>
            <a:ext cx="6858000" cy="486206"/>
            <a:chOff x="0" y="0"/>
            <a:chExt cx="6858000" cy="486204"/>
          </a:xfrm>
        </p:grpSpPr>
        <p:sp>
          <p:nvSpPr>
            <p:cNvPr id="250"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51" name="CONCLUSION &amp; FUTURE SCOPE"/>
            <p:cNvSpPr txBox="1"/>
            <p:nvPr/>
          </p:nvSpPr>
          <p:spPr>
            <a:xfrm>
              <a:off x="4762" y="0"/>
              <a:ext cx="6848476" cy="48620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a:defRPr sz="2800"/>
              </a:lvl1pPr>
            </a:lstStyle>
            <a:p>
              <a:r>
                <a:t>CONCLUSION &amp; FUTURE SCOPE</a:t>
              </a:r>
            </a:p>
          </p:txBody>
        </p:sp>
      </p:grpSp>
      <p:sp>
        <p:nvSpPr>
          <p:cNvPr id="253" name="TextBox 3"/>
          <p:cNvSpPr txBox="1"/>
          <p:nvPr/>
        </p:nvSpPr>
        <p:spPr>
          <a:xfrm>
            <a:off x="893836" y="2015412"/>
            <a:ext cx="7661128" cy="34163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defTabSz="457200">
              <a:defRPr sz="1600">
                <a:solidFill>
                  <a:srgbClr val="3B3A3B"/>
                </a:solidFill>
                <a:latin typeface="+mj-lt"/>
                <a:ea typeface="+mj-ea"/>
                <a:cs typeface="+mj-cs"/>
                <a:sym typeface="Helvetica"/>
              </a:defRPr>
            </a:pPr>
            <a:r>
              <a:rPr lang="en-US" sz="1800" dirty="0" err="1"/>
              <a:t>Alumination</a:t>
            </a:r>
            <a:r>
              <a:rPr lang="en-US" sz="1800" dirty="0"/>
              <a:t> is a dynamic platform that allows students to have meaningful interactions with alumni in terms of mentorship, networking, and career advice. The student interface is React.js-powered with a PostgreSQL database as the backend, providing a structured data handling and responsiveness. Coupled with the shared Node.js backend, the platform provides a seamless, swipe-based discovery, clean profile display, and two-way messaging, which renders engagement easy and convenient. By making alumni-student relations simpler, </a:t>
            </a:r>
            <a:r>
              <a:rPr lang="en-US" sz="1800" dirty="0" err="1"/>
              <a:t>Alumination</a:t>
            </a:r>
            <a:r>
              <a:rPr lang="en-US" sz="1800" dirty="0"/>
              <a:t> enhances institutional ties and school spirit. Future plans will add real-time messaging, push notifications, OTP-based login, and deeper integration with institutional systems—improving security, scalability, and long-term user adoption.</a:t>
            </a:r>
            <a:endParaRPr sz="1800" dirty="0"/>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Title 1"/>
          <p:cNvSpPr txBox="1">
            <a:spLocks noGrp="1"/>
          </p:cNvSpPr>
          <p:nvPr>
            <p:ph type="title"/>
          </p:nvPr>
        </p:nvSpPr>
        <p:spPr>
          <a:xfrm>
            <a:off x="391886" y="2809149"/>
            <a:ext cx="8229601" cy="1508127"/>
          </a:xfrm>
          <a:prstGeom prst="rect">
            <a:avLst/>
          </a:prstGeom>
        </p:spPr>
        <p:txBody>
          <a:bodyPr/>
          <a:lstStyle>
            <a:lvl1pPr>
              <a:defRPr>
                <a:latin typeface="Times New Roman"/>
                <a:ea typeface="Times New Roman"/>
                <a:cs typeface="Times New Roman"/>
                <a:sym typeface="Times New Roman"/>
              </a:defRPr>
            </a:lvl1pPr>
          </a:lstStyle>
          <a:p>
            <a:r>
              <a:t>THANK YOU</a:t>
            </a:r>
          </a:p>
        </p:txBody>
      </p:sp>
      <p:sp>
        <p:nvSpPr>
          <p:cNvPr id="256" name="Slide Number Placeholder 2"/>
          <p:cNvSpPr txBox="1">
            <a:spLocks noGrp="1"/>
          </p:cNvSpPr>
          <p:nvPr>
            <p:ph type="sldNum" sz="quarter" idx="2"/>
          </p:nvPr>
        </p:nvSpPr>
        <p:spPr>
          <a:xfrm>
            <a:off x="8308692" y="381000"/>
            <a:ext cx="301906" cy="28882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29</a:t>
            </a:fld>
            <a:endParaRPr/>
          </a:p>
        </p:txBody>
      </p:sp>
    </p:spTree>
  </p:cSld>
  <p:clrMapOvr>
    <a:masterClrMapping/>
  </p:clrMapOvr>
  <p:transition spd="me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524</TotalTime>
  <Words>2261</Words>
  <Application>Microsoft Office PowerPoint</Application>
  <PresentationFormat>On-screen Show (4:3)</PresentationFormat>
  <Paragraphs>218</Paragraphs>
  <Slides>29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Aptos Display</vt:lpstr>
      <vt:lpstr>Arial</vt:lpstr>
      <vt:lpstr>Calibri</vt:lpstr>
      <vt:lpstr>Calibri Light</vt:lpstr>
      <vt:lpstr>Georgia</vt:lpstr>
      <vt:lpstr>Helvetica</vt:lpstr>
      <vt:lpstr>Segoe UI</vt:lpstr>
      <vt:lpstr>Times New Roman</vt:lpstr>
      <vt:lpstr>Times Roman</vt:lpstr>
      <vt:lpstr>11_Default Design</vt:lpstr>
      <vt:lpstr>S</vt:lpstr>
      <vt:lpstr>Abstract</vt:lpstr>
      <vt:lpstr>INTRODUCTION</vt:lpstr>
      <vt:lpstr>   </vt:lpstr>
      <vt:lpstr>   </vt:lpstr>
      <vt:lpstr>   </vt:lpstr>
      <vt:lpstr>   </vt:lpstr>
      <vt:lpstr>PowerPoint Presentation</vt:lpstr>
      <vt:lpstr>SOLVING THESE RESEARCH GAPS</vt:lpstr>
      <vt:lpstr>                               NOVELTY   Till now there is no such interface/portals made in other colleges to connect Alumni’s with the current students and teachers. This in turn is a quite new idea that can boost the growth of both the current students, the college and the Alumni’s in their respective lives as mentioned above. It can bridge a gap between the Alumni’s and current students thereby helping the current students to express their issues pertaining to academics, placements and other student issues freely to the Alumni’s for help.   </vt:lpstr>
      <vt:lpstr>PowerPoint Presentation</vt:lpstr>
      <vt:lpstr>User Story:</vt:lpstr>
      <vt:lpstr>PowerPoint Presentation</vt:lpstr>
      <vt:lpstr>4. Messaging &amp; Inbox System  a. Users can send and receive real-time messages.  b. Messages are stored securely and accessible in an inbox.  c. Alumni can reply only to matched users.   5. Event Announcements &amp; Help Page  a. Users can create event announcements that appear on alumni dashboards.  b. Alumni can access a help page with special contacts for assistance.   6. Security Features  a. Unauthorized access to profiles is restricted.  b. Data encryption ensures security.  </vt:lpstr>
      <vt:lpstr>PowerPoint Presentation</vt:lpstr>
      <vt:lpstr>PowerPoint Presentation</vt:lpstr>
      <vt:lpstr>PowerPoint Presentation</vt:lpstr>
      <vt:lpstr>PowerPoint Presentation</vt:lpstr>
      <vt:lpstr>METHODOLOGY</vt:lpstr>
      <vt:lpstr>PowerPoint Presentation</vt:lpstr>
      <vt:lpstr>PowerPoint Presentation</vt:lpstr>
      <vt:lpstr>PowerPoint Presentation</vt:lpstr>
      <vt:lpstr>RESULTS</vt:lpstr>
      <vt:lpstr>PowerPoint Presentation</vt:lpstr>
      <vt:lpstr>RESULTS</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c:title>
  <cp:lastModifiedBy>LIKHIT YAMMANURU-[BL.EN.U4CSE22233]</cp:lastModifiedBy>
  <cp:revision>20</cp:revision>
  <dcterms:modified xsi:type="dcterms:W3CDTF">2025-05-15T07:19:17Z</dcterms:modified>
</cp:coreProperties>
</file>